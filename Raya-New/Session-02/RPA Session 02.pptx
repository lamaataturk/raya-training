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396" r:id="rId3"/>
    <p:sldId id="395" r:id="rId4"/>
    <p:sldId id="400" r:id="rId5"/>
    <p:sldId id="401" r:id="rId6"/>
    <p:sldId id="40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403" r:id="rId15"/>
    <p:sldId id="404" r:id="rId16"/>
    <p:sldId id="405" r:id="rId17"/>
    <p:sldId id="406" r:id="rId18"/>
    <p:sldId id="407" r:id="rId19"/>
    <p:sldId id="269" r:id="rId20"/>
    <p:sldId id="270" r:id="rId21"/>
    <p:sldId id="271" r:id="rId22"/>
    <p:sldId id="272" r:id="rId23"/>
    <p:sldId id="273" r:id="rId24"/>
    <p:sldId id="274" r:id="rId25"/>
    <p:sldId id="277" r:id="rId26"/>
    <p:sldId id="278" r:id="rId27"/>
    <p:sldId id="279" r:id="rId28"/>
    <p:sldId id="280" r:id="rId29"/>
    <p:sldId id="281" r:id="rId30"/>
    <p:sldId id="282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409" r:id="rId39"/>
    <p:sldId id="408" r:id="rId40"/>
    <p:sldId id="293" r:id="rId41"/>
    <p:sldId id="419" r:id="rId42"/>
    <p:sldId id="397" r:id="rId43"/>
    <p:sldId id="398" r:id="rId44"/>
    <p:sldId id="299" r:id="rId45"/>
  </p:sldIdLst>
  <p:sldSz cx="12192000" cy="6858000"/>
  <p:notesSz cx="6858000" cy="9144000"/>
  <p:embeddedFontLst>
    <p:embeddedFont>
      <p:font typeface="Lato" panose="020B0604020202020204" charset="0"/>
      <p:regular r:id="rId47"/>
      <p:bold r:id="rId48"/>
      <p:italic r:id="rId49"/>
      <p:boldItalic r:id="rId50"/>
    </p:embeddedFont>
    <p:embeddedFont>
      <p:font typeface="Poppins" panose="020B0604020202020204" charset="0"/>
      <p:regular r:id="rId51"/>
      <p:bold r:id="rId52"/>
      <p:italic r:id="rId53"/>
      <p:boldItalic r:id="rId54"/>
    </p:embeddedFont>
    <p:embeddedFont>
      <p:font typeface="Poppins Medium" panose="020B0604020202020204" charset="0"/>
      <p:regular r:id="rId55"/>
      <p:bold r:id="rId56"/>
      <p:italic r:id="rId57"/>
    </p:embeddedFont>
    <p:embeddedFont>
      <p:font typeface="Poppins SemiBold" panose="020B060402020202020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F092E-BF71-E944-2652-9A3017191385}" v="40" dt="2026-07-05T06:06:57.199"/>
    <p1510:client id="{887E5035-F3BF-AACD-FDFF-D36399E3CCB2}" v="245" dt="2026-07-05T09:39:52.563"/>
    <p1510:client id="{B023F76A-2A1F-8CEF-FCFB-43AF658607BE}" v="14" dt="2026-07-05T06:03:57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552F254-C8C9-4A3A-BF54-483A6EC616C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1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 Ayman Essawy Abd El Rhman" userId="S::amr_abdelrhman@rayacorp.com::4f343fd9-c01d-4909-828e-d785b0c440c9" providerId="AD" clId="Web-{887E5035-F3BF-AACD-FDFF-D36399E3CCB2}"/>
    <pc:docChg chg="delSld modSld">
      <pc:chgData name="Amr Ayman Essawy Abd El Rhman" userId="S::amr_abdelrhman@rayacorp.com::4f343fd9-c01d-4909-828e-d785b0c440c9" providerId="AD" clId="Web-{887E5035-F3BF-AACD-FDFF-D36399E3CCB2}" dt="2026-07-05T09:39:52.563" v="244" actId="20577"/>
      <pc:docMkLst>
        <pc:docMk/>
      </pc:docMkLst>
      <pc:sldChg chg="del">
        <pc:chgData name="Amr Ayman Essawy Abd El Rhman" userId="S::amr_abdelrhman@rayacorp.com::4f343fd9-c01d-4909-828e-d785b0c440c9" providerId="AD" clId="Web-{887E5035-F3BF-AACD-FDFF-D36399E3CCB2}" dt="2026-07-05T07:07:40.020" v="0"/>
        <pc:sldMkLst>
          <pc:docMk/>
          <pc:sldMk cId="0" sldId="259"/>
        </pc:sldMkLst>
      </pc:sldChg>
      <pc:sldChg chg="modSp">
        <pc:chgData name="Amr Ayman Essawy Abd El Rhman" userId="S::amr_abdelrhman@rayacorp.com::4f343fd9-c01d-4909-828e-d785b0c440c9" providerId="AD" clId="Web-{887E5035-F3BF-AACD-FDFF-D36399E3CCB2}" dt="2026-07-05T09:37:11.588" v="33" actId="20577"/>
        <pc:sldMkLst>
          <pc:docMk/>
          <pc:sldMk cId="0" sldId="408"/>
        </pc:sldMkLst>
        <pc:spChg chg="mod">
          <ac:chgData name="Amr Ayman Essawy Abd El Rhman" userId="S::amr_abdelrhman@rayacorp.com::4f343fd9-c01d-4909-828e-d785b0c440c9" providerId="AD" clId="Web-{887E5035-F3BF-AACD-FDFF-D36399E3CCB2}" dt="2026-07-05T09:37:11.588" v="33" actId="20577"/>
          <ac:spMkLst>
            <pc:docMk/>
            <pc:sldMk cId="0" sldId="408"/>
            <ac:spMk id="8" creationId="{00000000-0000-0000-0000-000000000000}"/>
          </ac:spMkLst>
        </pc:spChg>
      </pc:sldChg>
      <pc:sldChg chg="addSp delSp modSp">
        <pc:chgData name="Amr Ayman Essawy Abd El Rhman" userId="S::amr_abdelrhman@rayacorp.com::4f343fd9-c01d-4909-828e-d785b0c440c9" providerId="AD" clId="Web-{887E5035-F3BF-AACD-FDFF-D36399E3CCB2}" dt="2026-07-05T09:39:52.563" v="244" actId="20577"/>
        <pc:sldMkLst>
          <pc:docMk/>
          <pc:sldMk cId="0" sldId="419"/>
        </pc:sldMkLst>
        <pc:spChg chg="mod">
          <ac:chgData name="Amr Ayman Essawy Abd El Rhman" userId="S::amr_abdelrhman@rayacorp.com::4f343fd9-c01d-4909-828e-d785b0c440c9" providerId="AD" clId="Web-{887E5035-F3BF-AACD-FDFF-D36399E3CCB2}" dt="2026-07-05T09:39:52.563" v="244" actId="20577"/>
          <ac:spMkLst>
            <pc:docMk/>
            <pc:sldMk cId="0" sldId="419"/>
            <ac:spMk id="2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887E5035-F3BF-AACD-FDFF-D36399E3CCB2}" dt="2026-07-05T09:39:41.250" v="226" actId="20577"/>
          <ac:spMkLst>
            <pc:docMk/>
            <pc:sldMk cId="0" sldId="419"/>
            <ac:spMk id="4" creationId="{00000000-0000-0000-0000-000000000000}"/>
          </ac:spMkLst>
        </pc:spChg>
        <pc:spChg chg="add del mod">
          <ac:chgData name="Amr Ayman Essawy Abd El Rhman" userId="S::amr_abdelrhman@rayacorp.com::4f343fd9-c01d-4909-828e-d785b0c440c9" providerId="AD" clId="Web-{887E5035-F3BF-AACD-FDFF-D36399E3CCB2}" dt="2026-07-05T09:38:31.873" v="109" actId="20577"/>
          <ac:spMkLst>
            <pc:docMk/>
            <pc:sldMk cId="0" sldId="419"/>
            <ac:spMk id="7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887E5035-F3BF-AACD-FDFF-D36399E3CCB2}" dt="2026-07-05T09:39:35.110" v="225" actId="20577"/>
          <ac:spMkLst>
            <pc:docMk/>
            <pc:sldMk cId="0" sldId="419"/>
            <ac:spMk id="8" creationId="{00000000-0000-0000-0000-000000000000}"/>
          </ac:spMkLst>
        </pc:spChg>
        <pc:spChg chg="mod">
          <ac:chgData name="Amr Ayman Essawy Abd El Rhman" userId="S::amr_abdelrhman@rayacorp.com::4f343fd9-c01d-4909-828e-d785b0c440c9" providerId="AD" clId="Web-{887E5035-F3BF-AACD-FDFF-D36399E3CCB2}" dt="2026-07-05T09:39:31.531" v="224" actId="20577"/>
          <ac:spMkLst>
            <pc:docMk/>
            <pc:sldMk cId="0" sldId="419"/>
            <ac:spMk id="10" creationId="{00000000-0000-0000-0000-000000000000}"/>
          </ac:spMkLst>
        </pc:spChg>
      </pc:sldChg>
    </pc:docChg>
  </pc:docChgLst>
  <pc:docChgLst>
    <pc:chgData name="Amr Ayman Essawy Abd El Rhman" userId="S::amr_abdelrhman@rayacorp.com::4f343fd9-c01d-4909-828e-d785b0c440c9" providerId="AD" clId="Web-{7CBF092E-BF71-E944-2652-9A3017191385}"/>
    <pc:docChg chg="modSld">
      <pc:chgData name="Amr Ayman Essawy Abd El Rhman" userId="S::amr_abdelrhman@rayacorp.com::4f343fd9-c01d-4909-828e-d785b0c440c9" providerId="AD" clId="Web-{7CBF092E-BF71-E944-2652-9A3017191385}" dt="2026-07-05T06:06:52.464" v="38" actId="20577"/>
      <pc:docMkLst>
        <pc:docMk/>
      </pc:docMkLst>
      <pc:sldChg chg="modSp">
        <pc:chgData name="Amr Ayman Essawy Abd El Rhman" userId="S::amr_abdelrhman@rayacorp.com::4f343fd9-c01d-4909-828e-d785b0c440c9" providerId="AD" clId="Web-{7CBF092E-BF71-E944-2652-9A3017191385}" dt="2026-07-05T06:06:52.464" v="38" actId="20577"/>
        <pc:sldMkLst>
          <pc:docMk/>
          <pc:sldMk cId="0" sldId="419"/>
        </pc:sldMkLst>
        <pc:spChg chg="mod">
          <ac:chgData name="Amr Ayman Essawy Abd El Rhman" userId="S::amr_abdelrhman@rayacorp.com::4f343fd9-c01d-4909-828e-d785b0c440c9" providerId="AD" clId="Web-{7CBF092E-BF71-E944-2652-9A3017191385}" dt="2026-07-05T06:06:52.464" v="38" actId="20577"/>
          <ac:spMkLst>
            <pc:docMk/>
            <pc:sldMk cId="0" sldId="419"/>
            <ac:spMk id="8" creationId="{00000000-0000-0000-0000-000000000000}"/>
          </ac:spMkLst>
        </pc:spChg>
      </pc:sldChg>
    </pc:docChg>
  </pc:docChgLst>
  <pc:docChgLst>
    <pc:chgData name="Amr Ayman Essawy Abd El Rhman" userId="S::amr_abdelrhman@rayacorp.com::4f343fd9-c01d-4909-828e-d785b0c440c9" providerId="AD" clId="Web-{B023F76A-2A1F-8CEF-FCFB-43AF658607BE}"/>
    <pc:docChg chg="addSld delSld modSld">
      <pc:chgData name="Amr Ayman Essawy Abd El Rhman" userId="S::amr_abdelrhman@rayacorp.com::4f343fd9-c01d-4909-828e-d785b0c440c9" providerId="AD" clId="Web-{B023F76A-2A1F-8CEF-FCFB-43AF658607BE}" dt="2026-07-05T06:03:57.088" v="13"/>
      <pc:docMkLst>
        <pc:docMk/>
      </pc:docMkLst>
      <pc:sldChg chg="delSp modSp add del">
        <pc:chgData name="Amr Ayman Essawy Abd El Rhman" userId="S::amr_abdelrhman@rayacorp.com::4f343fd9-c01d-4909-828e-d785b0c440c9" providerId="AD" clId="Web-{B023F76A-2A1F-8CEF-FCFB-43AF658607BE}" dt="2026-07-05T06:03:57.088" v="13"/>
        <pc:sldMkLst>
          <pc:docMk/>
          <pc:sldMk cId="0" sldId="418"/>
        </pc:sldMkLst>
        <pc:spChg chg="del mod">
          <ac:chgData name="Amr Ayman Essawy Abd El Rhman" userId="S::amr_abdelrhman@rayacorp.com::4f343fd9-c01d-4909-828e-d785b0c440c9" providerId="AD" clId="Web-{B023F76A-2A1F-8CEF-FCFB-43AF658607BE}" dt="2026-07-05T05:54:44.333" v="10"/>
          <ac:spMkLst>
            <pc:docMk/>
            <pc:sldMk cId="0" sldId="418"/>
            <ac:spMk id="2" creationId="{00000000-0000-0000-0000-000000000000}"/>
          </ac:spMkLst>
        </pc:spChg>
        <pc:spChg chg="del mod">
          <ac:chgData name="Amr Ayman Essawy Abd El Rhman" userId="S::amr_abdelrhman@rayacorp.com::4f343fd9-c01d-4909-828e-d785b0c440c9" providerId="AD" clId="Web-{B023F76A-2A1F-8CEF-FCFB-43AF658607BE}" dt="2026-07-05T05:54:48.333" v="11"/>
          <ac:spMkLst>
            <pc:docMk/>
            <pc:sldMk cId="0" sldId="418"/>
            <ac:spMk id="3" creationId="{00000000-0000-0000-0000-000000000000}"/>
          </ac:spMkLst>
        </pc:spChg>
      </pc:sldChg>
      <pc:sldChg chg="add del">
        <pc:chgData name="Amr Ayman Essawy Abd El Rhman" userId="S::amr_abdelrhman@rayacorp.com::4f343fd9-c01d-4909-828e-d785b0c440c9" providerId="AD" clId="Web-{B023F76A-2A1F-8CEF-FCFB-43AF658607BE}" dt="2026-07-05T06:03:19.633" v="12"/>
        <pc:sldMkLst>
          <pc:docMk/>
          <pc:sldMk cId="0" sldId="419"/>
        </pc:sldMkLst>
      </pc:sldChg>
      <pc:sldChg chg="del">
        <pc:chgData name="Amr Ayman Essawy Abd El Rhman" userId="S::amr_abdelrhman@rayacorp.com::4f343fd9-c01d-4909-828e-d785b0c440c9" providerId="AD" clId="Web-{B023F76A-2A1F-8CEF-FCFB-43AF658607BE}" dt="2026-07-05T05:54:15.363" v="4"/>
        <pc:sldMkLst>
          <pc:docMk/>
          <pc:sldMk cId="0" sldId="420"/>
        </pc:sldMkLst>
      </pc:sldChg>
      <pc:sldChg chg="del">
        <pc:chgData name="Amr Ayman Essawy Abd El Rhman" userId="S::amr_abdelrhman@rayacorp.com::4f343fd9-c01d-4909-828e-d785b0c440c9" providerId="AD" clId="Web-{B023F76A-2A1F-8CEF-FCFB-43AF658607BE}" dt="2026-07-05T05:54:13.738" v="3"/>
        <pc:sldMkLst>
          <pc:docMk/>
          <pc:sldMk cId="0" sldId="421"/>
        </pc:sldMkLst>
      </pc:sldChg>
      <pc:sldChg chg="del">
        <pc:chgData name="Amr Ayman Essawy Abd El Rhman" userId="S::amr_abdelrhman@rayacorp.com::4f343fd9-c01d-4909-828e-d785b0c440c9" providerId="AD" clId="Web-{B023F76A-2A1F-8CEF-FCFB-43AF658607BE}" dt="2026-07-05T05:54:13.738" v="2"/>
        <pc:sldMkLst>
          <pc:docMk/>
          <pc:sldMk cId="0" sldId="422"/>
        </pc:sldMkLst>
      </pc:sldChg>
      <pc:sldChg chg="del">
        <pc:chgData name="Amr Ayman Essawy Abd El Rhman" userId="S::amr_abdelrhman@rayacorp.com::4f343fd9-c01d-4909-828e-d785b0c440c9" providerId="AD" clId="Web-{B023F76A-2A1F-8CEF-FCFB-43AF658607BE}" dt="2026-07-05T05:54:13.738" v="1"/>
        <pc:sldMkLst>
          <pc:docMk/>
          <pc:sldMk cId="0" sldId="423"/>
        </pc:sldMkLst>
      </pc:sldChg>
      <pc:sldChg chg="del">
        <pc:chgData name="Amr Ayman Essawy Abd El Rhman" userId="S::amr_abdelrhman@rayacorp.com::4f343fd9-c01d-4909-828e-d785b0c440c9" providerId="AD" clId="Web-{B023F76A-2A1F-8CEF-FCFB-43AF658607BE}" dt="2026-07-05T05:54:13.738" v="0"/>
        <pc:sldMkLst>
          <pc:docMk/>
          <pc:sldMk cId="0" sldId="4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/>
              <a:t>Speaker guide: Core data types (Part 1). Create every variable in the Variables panel; set its type via the Variable Type column &gt; Browse for Types.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String (System.String) — </a:t>
            </a:r>
            <a:r>
              <a:rPr lang="en-US" sz="1200"/>
              <a:t>reference type, immutable, always in double quotes. Used for file paths, IDs, messages. Example: str_InputFolderPath = "C:\RPA_Practice\Input".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Int32 (System.Int32) — </a:t>
            </a:r>
            <a:r>
              <a:rPr lang="en-US" sz="1200"/>
              <a:t>32-bit signed whole number, ideal for loop indexes and counters. Example: int_ValidFileCount = 0, then int_ValidFileCount = int_ValidFileCount + 1.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Double (System.Double) — </a:t>
            </a:r>
            <a:r>
              <a:rPr lang="en-US" sz="1200"/>
              <a:t>floating-point decimal for currency, tax and pricing. Example: dbl_TaxRate = 0.14. Use Decimal when exact monetary precision is required.</a:t>
            </a:r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Boolean (System.Boolean) — </a:t>
            </a:r>
            <a:r>
              <a:rPr lang="en-US" sz="1200"/>
              <a:t>holds only True or False; drives every If/While condition. Naming tip: prefix with a verb, e.g. bool_IsFolderExists.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DateTime (System.DateTime) — </a:t>
            </a:r>
            <a:r>
              <a:rPr lang="en-US" sz="1200"/>
              <a:t>date and time values for timestamps and scheduling. Example: DateTime.Now.ToString("yyyy-MM-dd_HH-mm") for log-file names.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Array of String (String[]) — </a:t>
            </a:r>
            <a:r>
              <a:rPr lang="en-US" sz="1200"/>
              <a:t>fixed-size ordered collection. Directory.GetFiles() returns a String[]. Access items by index (arr(0)) and size with arr.Length.</a:t>
            </a:r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DataTable (System.Data.DataTable) — </a:t>
            </a:r>
            <a:r>
              <a:rPr lang="en-US" sz="1200"/>
              <a:t>in-memory table of rows and columns. Populate with Build Data Table or Read Range; iterate rows with For Each Row in Data Table.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Dictionary(Of String, String) — </a:t>
            </a:r>
            <a:r>
              <a:rPr lang="en-US" sz="1200"/>
              <a:t>key/value pairs, perfect for config and credentials. Read with dict("InvoiceNum"); add with Assign or the Add to Dictionary activity.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List(Of T) — </a:t>
            </a:r>
            <a:r>
              <a:rPr lang="en-US" sz="1200"/>
              <a:t>dynamic collection that grows and shrinks at runtime. Use Add to Collection to append, e.g. build a running log of processed file names.</a:t>
            </a:r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Scope — </a:t>
            </a:r>
            <a:r>
              <a:rPr lang="en-US" sz="1200"/>
              <a:t>set in the Scope column of the Variables panel; a variable is only visible inside its container and any child sequences.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Isolation conflicts — </a:t>
            </a:r>
            <a:r>
              <a:rPr lang="en-US" sz="1200"/>
              <a:t>referencing a variable outside its scope causes a compile (validation) error. Fix by widening the scope to a common parent container.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Least privilege — </a:t>
            </a:r>
            <a:r>
              <a:rPr lang="en-US" sz="1200"/>
              <a:t>keep each variable in the smallest scope that works. This frees memory and prevents accidental cross-talk between unrelated branches.</a:t>
            </a:r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Notes 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Section divider — </a:t>
            </a:r>
            <a:r>
              <a:rPr lang="en-US" sz="1200"/>
              <a:t>UiPath Workflow Types. Studio gives you four workflow diagram layouts for structuring activities: Sequence, Flowchart, State Machine, and the Global Exception Handler.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Framing — </a:t>
            </a:r>
            <a:r>
              <a:rPr lang="en-US" sz="1200"/>
              <a:t>the layout you pick shapes how readable and maintainable the automation is. Sequence and Flowchart are the everyday choices; State Machine powers large orchestrated processes; the Global Exception Handler is a project-wide safety net.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Transition — </a:t>
            </a:r>
            <a:r>
              <a:rPr lang="en-US" sz="1200"/>
              <a:t>over the next four slides we walk each type: what it is, when to reach for it, and its signature activities.</a:t>
            </a:r>
          </a:p>
        </p:txBody>
      </p:sp>
      <p:sp>
        <p:nvSpPr>
          <p:cNvPr id="3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Notes 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Sequence — </a:t>
            </a:r>
            <a:r>
              <a:rPr lang="en-US" sz="1200"/>
              <a:t>the default, most-used layout. Activities run top to bottom, one after another, so it reads like a checklist.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When to use — </a:t>
            </a:r>
            <a:r>
              <a:rPr lang="en-US" sz="1200"/>
              <a:t>linear, step-by-step tasks, especially UI automation where clicks and keystrokes must fire in order. It is compact and easy to extract into its own reusable file you can Invoke.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Demo talking point — </a:t>
            </a:r>
            <a:r>
              <a:rPr lang="en-US" sz="1200"/>
              <a:t>walk the Open Browser → Type Into → Click → Log Message stack and note how each activity simply hands off to the next with no branching.</a:t>
            </a:r>
          </a:p>
        </p:txBody>
      </p:sp>
      <p:sp>
        <p:nvSpPr>
          <p:cNvPr id="3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Notes 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Flowchart — </a:t>
            </a:r>
            <a:r>
              <a:rPr lang="en-US" sz="1200"/>
              <a:t>a free-form 2D canvas where activities are joined by connectors and can branch in several directions or loop back.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Key activities — </a:t>
            </a:r>
            <a:r>
              <a:rPr lang="en-US" sz="1200"/>
              <a:t>Flow Decision routes a single True/False condition; Flow Switch routes many cases from one expression. Drag connectors out from the Start node.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When to use — </a:t>
            </a:r>
            <a:r>
              <a:rPr lang="en-US" sz="1200"/>
              <a:t>decision-heavy processes with several possible outcomes from one point. Demo: from one check, route a file to Process PDF or Skip File.</a:t>
            </a:r>
          </a:p>
        </p:txBody>
      </p:sp>
      <p:sp>
        <p:nvSpPr>
          <p:cNvPr id="3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Notes 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State Machine — </a:t>
            </a:r>
            <a:r>
              <a:rPr lang="en-US" sz="1200"/>
              <a:t>built from a finite set of States linked by conditional Transitions. Execution enters a State, runs its actions, then follows a Transition arrow when its condition is met.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Key activities — </a:t>
            </a:r>
            <a:r>
              <a:rPr lang="en-US" sz="1200"/>
              <a:t>State and Final State, found under Workflow ▸ State Machine. Transitions carry the guard conditions that move execution between States.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When to use — </a:t>
            </a:r>
            <a:r>
              <a:rPr lang="en-US" sz="1200"/>
              <a:t>large, complex, event-driven processes. It is the backbone of the REFramework. Demo: Init → Get &amp; Process Transaction, looping on 'next item' until no data remains, then End.</a:t>
            </a:r>
          </a:p>
        </p:txBody>
      </p:sp>
      <p:sp>
        <p:nvSpPr>
          <p:cNvPr id="3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Notes 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Global Exception Handler — </a:t>
            </a:r>
            <a:r>
              <a:rPr lang="en-US" sz="1200"/>
              <a:t>a special workflow that defines how the whole project reacts to an unexpected (unhandled) execution error. Only one is allowed per process, and it is not available in libraries.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Arguments — </a:t>
            </a:r>
            <a:r>
              <a:rPr lang="en-US" sz="1200"/>
              <a:t>errorInfo (In) captures the error and the workflow that threw it; the activity's result sets the response.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Responses — </a:t>
            </a:r>
            <a:r>
              <a:rPr lang="en-US" sz="1200"/>
              <a:t>Continue, Ignore, Retry or Abort, each with a configurable log level. Use it to set global error behaviour instead of wrapping every workflow in Try Catch.</a:t>
            </a:r>
          </a:p>
        </p:txBody>
      </p:sp>
      <p:sp>
        <p:nvSpPr>
          <p:cNvPr id="3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Sequential default — </a:t>
            </a:r>
            <a:r>
              <a:rPr lang="en-US" sz="1200"/>
              <a:t>activities run top to bottom inside a Sequence; fine for simple linear tasks.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Control flow — </a:t>
            </a:r>
            <a:r>
              <a:rPr lang="en-US" sz="1200"/>
              <a:t>real processes branch and repeat. UiPath provides If, Switch, For Each, While, Do While and Flowchart to model those decisions and loops.</a:t>
            </a:r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If activity (UiPath.Core.Activities.If) — </a:t>
            </a:r>
            <a:r>
              <a:rPr lang="en-US" sz="1200"/>
              <a:t>icon is a decision diamond. Properties: Condition (a Boolean expression) with Then and Else branches.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Configuration — </a:t>
            </a:r>
            <a:r>
              <a:rPr lang="en-US" sz="1200"/>
              <a:t>type the condition directly, e.g. int_LoopIndexCounter &lt; 10. If True the Then block runs; if False the Else block runs.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Guardrails — </a:t>
            </a:r>
            <a:r>
              <a:rPr lang="en-US" sz="1200"/>
              <a:t>use If with File Exists / Folder Exists to confirm a path is present before reading or moving it, preventing runtime crashes.</a:t>
            </a:r>
          </a:p>
        </p:txBody>
      </p:sp>
      <p:sp>
        <p:nvSpPr>
          <p:cNvPr id="340" name="Google Shape;3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Switch activity — </a:t>
            </a:r>
            <a:r>
              <a:rPr lang="en-US" sz="1200"/>
              <a:t>routes to one of many cases from a single expression. Properties: Expression and TypeArgument (default Int32; change to String to switch on text) plus Case values and a Default.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When to use — </a:t>
            </a:r>
            <a:r>
              <a:rPr lang="en-US" sz="1200"/>
              <a:t>cleaner than deeply nested If activities once you have three or more outcomes (e.g. routing tickets by category).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Flowchart — </a:t>
            </a:r>
            <a:r>
              <a:rPr lang="en-US" sz="1200"/>
              <a:t>a visual container where you drop activities and draw connectors from the Start node; best for complex, multi-branch logic that must stay readable.</a:t>
            </a:r>
          </a:p>
        </p:txBody>
      </p:sp>
      <p:sp>
        <p:nvSpPr>
          <p:cNvPr id="352" name="Google Shape;3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For Each — </a:t>
            </a:r>
            <a:r>
              <a:rPr lang="en-US" sz="1200"/>
              <a:t>iterates a collection. Properties: In (an IEnumerable), TypeArgument (set to System.String for a file array), Body, and the iterator variable item/currentItem.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While — </a:t>
            </a:r>
            <a:r>
              <a:rPr lang="en-US" sz="1200"/>
              <a:t>checks its Condition BEFORE each pass, so the body may run zero times. Good for 'keep going until' logic.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Do While — </a:t>
            </a:r>
            <a:r>
              <a:rPr lang="en-US" sz="1200"/>
              <a:t>runs the body once, THEN checks the Condition, so it always executes at least once. Remember to increment your counter to avoid infinite loops.</a:t>
            </a:r>
          </a:p>
        </p:txBody>
      </p:sp>
      <p:sp>
        <p:nvSpPr>
          <p:cNvPr id="364" name="Google Shape;3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Assign activity — </a:t>
            </a:r>
            <a:r>
              <a:rPr lang="en-US" sz="1200"/>
              <a:t>icon is an equals sign. Properties: To (the target variable) and Value (an expression). Example: int_ValidFileCount = int_ValidFileCount + 1.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Log Message — </a:t>
            </a:r>
            <a:r>
              <a:rPr lang="en-US" sz="1200"/>
              <a:t>writes to the Output panel and Orchestrator logs. Properties: Level (Trace, Info, Warn, Error, Fatal) and Message (a String expression).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Severity — </a:t>
            </a:r>
            <a:r>
              <a:rPr lang="en-US" sz="1200"/>
              <a:t>Info for normal trace, Warn for handled/skipped items, Error/Fatal for failures. Write Line prints only to the local Output panel.</a:t>
            </a:r>
          </a:p>
        </p:txBody>
      </p:sp>
      <p:sp>
        <p:nvSpPr>
          <p:cNvPr id="382" name="Google Shape;3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Create Folder — </a:t>
            </a:r>
            <a:r>
              <a:rPr lang="en-US" sz="1200"/>
              <a:t>build target directories at runtime instead of assuming they exist; pair with Folder Exists so you only create what is missing.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Cleanup — </a:t>
            </a:r>
            <a:r>
              <a:rPr lang="en-US" sz="1200"/>
              <a:t>a well-behaved robot archives processed files and deletes temp files (Delete / Move File) when the run finishes.</a:t>
            </a:r>
          </a:p>
        </p:txBody>
      </p:sp>
      <p:sp>
        <p:nvSpPr>
          <p:cNvPr id="459" name="Google Shape;45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Directory.GetFiles(path) — </a:t>
            </a:r>
            <a:r>
              <a:rPr lang="en-US" sz="1200"/>
              <a:t>returns a String[] of full file paths; add a search pattern to filter, e.g. Directory.GetFiles(folder, "*.pdf").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Path.GetFileName(fullPath) — </a:t>
            </a:r>
            <a:r>
              <a:rPr lang="en-US" sz="1200"/>
              <a:t>returns just the name plus extension, e.g. "Internal_Inv_101.pdf".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Path.GetExtension(fullPath) — </a:t>
            </a:r>
            <a:r>
              <a:rPr lang="en-US" sz="1200"/>
              <a:t>returns only the extension, e.g. ".pdf"; call .ToLower() before comparing to be case-safe.</a:t>
            </a:r>
          </a:p>
        </p:txBody>
      </p:sp>
      <p:sp>
        <p:nvSpPr>
          <p:cNvPr id="471" name="Google Shape;47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The risk — </a:t>
            </a:r>
            <a:r>
              <a:rPr lang="en-US" sz="1200"/>
              <a:t>building paths by string concatenation ("C:\Docs\" + name) breaks when slashes or roots differ across machines and environments.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Path.Combine — </a:t>
            </a:r>
            <a:r>
              <a:rPr lang="en-US" sz="1200"/>
              <a:t>System.IO.Path.Combine(parentFolder, childFolder, fileName) inserts the correct separators automatically, so paths stay valid anywhere the robot runs.</a:t>
            </a:r>
          </a:p>
        </p:txBody>
      </p:sp>
      <p:sp>
        <p:nvSpPr>
          <p:cNvPr id="489" name="Google Shape;48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File Exists (UiPath.Core.Activities.FileExistsX) — </a:t>
            </a:r>
            <a:r>
              <a:rPr lang="en-US" sz="1200"/>
              <a:t>input a file path, returns a Boolean; check it before you read, move or rename a file.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Folder Exists — </a:t>
            </a:r>
            <a:r>
              <a:rPr lang="en-US" sz="1200"/>
              <a:t>verify a directory before writing to it; if it is missing, branch to Create Folder on the fly.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Locked files — </a:t>
            </a:r>
            <a:r>
              <a:rPr lang="en-US" sz="1200"/>
              <a:t>a file open in another app (e.g. Excel) throws an IOException on write; confirm availability first or wrap the write in a Retry Scope.</a:t>
            </a:r>
          </a:p>
        </p:txBody>
      </p:sp>
      <p:sp>
        <p:nvSpPr>
          <p:cNvPr id="501" name="Google Shape;50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Design patterns — </a:t>
            </a:r>
            <a:r>
              <a:rPr lang="en-US" sz="1200"/>
              <a:t>never hardcode folder paths in activities; pull them from variables or a Config dictionary.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Copy File — </a:t>
            </a:r>
            <a:r>
              <a:rPr lang="en-US" sz="1200"/>
              <a:t>properties From, To and Overwrite; use Retry Scope around network copies to survive brief hiccups.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Auditing — </a:t>
            </a:r>
            <a:r>
              <a:rPr lang="en-US" sz="1200"/>
              <a:t>log a clear Warn whenever a file is skipped for validation reasons so the run is easy to review later.</a:t>
            </a:r>
          </a:p>
        </p:txBody>
      </p:sp>
      <p:sp>
        <p:nvSpPr>
          <p:cNvPr id="513" name="Google Shape;51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Toggle Breakpoint (F9) — </a:t>
            </a:r>
            <a:r>
              <a:rPr lang="en-US" sz="1200"/>
              <a:t>right-click an activity or press F9 to set a red breakpoint; execution pauses there so you can inspect live state.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Hover to inspect — </a:t>
            </a:r>
            <a:r>
              <a:rPr lang="en-US" sz="1200"/>
              <a:t>while paused, hover over any variable to read its current value without opening a panel.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Conditional breakpoints — </a:t>
            </a:r>
            <a:r>
              <a:rPr lang="en-US" sz="1200"/>
              <a:t>attach a condition so the pause only fires when it matters, e.g. int_Index = 5.</a:t>
            </a:r>
          </a:p>
        </p:txBody>
      </p:sp>
      <p:sp>
        <p:nvSpPr>
          <p:cNvPr id="589" name="Google Shape;58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Step Into (F11) — </a:t>
            </a:r>
            <a:r>
              <a:rPr lang="en-US" sz="1200"/>
              <a:t>executes one activity at a time and drills into invoked workflows, opening them read-only so you can trace every step.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Step Over (F10) — </a:t>
            </a:r>
            <a:r>
              <a:rPr lang="en-US" sz="1200"/>
              <a:t>runs the current container as a single step, skipping detailed observation of sequences you already trust.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Step Out — </a:t>
            </a:r>
            <a:r>
              <a:rPr lang="en-US" sz="1200"/>
              <a:t>finishes the remaining activities in the current sub-sequence and returns you to the parent level.</a:t>
            </a:r>
          </a:p>
        </p:txBody>
      </p:sp>
      <p:sp>
        <p:nvSpPr>
          <p:cNvPr id="601" name="Google Shape;60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Locals panel — </a:t>
            </a:r>
            <a:r>
              <a:rPr lang="en-US" sz="1200"/>
              <a:t>shows all variables and arguments in the current scope while paused; watch loop indexes and file paths change live.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Immediate window — </a:t>
            </a:r>
            <a:r>
              <a:rPr lang="en-US" sz="1200"/>
              <a:t>type and run expressions on the fly, e.g. test a Path.Combine formula, without editing the workflow.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Watch panel — </a:t>
            </a:r>
            <a:r>
              <a:rPr lang="en-US" sz="1200"/>
              <a:t>pin a custom list of variables to track key totals across a long run. Call Stack shows which nested workflow triggered the current activity.</a:t>
            </a:r>
          </a:p>
        </p:txBody>
      </p:sp>
      <p:sp>
        <p:nvSpPr>
          <p:cNvPr id="619" name="Google Shape;61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NullReferenceException — </a:t>
            </a:r>
            <a:r>
              <a:rPr lang="en-US" sz="1200"/>
              <a:t>using a variable that was never initialised or assigned a default. Set a sensible default in the Variables panel.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DirectoryNotFoundException — </a:t>
            </a:r>
            <a:r>
              <a:rPr lang="en-US" sz="1200"/>
              <a:t>reading from or writing to a folder that does not exist; guard with Folder Exists + Create Folder.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IOException (file locked) — </a:t>
            </a:r>
            <a:r>
              <a:rPr lang="en-US" sz="1200"/>
              <a:t>writing to a file already open elsewhere; close it or retry with a Retry Scope.</a:t>
            </a:r>
          </a:p>
        </p:txBody>
      </p:sp>
      <p:sp>
        <p:nvSpPr>
          <p:cNvPr id="638" name="Google Shape;63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Step 1 — </a:t>
            </a:r>
            <a:r>
              <a:rPr lang="en-US" sz="1200"/>
              <a:t>read the exception message and stack trace in the Output panel to locate the failing activity.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Step 2 — </a:t>
            </a:r>
            <a:r>
              <a:rPr lang="en-US" sz="1200"/>
              <a:t>set a breakpoint just before that activity.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/>
              <a:t>Step 3 — </a:t>
            </a:r>
            <a:r>
              <a:rPr lang="en-US" sz="1200"/>
              <a:t>Debug File, inspect variables in the Locals panel, and use the Immediate window to test the fix before editing.</a:t>
            </a:r>
          </a:p>
        </p:txBody>
      </p:sp>
      <p:sp>
        <p:nvSpPr>
          <p:cNvPr id="656" name="Google Shape;65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4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7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295275" y="981075"/>
            <a:ext cx="11601450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Core Foundations &amp; File Automation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1812471" y="1730708"/>
            <a:ext cx="8572500" cy="28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Session 2: Deep Dive into Variables, Logic Control Flow, Dynamic Directories, and Interactive Diagnostics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396000" y="1681075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2285" y="1370848"/>
            <a:ext cx="11484599" cy="24314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/>
              <a:t>Agenda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 strike="sngStrike"/>
              <a:t>Introduction &amp; Hands-on</a:t>
            </a:r>
            <a:endParaRPr lang="en-US" sz="2000" b="1" strike="sngStrike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>
                <a:ea typeface="Calibri" panose="020F0502020204030204"/>
                <a:cs typeface="Calibri" panose="020F0502020204030204"/>
              </a:rPr>
              <a:t>What Is RPA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>
                <a:ea typeface="Calibri" panose="020F0502020204030204"/>
                <a:cs typeface="Calibri" panose="020F0502020204030204"/>
              </a:rPr>
              <a:t>RPA Tools</a:t>
            </a:r>
            <a:endParaRPr lang="en-US" strike="sngStrike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>
                <a:ea typeface="Calibri" panose="020F0502020204030204"/>
                <a:cs typeface="Calibri" panose="020F0502020204030204"/>
              </a:rPr>
              <a:t>Installing UiPath</a:t>
            </a:r>
            <a:endParaRPr lang="en-US" strike="sngStrike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 err="1">
                <a:ea typeface="Calibri" panose="020F0502020204030204"/>
                <a:cs typeface="Calibri" panose="020F0502020204030204"/>
              </a:rPr>
              <a:t>Uipath</a:t>
            </a:r>
            <a:r>
              <a:rPr lang="en-US" sz="2000" b="1" strike="sngStrike">
                <a:ea typeface="Calibri" panose="020F0502020204030204"/>
                <a:cs typeface="Calibri" panose="020F0502020204030204"/>
              </a:rPr>
              <a:t> Automation Methodology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>
                <a:ea typeface="Calibri" panose="020F0502020204030204"/>
                <a:cs typeface="Calibri" panose="020F0502020204030204"/>
              </a:rPr>
              <a:t>Explore </a:t>
            </a:r>
            <a:r>
              <a:rPr lang="en-US" sz="2000" b="1" strike="sngStrike" err="1">
                <a:ea typeface="Calibri" panose="020F0502020204030204"/>
                <a:cs typeface="Calibri" panose="020F0502020204030204"/>
              </a:rPr>
              <a:t>Uipath</a:t>
            </a:r>
            <a:r>
              <a:rPr lang="en-US" sz="2000" b="1" strike="sngStrike">
                <a:ea typeface="Calibri" panose="020F0502020204030204"/>
                <a:cs typeface="Calibri" panose="020F0502020204030204"/>
              </a:rPr>
              <a:t> Studio </a:t>
            </a:r>
            <a:endParaRPr lang="en-US" strike="sngStrik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828" y="264647"/>
            <a:ext cx="2039979" cy="852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2125" y="3799105"/>
            <a:ext cx="11484599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/>
              <a:buChar char="•"/>
            </a:pPr>
            <a:r>
              <a:rPr lang="en-US" sz="2000" b="1"/>
              <a:t>Variables, Data Types ,</a:t>
            </a:r>
            <a:r>
              <a:rPr lang="en-US" sz="2000" b="1" err="1"/>
              <a:t>ControlFlows</a:t>
            </a:r>
            <a:r>
              <a:rPr lang="en-US" sz="2000" b="1"/>
              <a:t> &amp;</a:t>
            </a:r>
            <a:r>
              <a:rPr lang="en-US" sz="2000" b="1" err="1"/>
              <a:t>Activites</a:t>
            </a:r>
            <a:endParaRPr lang="en-US" sz="2000" b="1" err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/>
              <a:t>Working with File and Folders, Debugging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Data Manipulation(</a:t>
            </a:r>
            <a:r>
              <a:rPr lang="en-US" sz="2000" b="1" err="1">
                <a:ea typeface="Calibri" panose="020F0502020204030204"/>
                <a:cs typeface="Calibri" panose="020F0502020204030204"/>
              </a:rPr>
              <a:t>string,list,Dictionaries</a:t>
            </a:r>
            <a:r>
              <a:rPr lang="en-US" sz="2000" b="1">
                <a:ea typeface="Calibri" panose="020F0502020204030204"/>
                <a:cs typeface="Calibri" panose="020F0502020204030204"/>
              </a:rPr>
              <a:t>)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Ui Automation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Project 1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Data Manipulation(Data Tables)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Excel &amp; PDF Automation</a:t>
            </a:r>
            <a:endParaRPr lang="en-US" err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Email Automation and integration services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Api Automation + Error handling</a:t>
            </a:r>
          </a:p>
        </p:txBody>
      </p:sp>
      <p:sp>
        <p:nvSpPr>
          <p:cNvPr id="2" name="Right Bracket 1"/>
          <p:cNvSpPr/>
          <p:nvPr/>
        </p:nvSpPr>
        <p:spPr>
          <a:xfrm>
            <a:off x="6872928" y="1891899"/>
            <a:ext cx="733926" cy="1825926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84159" y="2620196"/>
            <a:ext cx="814137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strike="sngStrike"/>
              <a:t>Day1</a:t>
            </a:r>
          </a:p>
        </p:txBody>
      </p:sp>
      <p:sp>
        <p:nvSpPr>
          <p:cNvPr id="8" name="Right Bracket 7"/>
          <p:cNvSpPr/>
          <p:nvPr/>
        </p:nvSpPr>
        <p:spPr>
          <a:xfrm>
            <a:off x="6850525" y="3934363"/>
            <a:ext cx="762955" cy="377052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684159" y="3936243"/>
            <a:ext cx="814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Day2</a:t>
            </a:r>
          </a:p>
        </p:txBody>
      </p:sp>
      <p:sp>
        <p:nvSpPr>
          <p:cNvPr id="10" name="Right Bracket 9"/>
          <p:cNvSpPr/>
          <p:nvPr/>
        </p:nvSpPr>
        <p:spPr>
          <a:xfrm>
            <a:off x="6858414" y="4605779"/>
            <a:ext cx="748440" cy="319652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684159" y="4938020"/>
            <a:ext cx="814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Day4</a:t>
            </a:r>
          </a:p>
        </p:txBody>
      </p:sp>
      <p:sp>
        <p:nvSpPr>
          <p:cNvPr id="12" name="Right Bracket 11"/>
          <p:cNvSpPr/>
          <p:nvPr/>
        </p:nvSpPr>
        <p:spPr>
          <a:xfrm>
            <a:off x="6865671" y="4983655"/>
            <a:ext cx="741183" cy="286267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684159" y="4582769"/>
            <a:ext cx="814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Day3</a:t>
            </a:r>
          </a:p>
        </p:txBody>
      </p:sp>
      <p:sp>
        <p:nvSpPr>
          <p:cNvPr id="14" name="Right Bracket 13"/>
          <p:cNvSpPr/>
          <p:nvPr/>
        </p:nvSpPr>
        <p:spPr>
          <a:xfrm>
            <a:off x="6872928" y="5382051"/>
            <a:ext cx="733926" cy="425604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684159" y="5384472"/>
            <a:ext cx="814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Day5</a:t>
            </a:r>
          </a:p>
        </p:txBody>
      </p:sp>
      <p:sp>
        <p:nvSpPr>
          <p:cNvPr id="7" name="Right Bracket 6"/>
          <p:cNvSpPr/>
          <p:nvPr/>
        </p:nvSpPr>
        <p:spPr>
          <a:xfrm>
            <a:off x="6880184" y="6020679"/>
            <a:ext cx="733926" cy="425604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684158" y="6023100"/>
            <a:ext cx="814137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Day6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2285" y="1370848"/>
            <a:ext cx="11484599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/>
              <a:t>Agenda</a:t>
            </a:r>
          </a:p>
          <a:p>
            <a:pPr marL="342900" indent="-342900">
              <a:buFontTx/>
              <a:buChar char="-"/>
            </a:pPr>
            <a:endParaRPr lang="en-US" sz="2000" b="1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228" y="308190"/>
            <a:ext cx="1894836" cy="794895"/>
          </a:xfrm>
          <a:prstGeom prst="rect">
            <a:avLst/>
          </a:prstGeom>
        </p:spPr>
      </p:pic>
      <p:sp>
        <p:nvSpPr>
          <p:cNvPr id="7" name="TextBox 4"/>
          <p:cNvSpPr txBox="1"/>
          <p:nvPr/>
        </p:nvSpPr>
        <p:spPr>
          <a:xfrm>
            <a:off x="284052" y="1926131"/>
            <a:ext cx="11484599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,Sans-Serif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Project 2</a:t>
            </a: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UiPath RPA Architecture (Studio, Orchestrator and Robot)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State Machines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RE - Framework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RPA Final Project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endParaRPr lang="en-US" sz="2000" b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endParaRPr lang="en-US" sz="2000" b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endParaRPr lang="en-US" sz="20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ight Bracket 7"/>
          <p:cNvSpPr/>
          <p:nvPr/>
        </p:nvSpPr>
        <p:spPr>
          <a:xfrm>
            <a:off x="8027255" y="2321839"/>
            <a:ext cx="741498" cy="423719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TextBox 2"/>
          <p:cNvSpPr txBox="1"/>
          <p:nvPr/>
        </p:nvSpPr>
        <p:spPr>
          <a:xfrm>
            <a:off x="8915664" y="1927865"/>
            <a:ext cx="8141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/>
              <a:t>Day7</a:t>
            </a:r>
          </a:p>
        </p:txBody>
      </p:sp>
      <p:sp>
        <p:nvSpPr>
          <p:cNvPr id="10" name="Right Bracket 9"/>
          <p:cNvSpPr/>
          <p:nvPr/>
        </p:nvSpPr>
        <p:spPr>
          <a:xfrm>
            <a:off x="8034512" y="2017036"/>
            <a:ext cx="734241" cy="191494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3"/>
          <p:cNvSpPr txBox="1"/>
          <p:nvPr/>
        </p:nvSpPr>
        <p:spPr>
          <a:xfrm>
            <a:off x="8915663" y="2341521"/>
            <a:ext cx="8141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/>
              <a:t>Day8</a:t>
            </a:r>
          </a:p>
        </p:txBody>
      </p:sp>
      <p:sp>
        <p:nvSpPr>
          <p:cNvPr id="13" name="Right Bracket 12"/>
          <p:cNvSpPr/>
          <p:nvPr/>
        </p:nvSpPr>
        <p:spPr>
          <a:xfrm>
            <a:off x="8027254" y="2866124"/>
            <a:ext cx="741498" cy="423719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TextBox 9"/>
          <p:cNvSpPr txBox="1"/>
          <p:nvPr/>
        </p:nvSpPr>
        <p:spPr>
          <a:xfrm>
            <a:off x="8915662" y="2893063"/>
            <a:ext cx="8141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/>
              <a:t>Day9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 - Revision PowerPoint Presentation, free download - ID:2567151"/>
          <p:cNvPicPr>
            <a:picLocks noChangeAspect="1"/>
          </p:cNvPicPr>
          <p:nvPr/>
        </p:nvPicPr>
        <p:blipFill>
          <a:blip r:embed="rId2"/>
          <a:srcRect t="10000" b="28605"/>
          <a:stretch>
            <a:fillRect/>
          </a:stretch>
        </p:blipFill>
        <p:spPr>
          <a:xfrm>
            <a:off x="7484" y="1370693"/>
            <a:ext cx="12191545" cy="54882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85" y="264647"/>
            <a:ext cx="2627807" cy="1106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85" y="264647"/>
            <a:ext cx="2627807" cy="1106952"/>
          </a:xfrm>
          <a:prstGeom prst="rect">
            <a:avLst/>
          </a:prstGeom>
        </p:spPr>
      </p:pic>
      <p:pic>
        <p:nvPicPr>
          <p:cNvPr id="2" name="Picture 1" descr="Assignment Solution | Jaipu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321" y="1478643"/>
            <a:ext cx="5379357" cy="5379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yllabu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71500" y="571500"/>
            <a:ext cx="11048999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Session 2 Syllabus</a:t>
            </a:r>
          </a:p>
        </p:txBody>
      </p:sp>
      <p:sp>
        <p:nvSpPr>
          <p:cNvPr id="1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ubtitle"/>
          <p:cNvSpPr txBox="1"/>
          <p:nvPr/>
        </p:nvSpPr>
        <p:spPr>
          <a:xfrm>
            <a:off x="571500" y="1320000"/>
            <a:ext cx="11048999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5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Deep Dive into Variables, Logic Control Flow, Dynamic Directories, and Interactive Diagnostics</a:t>
            </a:r>
          </a:p>
        </p:txBody>
      </p:sp>
      <p:sp>
        <p:nvSpPr>
          <p:cNvPr id="20" name="Badge1"/>
          <p:cNvSpPr/>
          <p:nvPr/>
        </p:nvSpPr>
        <p:spPr>
          <a:xfrm>
            <a:off x="620000" y="18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</a:t>
            </a:r>
          </a:p>
        </p:txBody>
      </p:sp>
      <p:sp>
        <p:nvSpPr>
          <p:cNvPr id="21" name="Name1"/>
          <p:cNvSpPr txBox="1"/>
          <p:nvPr/>
        </p:nvSpPr>
        <p:spPr>
          <a:xfrm>
            <a:off x="1420000" y="18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Variables &amp; Data Types Deep Dive</a:t>
            </a:r>
          </a:p>
        </p:txBody>
      </p:sp>
      <p:sp>
        <p:nvSpPr>
          <p:cNvPr id="22" name="Desc1"/>
          <p:cNvSpPr txBox="1"/>
          <p:nvPr/>
        </p:nvSpPr>
        <p:spPr>
          <a:xfrm>
            <a:off x="1420000" y="21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Dynamic allocation frameworks, data typing rules, scoping architecture, and naming standards.</a:t>
            </a:r>
          </a:p>
        </p:txBody>
      </p:sp>
      <p:sp>
        <p:nvSpPr>
          <p:cNvPr id="23" name="Badge2"/>
          <p:cNvSpPr/>
          <p:nvPr/>
        </p:nvSpPr>
        <p:spPr>
          <a:xfrm>
            <a:off x="620000" y="34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3</a:t>
            </a:r>
          </a:p>
        </p:txBody>
      </p:sp>
      <p:sp>
        <p:nvSpPr>
          <p:cNvPr id="24" name="Name2"/>
          <p:cNvSpPr txBox="1"/>
          <p:nvPr/>
        </p:nvSpPr>
        <p:spPr>
          <a:xfrm>
            <a:off x="1420000" y="34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Control Flow &amp; Logical Paths</a:t>
            </a:r>
          </a:p>
        </p:txBody>
      </p:sp>
      <p:sp>
        <p:nvSpPr>
          <p:cNvPr id="25" name="Desc2"/>
          <p:cNvSpPr txBox="1"/>
          <p:nvPr/>
        </p:nvSpPr>
        <p:spPr>
          <a:xfrm>
            <a:off x="1420000" y="37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Routing execution branches with conditionals, switches, sequential loops, and state controls.</a:t>
            </a:r>
          </a:p>
        </p:txBody>
      </p:sp>
      <p:sp>
        <p:nvSpPr>
          <p:cNvPr id="26" name="Badge3"/>
          <p:cNvSpPr/>
          <p:nvPr/>
        </p:nvSpPr>
        <p:spPr>
          <a:xfrm>
            <a:off x="620000" y="42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4</a:t>
            </a:r>
          </a:p>
        </p:txBody>
      </p:sp>
      <p:sp>
        <p:nvSpPr>
          <p:cNvPr id="27" name="Name3"/>
          <p:cNvSpPr txBox="1"/>
          <p:nvPr/>
        </p:nvSpPr>
        <p:spPr>
          <a:xfrm>
            <a:off x="1420000" y="42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File &amp; Folder Automation Systems</a:t>
            </a:r>
          </a:p>
        </p:txBody>
      </p:sp>
      <p:sp>
        <p:nvSpPr>
          <p:cNvPr id="28" name="Desc3"/>
          <p:cNvSpPr txBox="1"/>
          <p:nvPr/>
        </p:nvSpPr>
        <p:spPr>
          <a:xfrm>
            <a:off x="1420000" y="45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Interacting with directory systems, checking file status, moving items, and building safe path strings.</a:t>
            </a:r>
          </a:p>
        </p:txBody>
      </p:sp>
      <p:sp>
        <p:nvSpPr>
          <p:cNvPr id="29" name="Badge4"/>
          <p:cNvSpPr/>
          <p:nvPr/>
        </p:nvSpPr>
        <p:spPr>
          <a:xfrm>
            <a:off x="620000" y="50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5</a:t>
            </a:r>
          </a:p>
        </p:txBody>
      </p:sp>
      <p:sp>
        <p:nvSpPr>
          <p:cNvPr id="30" name="Name4"/>
          <p:cNvSpPr txBox="1"/>
          <p:nvPr/>
        </p:nvSpPr>
        <p:spPr>
          <a:xfrm>
            <a:off x="1420000" y="50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Debugging &amp; Quality Diagnostics</a:t>
            </a:r>
          </a:p>
        </p:txBody>
      </p:sp>
      <p:sp>
        <p:nvSpPr>
          <p:cNvPr id="31" name="Desc4"/>
          <p:cNvSpPr txBox="1"/>
          <p:nvPr/>
        </p:nvSpPr>
        <p:spPr>
          <a:xfrm>
            <a:off x="1420000" y="53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Breakpoints, step-by-step trace execution, dynamic variable inspection, and live memory testing.</a:t>
            </a:r>
          </a:p>
        </p:txBody>
      </p:sp>
      <p:sp>
        <p:nvSpPr>
          <p:cNvPr id="32" name="Badge5"/>
          <p:cNvSpPr/>
          <p:nvPr/>
        </p:nvSpPr>
        <p:spPr>
          <a:xfrm>
            <a:off x="620000" y="58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6</a:t>
            </a:r>
          </a:p>
        </p:txBody>
      </p:sp>
      <p:sp>
        <p:nvSpPr>
          <p:cNvPr id="33" name="Name5"/>
          <p:cNvSpPr txBox="1"/>
          <p:nvPr/>
        </p:nvSpPr>
        <p:spPr>
          <a:xfrm>
            <a:off x="1420000" y="58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Consolidation &amp; Epic Solo Task</a:t>
            </a:r>
          </a:p>
        </p:txBody>
      </p:sp>
      <p:sp>
        <p:nvSpPr>
          <p:cNvPr id="34" name="Desc5"/>
          <p:cNvSpPr txBox="1"/>
          <p:nvPr/>
        </p:nvSpPr>
        <p:spPr>
          <a:xfrm>
            <a:off x="1420000" y="61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Validating execution outputs and directory results, then briefing the final challenge assignment.</a:t>
            </a:r>
          </a:p>
        </p:txBody>
      </p:sp>
      <p:sp>
        <p:nvSpPr>
          <p:cNvPr id="200" name="BadgeNew"/>
          <p:cNvSpPr/>
          <p:nvPr/>
        </p:nvSpPr>
        <p:spPr>
          <a:xfrm>
            <a:off x="620000" y="2600000"/>
            <a:ext cx="620000" cy="6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</a:t>
            </a:r>
          </a:p>
        </p:txBody>
      </p:sp>
      <p:sp>
        <p:nvSpPr>
          <p:cNvPr id="201" name="NameNew"/>
          <p:cNvSpPr txBox="1"/>
          <p:nvPr/>
        </p:nvSpPr>
        <p:spPr>
          <a:xfrm>
            <a:off x="1420000" y="2640000"/>
            <a:ext cx="10200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650" b="1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UiPath Workflow Types</a:t>
            </a:r>
          </a:p>
        </p:txBody>
      </p:sp>
      <p:sp>
        <p:nvSpPr>
          <p:cNvPr id="202" name="DescNew"/>
          <p:cNvSpPr txBox="1"/>
          <p:nvPr/>
        </p:nvSpPr>
        <p:spPr>
          <a:xfrm>
            <a:off x="1420000" y="299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/>
          <a:lstStyle/>
          <a:p>
            <a:pPr marL="0" indent="0" algn="l">
              <a:buNone/>
            </a:pPr>
            <a:r>
              <a:rPr lang="en-US" sz="1400" b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Sequence, Flowchart, State Machine, and Global Exception Handler diagrams for structuring activities.</a:t>
            </a:r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 txBox="1"/>
          <p:nvPr/>
        </p:nvSpPr>
        <p:spPr>
          <a:xfrm>
            <a:off x="3048000" y="2854000"/>
            <a:ext cx="6096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3200" b="1" i="0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Variables &amp; Data Types Deep Dive</a:t>
            </a:r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931318"/>
            <a:ext cx="5357812" cy="171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62687" y="2931318"/>
            <a:ext cx="5357812" cy="17192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09625" y="3169443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1. Dynamic Data Storage</a:t>
            </a:r>
          </a:p>
        </p:txBody>
      </p:sp>
      <p:sp>
        <p:nvSpPr>
          <p:cNvPr id="169" name="Google Shape;169;p18"/>
          <p:cNvSpPr txBox="1"/>
          <p:nvPr/>
        </p:nvSpPr>
        <p:spPr>
          <a:xfrm>
            <a:off x="809625" y="3626643"/>
            <a:ext cx="4881562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Variables act as allocated safehouses inside random-access memory. Instead of hardcoding constant strings like directory folders, we refer to dynamically modifiable pointer names.</a:t>
            </a:r>
          </a:p>
        </p:txBody>
      </p:sp>
      <p:sp>
        <p:nvSpPr>
          <p:cNvPr id="170" name="Google Shape;170;p18"/>
          <p:cNvSpPr txBox="1"/>
          <p:nvPr/>
        </p:nvSpPr>
        <p:spPr>
          <a:xfrm>
            <a:off x="6500812" y="3169443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2. Workflow Adaptability</a:t>
            </a:r>
          </a:p>
        </p:txBody>
      </p:sp>
      <p:sp>
        <p:nvSpPr>
          <p:cNvPr id="171" name="Google Shape;171;p18"/>
          <p:cNvSpPr txBox="1"/>
          <p:nvPr/>
        </p:nvSpPr>
        <p:spPr>
          <a:xfrm>
            <a:off x="6500812" y="3626643"/>
            <a:ext cx="4881562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Using variables allows a single robot sequence to execute on 5, 50, or 50,000 files without modifying any underlying configurations, steps, or script parameters.</a:t>
            </a:r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Foundation of Variables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564606"/>
            <a:ext cx="3524250" cy="245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33875" y="2564606"/>
            <a:ext cx="3524250" cy="245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0" y="2564606"/>
            <a:ext cx="3524250" cy="245268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71525" y="32504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String (System.String)</a:t>
            </a:r>
          </a:p>
        </p:txBody>
      </p:sp>
      <p:sp>
        <p:nvSpPr>
          <p:cNvPr id="182" name="Google Shape;182;p19"/>
          <p:cNvSpPr txBox="1"/>
          <p:nvPr/>
        </p:nvSpPr>
        <p:spPr>
          <a:xfrm>
            <a:off x="771525" y="3802856"/>
            <a:ext cx="31242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Maintains typical text data. Must always be wrapped in quotation marks (e.g., "Raya IT"). Typically used to store file directories, user IDs, or email templates.</a:t>
            </a:r>
          </a:p>
        </p:txBody>
      </p:sp>
      <p:sp>
        <p:nvSpPr>
          <p:cNvPr id="183" name="Google Shape;183;p19"/>
          <p:cNvSpPr txBox="1"/>
          <p:nvPr/>
        </p:nvSpPr>
        <p:spPr>
          <a:xfrm>
            <a:off x="4533900" y="32504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Int32 (System.Int32)</a:t>
            </a:r>
          </a:p>
        </p:txBody>
      </p:sp>
      <p:sp>
        <p:nvSpPr>
          <p:cNvPr id="184" name="Google Shape;184;p19"/>
          <p:cNvSpPr txBox="1"/>
          <p:nvPr/>
        </p:nvSpPr>
        <p:spPr>
          <a:xfrm>
            <a:off x="4533900" y="3802856"/>
            <a:ext cx="31242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Stores signed integer numbers (e.g., 15). Highly optimized for looping indexes, execution counters, page numbers, or record limitations.</a:t>
            </a:r>
          </a:p>
        </p:txBody>
      </p:sp>
      <p:sp>
        <p:nvSpPr>
          <p:cNvPr id="185" name="Google Shape;185;p19"/>
          <p:cNvSpPr txBox="1"/>
          <p:nvPr/>
        </p:nvSpPr>
        <p:spPr>
          <a:xfrm>
            <a:off x="8296275" y="32504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Double (System.Double)</a:t>
            </a:r>
          </a:p>
        </p:txBody>
      </p:sp>
      <p:sp>
        <p:nvSpPr>
          <p:cNvPr id="186" name="Google Shape;186;p19"/>
          <p:cNvSpPr txBox="1"/>
          <p:nvPr/>
        </p:nvSpPr>
        <p:spPr>
          <a:xfrm>
            <a:off x="8296275" y="3802856"/>
            <a:ext cx="31242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Handles fractional numbers and highly precise floating-point decimal variables (e.g., 95.40). Critical for processing currency, pricing indices, and taxes.</a:t>
            </a:r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6"/>
          <a:stretch>
            <a:fillRect/>
          </a:stretch>
        </p:blipFill>
        <p:spPr>
          <a:xfrm>
            <a:off x="775566" y="2802731"/>
            <a:ext cx="25861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533900" y="2802731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8"/>
          <a:stretch>
            <a:fillRect/>
          </a:stretch>
        </p:blipFill>
        <p:spPr>
          <a:xfrm>
            <a:off x="8296275" y="2804255"/>
            <a:ext cx="228600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Core RPA Data Types - Part 1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414587"/>
            <a:ext cx="35242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33875" y="2414587"/>
            <a:ext cx="35242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0" y="2414587"/>
            <a:ext cx="35242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71525" y="3100387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Boolean (System.Boolean)</a:t>
            </a:r>
          </a:p>
        </p:txBody>
      </p:sp>
      <p:sp>
        <p:nvSpPr>
          <p:cNvPr id="200" name="Google Shape;200;p20"/>
          <p:cNvSpPr txBox="1"/>
          <p:nvPr/>
        </p:nvSpPr>
        <p:spPr>
          <a:xfrm>
            <a:off x="771525" y="3652837"/>
            <a:ext cx="31242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Manages binary logical states: True or False. Critical for validation checks, flag triggers, and status evaluations (e.g., bool_IsFolderExists).</a:t>
            </a:r>
          </a:p>
        </p:txBody>
      </p:sp>
      <p:sp>
        <p:nvSpPr>
          <p:cNvPr id="201" name="Google Shape;201;p20"/>
          <p:cNvSpPr txBox="1"/>
          <p:nvPr/>
        </p:nvSpPr>
        <p:spPr>
          <a:xfrm>
            <a:off x="4533900" y="3100387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DateTime (System.DateTime)</a:t>
            </a:r>
          </a:p>
        </p:txBody>
      </p:sp>
      <p:sp>
        <p:nvSpPr>
          <p:cNvPr id="202" name="Google Shape;202;p20"/>
          <p:cNvSpPr txBox="1"/>
          <p:nvPr/>
        </p:nvSpPr>
        <p:spPr>
          <a:xfrm>
            <a:off x="4533900" y="3967162"/>
            <a:ext cx="31242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Retains highly specific timespan and calendar attributes. Essential for timestamping log files, creating historical backups, or scheduling task limits.</a:t>
            </a:r>
          </a:p>
        </p:txBody>
      </p:sp>
      <p:sp>
        <p:nvSpPr>
          <p:cNvPr id="203" name="Google Shape;203;p20"/>
          <p:cNvSpPr txBox="1"/>
          <p:nvPr/>
        </p:nvSpPr>
        <p:spPr>
          <a:xfrm>
            <a:off x="8296275" y="3100387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Array of Strings (String[])</a:t>
            </a:r>
          </a:p>
        </p:txBody>
      </p:sp>
      <p:sp>
        <p:nvSpPr>
          <p:cNvPr id="204" name="Google Shape;204;p20"/>
          <p:cNvSpPr txBox="1"/>
          <p:nvPr/>
        </p:nvSpPr>
        <p:spPr>
          <a:xfrm>
            <a:off x="8296275" y="3652837"/>
            <a:ext cx="31242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fixed collection of textual expressions. Used when storing multiple file paths generated by directory scanners (e.g., {"path1", "path2"}).</a:t>
            </a:r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6"/>
          <a:stretch>
            <a:fillRect/>
          </a:stretch>
        </p:blipFill>
        <p:spPr>
          <a:xfrm>
            <a:off x="776720" y="2652712"/>
            <a:ext cx="332509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533900" y="26527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296275" y="26527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Core RPA Data Types - Part 2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564606"/>
            <a:ext cx="3524250" cy="245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33875" y="2564606"/>
            <a:ext cx="3524250" cy="245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0" y="2564606"/>
            <a:ext cx="3524250" cy="245268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771525" y="32504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DataTables</a:t>
            </a:r>
          </a:p>
        </p:txBody>
      </p:sp>
      <p:sp>
        <p:nvSpPr>
          <p:cNvPr id="218" name="Google Shape;218;p21"/>
          <p:cNvSpPr txBox="1"/>
          <p:nvPr/>
        </p:nvSpPr>
        <p:spPr>
          <a:xfrm>
            <a:off x="771525" y="3652837"/>
            <a:ext cx="31242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Stores tabular databases (rows and columns) in RAM. Perfect for pulling records out of Excel sheets, CSV text dumps, or web page scraping structures.</a:t>
            </a:r>
          </a:p>
        </p:txBody>
      </p:sp>
      <p:sp>
        <p:nvSpPr>
          <p:cNvPr id="219" name="Google Shape;219;p21"/>
          <p:cNvSpPr txBox="1"/>
          <p:nvPr/>
        </p:nvSpPr>
        <p:spPr>
          <a:xfrm>
            <a:off x="4533900" y="32504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Dictionaries (Key-Value)</a:t>
            </a:r>
          </a:p>
        </p:txBody>
      </p:sp>
      <p:sp>
        <p:nvSpPr>
          <p:cNvPr id="220" name="Google Shape;220;p21"/>
          <p:cNvSpPr txBox="1"/>
          <p:nvPr/>
        </p:nvSpPr>
        <p:spPr>
          <a:xfrm>
            <a:off x="4533900" y="3652837"/>
            <a:ext cx="3124200" cy="1329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Holds indexed associative pairs (e.g., {"InvoiceNum", "10255"}). Highly recommended for managing project configuration parameters and system credentials.</a:t>
            </a:r>
          </a:p>
        </p:txBody>
      </p:sp>
      <p:sp>
        <p:nvSpPr>
          <p:cNvPr id="221" name="Google Shape;221;p21"/>
          <p:cNvSpPr txBox="1"/>
          <p:nvPr/>
        </p:nvSpPr>
        <p:spPr>
          <a:xfrm>
            <a:off x="8296275" y="32504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Collections (Lists)</a:t>
            </a:r>
          </a:p>
        </p:txBody>
      </p:sp>
      <p:sp>
        <p:nvSpPr>
          <p:cNvPr id="222" name="Google Shape;222;p21"/>
          <p:cNvSpPr txBox="1"/>
          <p:nvPr/>
        </p:nvSpPr>
        <p:spPr>
          <a:xfrm>
            <a:off x="8296275" y="3652837"/>
            <a:ext cx="31242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Unlike fixed arrays, List structures allow dynamic, real-time additions and removals of indices (e.g., appending transaction logs on the fly).</a:t>
            </a:r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6"/>
          <a:stretch>
            <a:fillRect/>
          </a:stretch>
        </p:blipFill>
        <p:spPr>
          <a:xfrm>
            <a:off x="776143" y="2802731"/>
            <a:ext cx="29556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7"/>
          <a:stretch>
            <a:fillRect/>
          </a:stretch>
        </p:blipFill>
        <p:spPr>
          <a:xfrm>
            <a:off x="4533900" y="2807349"/>
            <a:ext cx="304800" cy="29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296275" y="2802731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Advanced Complex Data Structuring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/>
        </p:nvSpPr>
        <p:spPr>
          <a:xfrm>
            <a:off x="904875" y="3162300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Scope Definition: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Scope establishes the execution boundaries inside which a variable is accessible. Sub-sequences automatically inherit parent access.</a:t>
            </a:r>
          </a:p>
        </p:txBody>
      </p:sp>
      <p:sp>
        <p:nvSpPr>
          <p:cNvPr id="233" name="Google Shape;233;p22"/>
          <p:cNvSpPr txBox="1"/>
          <p:nvPr/>
        </p:nvSpPr>
        <p:spPr>
          <a:xfrm>
            <a:off x="904875" y="3722300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Isolation Conflicts: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Referencing variables outside their assigned block boundaries triggers compile errors. Solve these by adjusting scopes in the variables panel.</a:t>
            </a:r>
          </a:p>
        </p:txBody>
      </p:sp>
      <p:sp>
        <p:nvSpPr>
          <p:cNvPr id="234" name="Google Shape;234;p22"/>
          <p:cNvSpPr txBox="1"/>
          <p:nvPr/>
        </p:nvSpPr>
        <p:spPr>
          <a:xfrm>
            <a:off x="904875" y="4282300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Principle of Least Privilege: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Always restrict variables to their smallest necessary scope. This keeps system RAM clean and prevents accidental variables crossovers.</a:t>
            </a:r>
          </a:p>
        </p:txBody>
      </p:sp>
      <p:pic>
        <p:nvPicPr>
          <p:cNvPr id="235" name="Google Shape;235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1861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7461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30611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Execution Scoping &amp; Lifecycle Rules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23"/>
          <p:cNvGraphicFramePr/>
          <p:nvPr/>
        </p:nvGraphicFramePr>
        <p:xfrm>
          <a:off x="571500" y="2395537"/>
          <a:ext cx="11048975" cy="2790775"/>
        </p:xfrm>
        <a:graphic>
          <a:graphicData uri="http://schemas.openxmlformats.org/drawingml/2006/table">
            <a:tbl>
              <a:tblPr firstRow="1" bandRow="1">
                <a:noFill/>
                <a:tableStyleId>{7552F254-C8C9-4A3A-BF54-483A6EC616C2}</a:tableStyleId>
              </a:tblPr>
              <a:tblGrid>
                <a:gridCol w="206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RPA Data Type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Prefix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Professional Example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Standard Scope Usage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String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str_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str_InputFolderPath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Processing loops and file directories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Int32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int_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int_LoopIndexCounter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Iterative counting limit blocks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Boolean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bool_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bool_IsFileProcessed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Conditional decision-making paths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Array of Strings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arr_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arr_ScannedInvoicePaths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Storing scanned list files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DataTable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dt_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dt_ExcelUserData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Excel parsing and reporting workflows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5" name="Google Shape;245;p23"/>
          <p:cNvSpPr/>
          <p:nvPr/>
        </p:nvSpPr>
        <p:spPr>
          <a:xfrm>
            <a:off x="571500" y="2847975"/>
            <a:ext cx="2060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2632174" y="2847975"/>
            <a:ext cx="1275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907333" y="2847975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424439" y="2847975"/>
            <a:ext cx="419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3314700"/>
            <a:ext cx="2060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2632174" y="3314700"/>
            <a:ext cx="1275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3907333" y="3314700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424439" y="3314700"/>
            <a:ext cx="419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3781425"/>
            <a:ext cx="2060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2632174" y="3781425"/>
            <a:ext cx="1275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3907333" y="3781425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7424439" y="3781425"/>
            <a:ext cx="419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71500" y="4248150"/>
            <a:ext cx="2060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632174" y="4248150"/>
            <a:ext cx="1275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3907333" y="4248150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7424439" y="4248150"/>
            <a:ext cx="419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71500" y="4714875"/>
            <a:ext cx="2060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2632174" y="4714875"/>
            <a:ext cx="1275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907333" y="4714875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7424439" y="4714875"/>
            <a:ext cx="4196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Enterprise Variable Naming Standards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"/>
          <p:cNvSpPr txBox="1"/>
          <p:nvPr/>
        </p:nvSpPr>
        <p:spPr>
          <a:xfrm>
            <a:off x="3048000" y="2854000"/>
            <a:ext cx="6096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3200" b="1" i="0" u="none" strike="noStrike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UiPath Workflow Types</a:t>
            </a:r>
          </a:p>
        </p:txBody>
      </p:sp>
      <p:pic>
        <p:nvPicPr>
          <p:cNvPr id="119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571500" y="571500"/>
            <a:ext cx="110209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buNone/>
            </a:pPr>
            <a:r>
              <a:rPr lang="en-US" sz="2550" b="1" i="0" u="none" strike="noStrik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Sequence Workflow</a:t>
            </a:r>
          </a:p>
        </p:txBody>
      </p:sp>
      <p:sp>
        <p:nvSpPr>
          <p:cNvPr id="102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Intro"/>
          <p:cNvSpPr txBox="1"/>
          <p:nvPr/>
        </p:nvSpPr>
        <p:spPr>
          <a:xfrm>
            <a:off x="571500" y="1400000"/>
            <a:ext cx="52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40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simple linear layout that flows from top to bottom, running one activity after another.</a:t>
            </a:r>
          </a:p>
        </p:txBody>
      </p:sp>
      <p:sp>
        <p:nvSpPr>
          <p:cNvPr id="104" name="Bullet"/>
          <p:cNvSpPr/>
          <p:nvPr/>
        </p:nvSpPr>
        <p:spPr>
          <a:xfrm>
            <a:off x="571500" y="208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Row"/>
          <p:cNvSpPr txBox="1"/>
          <p:nvPr/>
        </p:nvSpPr>
        <p:spPr>
          <a:xfrm>
            <a:off x="830000" y="204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it is: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default, easiest-to-read layout; the preferred container for most workflows.</a:t>
            </a:r>
          </a:p>
        </p:txBody>
      </p:sp>
      <p:sp>
        <p:nvSpPr>
          <p:cNvPr id="106" name="Bullet"/>
          <p:cNvSpPr/>
          <p:nvPr/>
        </p:nvSpPr>
        <p:spPr>
          <a:xfrm>
            <a:off x="571500" y="296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ow"/>
          <p:cNvSpPr txBox="1"/>
          <p:nvPr/>
        </p:nvSpPr>
        <p:spPr>
          <a:xfrm>
            <a:off x="830000" y="292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 to use: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Straightforward, step-by-step tasks — especially UI automation where clicks and keystrokes happen in order.</a:t>
            </a:r>
          </a:p>
        </p:txBody>
      </p:sp>
      <p:sp>
        <p:nvSpPr>
          <p:cNvPr id="108" name="Bullet"/>
          <p:cNvSpPr/>
          <p:nvPr/>
        </p:nvSpPr>
        <p:spPr>
          <a:xfrm>
            <a:off x="571500" y="384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Row"/>
          <p:cNvSpPr txBox="1"/>
          <p:nvPr/>
        </p:nvSpPr>
        <p:spPr>
          <a:xfrm>
            <a:off x="830000" y="380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Key trait: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Compact and reusable; ideal for extracting a block of logic into its own Invoke-able file.</a:t>
            </a:r>
          </a:p>
        </p:txBody>
      </p:sp>
      <p:sp>
        <p:nvSpPr>
          <p:cNvPr id="110" name="Bullet"/>
          <p:cNvSpPr/>
          <p:nvPr/>
        </p:nvSpPr>
        <p:spPr>
          <a:xfrm>
            <a:off x="571500" y="472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Row"/>
          <p:cNvSpPr txBox="1"/>
          <p:nvPr/>
        </p:nvSpPr>
        <p:spPr>
          <a:xfrm>
            <a:off x="830000" y="468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Example: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Open browser → type credentials → click Login → log the result.</a:t>
            </a:r>
          </a:p>
        </p:txBody>
      </p:sp>
      <p:sp>
        <p:nvSpPr>
          <p:cNvPr id="112" name="Diagram Panel"/>
          <p:cNvSpPr/>
          <p:nvPr/>
        </p:nvSpPr>
        <p:spPr>
          <a:xfrm>
            <a:off x="6100000" y="1500000"/>
            <a:ext cx="5500000" cy="456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875">
            <a:solidFill>
              <a:srgbClr val="4472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Seq"/>
          <p:cNvSpPr/>
          <p:nvPr/>
        </p:nvSpPr>
        <p:spPr>
          <a:xfrm>
            <a:off x="7300000" y="1720000"/>
            <a:ext cx="3100000" cy="4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SeqHead"/>
          <p:cNvSpPr/>
          <p:nvPr/>
        </p:nvSpPr>
        <p:spPr>
          <a:xfrm>
            <a:off x="7300000" y="1720000"/>
            <a:ext cx="3100000" cy="520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Sequence</a:t>
            </a:r>
          </a:p>
        </p:txBody>
      </p:sp>
      <p:sp>
        <p:nvSpPr>
          <p:cNvPr id="115" name="Chip"/>
          <p:cNvSpPr/>
          <p:nvPr/>
        </p:nvSpPr>
        <p:spPr>
          <a:xfrm>
            <a:off x="7530000" y="2380000"/>
            <a:ext cx="2640000" cy="5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Icon"/>
          <p:cNvSpPr/>
          <p:nvPr/>
        </p:nvSpPr>
        <p:spPr>
          <a:xfrm>
            <a:off x="7650000" y="2530000"/>
            <a:ext cx="260000" cy="260000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ChipLabel"/>
          <p:cNvSpPr txBox="1"/>
          <p:nvPr/>
        </p:nvSpPr>
        <p:spPr>
          <a:xfrm>
            <a:off x="8000000" y="2380000"/>
            <a:ext cx="2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00" b="1" i="0" u="none" strike="noStrike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Open Browser</a:t>
            </a:r>
          </a:p>
        </p:txBody>
      </p:sp>
      <p:sp>
        <p:nvSpPr>
          <p:cNvPr id="118" name="Arrow"/>
          <p:cNvSpPr/>
          <p:nvPr/>
        </p:nvSpPr>
        <p:spPr>
          <a:xfrm>
            <a:off x="8785000" y="2970000"/>
            <a:ext cx="130000" cy="24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Chip"/>
          <p:cNvSpPr/>
          <p:nvPr/>
        </p:nvSpPr>
        <p:spPr>
          <a:xfrm>
            <a:off x="7530000" y="3240000"/>
            <a:ext cx="2640000" cy="5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Icon"/>
          <p:cNvSpPr/>
          <p:nvPr/>
        </p:nvSpPr>
        <p:spPr>
          <a:xfrm>
            <a:off x="7650000" y="3390000"/>
            <a:ext cx="260000" cy="260000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ChipLabel"/>
          <p:cNvSpPr txBox="1"/>
          <p:nvPr/>
        </p:nvSpPr>
        <p:spPr>
          <a:xfrm>
            <a:off x="8000000" y="3240000"/>
            <a:ext cx="2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00" b="1" i="0" u="none" strike="noStrike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Type Into</a:t>
            </a:r>
          </a:p>
        </p:txBody>
      </p:sp>
      <p:sp>
        <p:nvSpPr>
          <p:cNvPr id="122" name="Arrow"/>
          <p:cNvSpPr/>
          <p:nvPr/>
        </p:nvSpPr>
        <p:spPr>
          <a:xfrm>
            <a:off x="8785000" y="3830000"/>
            <a:ext cx="130000" cy="24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Chip"/>
          <p:cNvSpPr/>
          <p:nvPr/>
        </p:nvSpPr>
        <p:spPr>
          <a:xfrm>
            <a:off x="7530000" y="4100000"/>
            <a:ext cx="2640000" cy="5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Icon"/>
          <p:cNvSpPr/>
          <p:nvPr/>
        </p:nvSpPr>
        <p:spPr>
          <a:xfrm>
            <a:off x="7650000" y="4250000"/>
            <a:ext cx="260000" cy="260000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ChipLabel"/>
          <p:cNvSpPr txBox="1"/>
          <p:nvPr/>
        </p:nvSpPr>
        <p:spPr>
          <a:xfrm>
            <a:off x="8000000" y="4100000"/>
            <a:ext cx="2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00" b="1" i="0" u="none" strike="noStrike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Click</a:t>
            </a:r>
          </a:p>
        </p:txBody>
      </p:sp>
      <p:sp>
        <p:nvSpPr>
          <p:cNvPr id="126" name="Arrow"/>
          <p:cNvSpPr/>
          <p:nvPr/>
        </p:nvSpPr>
        <p:spPr>
          <a:xfrm>
            <a:off x="8785000" y="4690000"/>
            <a:ext cx="130000" cy="24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Chip"/>
          <p:cNvSpPr/>
          <p:nvPr/>
        </p:nvSpPr>
        <p:spPr>
          <a:xfrm>
            <a:off x="7530000" y="4960000"/>
            <a:ext cx="2640000" cy="5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Icon"/>
          <p:cNvSpPr/>
          <p:nvPr/>
        </p:nvSpPr>
        <p:spPr>
          <a:xfrm>
            <a:off x="7650000" y="5110000"/>
            <a:ext cx="260000" cy="260000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ChipLabel"/>
          <p:cNvSpPr txBox="1"/>
          <p:nvPr/>
        </p:nvSpPr>
        <p:spPr>
          <a:xfrm>
            <a:off x="8000000" y="4960000"/>
            <a:ext cx="2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00" b="1" i="0" u="none" strike="noStrike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Log Message</a:t>
            </a:r>
          </a:p>
        </p:txBody>
      </p:sp>
      <p:pic>
        <p:nvPicPr>
          <p:cNvPr id="13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571500" y="571500"/>
            <a:ext cx="110209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buNone/>
            </a:pPr>
            <a:r>
              <a:rPr lang="en-US" sz="2550" b="1" i="0" u="none" strike="noStrik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Flowchart Workflow</a:t>
            </a:r>
          </a:p>
        </p:txBody>
      </p:sp>
      <p:sp>
        <p:nvSpPr>
          <p:cNvPr id="102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Intro"/>
          <p:cNvSpPr txBox="1"/>
          <p:nvPr/>
        </p:nvSpPr>
        <p:spPr>
          <a:xfrm>
            <a:off x="571500" y="1400000"/>
            <a:ext cx="52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40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free-form 2D layout where activities are linked by connectors and can branch in many directions.</a:t>
            </a:r>
          </a:p>
        </p:txBody>
      </p:sp>
      <p:sp>
        <p:nvSpPr>
          <p:cNvPr id="104" name="Bullet"/>
          <p:cNvSpPr/>
          <p:nvPr/>
        </p:nvSpPr>
        <p:spPr>
          <a:xfrm>
            <a:off x="571500" y="208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Row"/>
          <p:cNvSpPr txBox="1"/>
          <p:nvPr/>
        </p:nvSpPr>
        <p:spPr>
          <a:xfrm>
            <a:off x="830000" y="204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it is: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visual map of the process that can split into multiple paths and even loop back.</a:t>
            </a:r>
          </a:p>
        </p:txBody>
      </p:sp>
      <p:sp>
        <p:nvSpPr>
          <p:cNvPr id="106" name="Bullet"/>
          <p:cNvSpPr/>
          <p:nvPr/>
        </p:nvSpPr>
        <p:spPr>
          <a:xfrm>
            <a:off x="571500" y="296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ow"/>
          <p:cNvSpPr txBox="1"/>
          <p:nvPr/>
        </p:nvSpPr>
        <p:spPr>
          <a:xfrm>
            <a:off x="830000" y="292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 to use: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Decision-heavy processes with several possible outcomes from one point.</a:t>
            </a:r>
          </a:p>
        </p:txBody>
      </p:sp>
      <p:sp>
        <p:nvSpPr>
          <p:cNvPr id="108" name="Bullet"/>
          <p:cNvSpPr/>
          <p:nvPr/>
        </p:nvSpPr>
        <p:spPr>
          <a:xfrm>
            <a:off x="571500" y="384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Row"/>
          <p:cNvSpPr txBox="1"/>
          <p:nvPr/>
        </p:nvSpPr>
        <p:spPr>
          <a:xfrm>
            <a:off x="830000" y="380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Key activities: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Flow Decision routes True/False; Flow Switch routes multiple cases.</a:t>
            </a:r>
          </a:p>
        </p:txBody>
      </p:sp>
      <p:sp>
        <p:nvSpPr>
          <p:cNvPr id="110" name="Bullet"/>
          <p:cNvSpPr/>
          <p:nvPr/>
        </p:nvSpPr>
        <p:spPr>
          <a:xfrm>
            <a:off x="571500" y="472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Row"/>
          <p:cNvSpPr txBox="1"/>
          <p:nvPr/>
        </p:nvSpPr>
        <p:spPr>
          <a:xfrm>
            <a:off x="830000" y="468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Example: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From one check, route an invoice as Internal, External, or Unknown.</a:t>
            </a:r>
          </a:p>
        </p:txBody>
      </p:sp>
      <p:sp>
        <p:nvSpPr>
          <p:cNvPr id="112" name="Diagram Panel"/>
          <p:cNvSpPr/>
          <p:nvPr/>
        </p:nvSpPr>
        <p:spPr>
          <a:xfrm>
            <a:off x="6100000" y="1500000"/>
            <a:ext cx="5500000" cy="456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875">
            <a:solidFill>
              <a:srgbClr val="4472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Start"/>
          <p:cNvSpPr/>
          <p:nvPr/>
        </p:nvSpPr>
        <p:spPr>
          <a:xfrm>
            <a:off x="8150000" y="1740000"/>
            <a:ext cx="1400000" cy="4700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Start</a:t>
            </a:r>
          </a:p>
        </p:txBody>
      </p:sp>
      <p:sp>
        <p:nvSpPr>
          <p:cNvPr id="114" name="Arrow"/>
          <p:cNvSpPr/>
          <p:nvPr/>
        </p:nvSpPr>
        <p:spPr>
          <a:xfrm>
            <a:off x="8775000" y="2260000"/>
            <a:ext cx="150000" cy="25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Decision"/>
          <p:cNvSpPr/>
          <p:nvPr/>
        </p:nvSpPr>
        <p:spPr>
          <a:xfrm>
            <a:off x="7800000" y="2560000"/>
            <a:ext cx="2100000" cy="1120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File = .pdf ?</a:t>
            </a:r>
          </a:p>
        </p:txBody>
      </p:sp>
      <p:sp>
        <p:nvSpPr>
          <p:cNvPr id="116" name="Rail"/>
          <p:cNvSpPr/>
          <p:nvPr/>
        </p:nvSpPr>
        <p:spPr>
          <a:xfrm>
            <a:off x="7100000" y="3860000"/>
            <a:ext cx="3500000" cy="24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temD"/>
          <p:cNvSpPr/>
          <p:nvPr/>
        </p:nvSpPr>
        <p:spPr>
          <a:xfrm>
            <a:off x="7800000" y="3680000"/>
            <a:ext cx="24000" cy="1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Arrow"/>
          <p:cNvSpPr/>
          <p:nvPr/>
        </p:nvSpPr>
        <p:spPr>
          <a:xfrm>
            <a:off x="7037000" y="3860000"/>
            <a:ext cx="150000" cy="25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Arrow"/>
          <p:cNvSpPr/>
          <p:nvPr/>
        </p:nvSpPr>
        <p:spPr>
          <a:xfrm>
            <a:off x="10513000" y="3860000"/>
            <a:ext cx="150000" cy="25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rueLbl"/>
          <p:cNvSpPr txBox="1"/>
          <p:nvPr/>
        </p:nvSpPr>
        <p:spPr>
          <a:xfrm>
            <a:off x="6950000" y="36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 u="none" strike="noStrike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True</a:t>
            </a:r>
          </a:p>
        </p:txBody>
      </p:sp>
      <p:sp>
        <p:nvSpPr>
          <p:cNvPr id="121" name="FalseLbl"/>
          <p:cNvSpPr txBox="1"/>
          <p:nvPr/>
        </p:nvSpPr>
        <p:spPr>
          <a:xfrm>
            <a:off x="9850000" y="3600000"/>
            <a:ext cx="90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False</a:t>
            </a:r>
          </a:p>
        </p:txBody>
      </p:sp>
      <p:sp>
        <p:nvSpPr>
          <p:cNvPr id="122" name="BoxL"/>
          <p:cNvSpPr/>
          <p:nvPr/>
        </p:nvSpPr>
        <p:spPr>
          <a:xfrm>
            <a:off x="6350000" y="4140000"/>
            <a:ext cx="152000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Process PDF</a:t>
            </a:r>
          </a:p>
        </p:txBody>
      </p:sp>
      <p:sp>
        <p:nvSpPr>
          <p:cNvPr id="123" name="BoxR"/>
          <p:cNvSpPr/>
          <p:nvPr/>
        </p:nvSpPr>
        <p:spPr>
          <a:xfrm>
            <a:off x="9830000" y="4140000"/>
            <a:ext cx="152000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Skip File</a:t>
            </a:r>
          </a:p>
        </p:txBody>
      </p:sp>
      <p:pic>
        <p:nvPicPr>
          <p:cNvPr id="124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571500" y="571500"/>
            <a:ext cx="110209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buNone/>
            </a:pPr>
            <a:r>
              <a:rPr lang="en-US" sz="2550" b="1" i="0" u="none" strike="noStrik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State Machine Workflow</a:t>
            </a:r>
          </a:p>
        </p:txBody>
      </p:sp>
      <p:sp>
        <p:nvSpPr>
          <p:cNvPr id="102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Intro"/>
          <p:cNvSpPr txBox="1"/>
          <p:nvPr/>
        </p:nvSpPr>
        <p:spPr>
          <a:xfrm>
            <a:off x="571500" y="1400000"/>
            <a:ext cx="52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40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 automation built from a finite set of States linked by conditional Transitions.</a:t>
            </a:r>
          </a:p>
        </p:txBody>
      </p:sp>
      <p:sp>
        <p:nvSpPr>
          <p:cNvPr id="104" name="Bullet"/>
          <p:cNvSpPr/>
          <p:nvPr/>
        </p:nvSpPr>
        <p:spPr>
          <a:xfrm>
            <a:off x="571500" y="208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Row"/>
          <p:cNvSpPr txBox="1"/>
          <p:nvPr/>
        </p:nvSpPr>
        <p:spPr>
          <a:xfrm>
            <a:off x="830000" y="204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it is: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Execution enters a State, runs its actions, then follows a Transition arrow when a condition is met.</a:t>
            </a:r>
          </a:p>
        </p:txBody>
      </p:sp>
      <p:sp>
        <p:nvSpPr>
          <p:cNvPr id="106" name="Bullet"/>
          <p:cNvSpPr/>
          <p:nvPr/>
        </p:nvSpPr>
        <p:spPr>
          <a:xfrm>
            <a:off x="571500" y="296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ow"/>
          <p:cNvSpPr txBox="1"/>
          <p:nvPr/>
        </p:nvSpPr>
        <p:spPr>
          <a:xfrm>
            <a:off x="830000" y="292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 to use: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Large, complex, event-driven processes — it is the backbone of the REFramework.</a:t>
            </a:r>
          </a:p>
        </p:txBody>
      </p:sp>
      <p:sp>
        <p:nvSpPr>
          <p:cNvPr id="108" name="Bullet"/>
          <p:cNvSpPr/>
          <p:nvPr/>
        </p:nvSpPr>
        <p:spPr>
          <a:xfrm>
            <a:off x="571500" y="384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Row"/>
          <p:cNvSpPr txBox="1"/>
          <p:nvPr/>
        </p:nvSpPr>
        <p:spPr>
          <a:xfrm>
            <a:off x="830000" y="380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Key activities: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State and Final State (Workflow ▸ State Machine); transitions carry the conditions.</a:t>
            </a:r>
          </a:p>
        </p:txBody>
      </p:sp>
      <p:sp>
        <p:nvSpPr>
          <p:cNvPr id="110" name="Bullet"/>
          <p:cNvSpPr/>
          <p:nvPr/>
        </p:nvSpPr>
        <p:spPr>
          <a:xfrm>
            <a:off x="571500" y="472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Row"/>
          <p:cNvSpPr txBox="1"/>
          <p:nvPr/>
        </p:nvSpPr>
        <p:spPr>
          <a:xfrm>
            <a:off x="830000" y="468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Example: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Init → Get Transaction → Process → End, looping until no data remains.</a:t>
            </a:r>
          </a:p>
        </p:txBody>
      </p:sp>
      <p:sp>
        <p:nvSpPr>
          <p:cNvPr id="112" name="Diagram Panel"/>
          <p:cNvSpPr/>
          <p:nvPr/>
        </p:nvSpPr>
        <p:spPr>
          <a:xfrm>
            <a:off x="6100000" y="1500000"/>
            <a:ext cx="5500000" cy="456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875">
            <a:solidFill>
              <a:srgbClr val="4472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State1"/>
          <p:cNvSpPr/>
          <p:nvPr/>
        </p:nvSpPr>
        <p:spPr>
          <a:xfrm>
            <a:off x="7750000" y="1760000"/>
            <a:ext cx="2200000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Init</a:t>
            </a:r>
          </a:p>
        </p:txBody>
      </p:sp>
      <p:sp>
        <p:nvSpPr>
          <p:cNvPr id="114" name="Arrow"/>
          <p:cNvSpPr/>
          <p:nvPr/>
        </p:nvSpPr>
        <p:spPr>
          <a:xfrm>
            <a:off x="8775000" y="2440000"/>
            <a:ext cx="150000" cy="25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"/>
          <p:cNvSpPr txBox="1"/>
          <p:nvPr/>
        </p:nvSpPr>
        <p:spPr>
          <a:xfrm>
            <a:off x="8970000" y="2450000"/>
            <a:ext cx="150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buNone/>
            </a:pPr>
            <a:r>
              <a:rPr lang="en-US" sz="130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on ready</a:t>
            </a:r>
          </a:p>
        </p:txBody>
      </p:sp>
      <p:sp>
        <p:nvSpPr>
          <p:cNvPr id="116" name="State2"/>
          <p:cNvSpPr/>
          <p:nvPr/>
        </p:nvSpPr>
        <p:spPr>
          <a:xfrm>
            <a:off x="7600000" y="2760000"/>
            <a:ext cx="2500000" cy="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Get &amp; Process Transaction</a:t>
            </a:r>
          </a:p>
        </p:txBody>
      </p:sp>
      <p:sp>
        <p:nvSpPr>
          <p:cNvPr id="117" name="Arrow"/>
          <p:cNvSpPr/>
          <p:nvPr/>
        </p:nvSpPr>
        <p:spPr>
          <a:xfrm>
            <a:off x="8775000" y="3540000"/>
            <a:ext cx="150000" cy="25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2"/>
          <p:cNvSpPr txBox="1"/>
          <p:nvPr/>
        </p:nvSpPr>
        <p:spPr>
          <a:xfrm>
            <a:off x="8970000" y="3550000"/>
            <a:ext cx="160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buNone/>
            </a:pPr>
            <a:r>
              <a:rPr lang="en-US" sz="130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 more data</a:t>
            </a:r>
          </a:p>
        </p:txBody>
      </p:sp>
      <p:sp>
        <p:nvSpPr>
          <p:cNvPr id="119" name="State3"/>
          <p:cNvSpPr/>
          <p:nvPr/>
        </p:nvSpPr>
        <p:spPr>
          <a:xfrm>
            <a:off x="7750000" y="3860000"/>
            <a:ext cx="2200000" cy="620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End — Final State</a:t>
            </a:r>
          </a:p>
        </p:txBody>
      </p:sp>
      <p:sp>
        <p:nvSpPr>
          <p:cNvPr id="120" name="Loop"/>
          <p:cNvSpPr/>
          <p:nvPr/>
        </p:nvSpPr>
        <p:spPr>
          <a:xfrm>
            <a:off x="10150000" y="1980000"/>
            <a:ext cx="620000" cy="1560000"/>
          </a:xfrm>
          <a:prstGeom prst="curvedRightArrow">
            <a:avLst>
              <a:gd name="adj1" fmla="val 35000"/>
              <a:gd name="adj2" fmla="val 50000"/>
              <a:gd name="adj3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loopLbl"/>
          <p:cNvSpPr txBox="1"/>
          <p:nvPr/>
        </p:nvSpPr>
        <p:spPr>
          <a:xfrm>
            <a:off x="10100000" y="256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buNone/>
            </a:pPr>
            <a:r>
              <a:rPr lang="en-US" sz="1300" b="1" i="0" u="none" strike="noStrike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next item</a:t>
            </a:r>
          </a:p>
        </p:txBody>
      </p:sp>
      <p:pic>
        <p:nvPicPr>
          <p:cNvPr id="122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s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571500" y="571500"/>
            <a:ext cx="110209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buNone/>
            </a:pPr>
            <a:r>
              <a:rPr lang="en-US" sz="2550" b="1" i="0" u="none" strike="noStrik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Global Exception Handler</a:t>
            </a:r>
          </a:p>
        </p:txBody>
      </p:sp>
      <p:sp>
        <p:nvSpPr>
          <p:cNvPr id="102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Intro"/>
          <p:cNvSpPr txBox="1"/>
          <p:nvPr/>
        </p:nvSpPr>
        <p:spPr>
          <a:xfrm>
            <a:off x="571500" y="1400000"/>
            <a:ext cx="52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40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special workflow that defines how the whole project reacts to an unexpected execution error.</a:t>
            </a:r>
          </a:p>
        </p:txBody>
      </p:sp>
      <p:sp>
        <p:nvSpPr>
          <p:cNvPr id="104" name="Bullet"/>
          <p:cNvSpPr/>
          <p:nvPr/>
        </p:nvSpPr>
        <p:spPr>
          <a:xfrm>
            <a:off x="571500" y="208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Row"/>
          <p:cNvSpPr txBox="1"/>
          <p:nvPr/>
        </p:nvSpPr>
        <p:spPr>
          <a:xfrm>
            <a:off x="830000" y="204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it is: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single project-wide safety net — only one is allowed per process (not in libraries).</a:t>
            </a:r>
          </a:p>
        </p:txBody>
      </p:sp>
      <p:sp>
        <p:nvSpPr>
          <p:cNvPr id="106" name="Bullet"/>
          <p:cNvSpPr/>
          <p:nvPr/>
        </p:nvSpPr>
        <p:spPr>
          <a:xfrm>
            <a:off x="571500" y="296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ow"/>
          <p:cNvSpPr txBox="1"/>
          <p:nvPr/>
        </p:nvSpPr>
        <p:spPr>
          <a:xfrm>
            <a:off x="830000" y="292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 to use: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Set global behavior for unhandled errors instead of wrapping every workflow in Try Catch.</a:t>
            </a:r>
          </a:p>
        </p:txBody>
      </p:sp>
      <p:sp>
        <p:nvSpPr>
          <p:cNvPr id="108" name="Bullet"/>
          <p:cNvSpPr/>
          <p:nvPr/>
        </p:nvSpPr>
        <p:spPr>
          <a:xfrm>
            <a:off x="571500" y="384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Row"/>
          <p:cNvSpPr txBox="1"/>
          <p:nvPr/>
        </p:nvSpPr>
        <p:spPr>
          <a:xfrm>
            <a:off x="830000" y="380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Arguments: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errorInfo (In) captures the error and the failing workflow; the result sets the response.</a:t>
            </a:r>
          </a:p>
        </p:txBody>
      </p:sp>
      <p:sp>
        <p:nvSpPr>
          <p:cNvPr id="110" name="Bullet"/>
          <p:cNvSpPr/>
          <p:nvPr/>
        </p:nvSpPr>
        <p:spPr>
          <a:xfrm>
            <a:off x="571500" y="4720000"/>
            <a:ext cx="168000" cy="1680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Row"/>
          <p:cNvSpPr txBox="1"/>
          <p:nvPr/>
        </p:nvSpPr>
        <p:spPr>
          <a:xfrm>
            <a:off x="830000" y="4680000"/>
            <a:ext cx="49800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30000"/>
              </a:lnSpc>
              <a:buNone/>
            </a:pPr>
            <a:r>
              <a:rPr lang="en-US" sz="1350" b="1" i="0" u="none" strike="noStrik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Responses:  </a:t>
            </a:r>
            <a:r>
              <a:rPr lang="en-US" sz="1350" b="0" i="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Continue, Ignore, Retry or Abort — with a configurable log level.</a:t>
            </a:r>
          </a:p>
        </p:txBody>
      </p:sp>
      <p:sp>
        <p:nvSpPr>
          <p:cNvPr id="112" name="Diagram Panel"/>
          <p:cNvSpPr/>
          <p:nvPr/>
        </p:nvSpPr>
        <p:spPr>
          <a:xfrm>
            <a:off x="6100000" y="1500000"/>
            <a:ext cx="5500000" cy="456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875">
            <a:solidFill>
              <a:srgbClr val="4472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Act"/>
          <p:cNvSpPr/>
          <p:nvPr/>
        </p:nvSpPr>
        <p:spPr>
          <a:xfrm>
            <a:off x="7250000" y="1760000"/>
            <a:ext cx="3200000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1F386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Any activity throws an error</a:t>
            </a:r>
          </a:p>
        </p:txBody>
      </p:sp>
      <p:sp>
        <p:nvSpPr>
          <p:cNvPr id="114" name="Arrow"/>
          <p:cNvSpPr/>
          <p:nvPr/>
        </p:nvSpPr>
        <p:spPr>
          <a:xfrm>
            <a:off x="8775000" y="2360000"/>
            <a:ext cx="150000" cy="24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Burst"/>
          <p:cNvSpPr/>
          <p:nvPr/>
        </p:nvSpPr>
        <p:spPr>
          <a:xfrm>
            <a:off x="8420000" y="2620000"/>
            <a:ext cx="860000" cy="860000"/>
          </a:xfrm>
          <a:prstGeom prst="irregularSeal1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Error!</a:t>
            </a:r>
          </a:p>
        </p:txBody>
      </p:sp>
      <p:sp>
        <p:nvSpPr>
          <p:cNvPr id="116" name="Arrow"/>
          <p:cNvSpPr/>
          <p:nvPr/>
        </p:nvSpPr>
        <p:spPr>
          <a:xfrm>
            <a:off x="8775000" y="3520000"/>
            <a:ext cx="150000" cy="24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GEH"/>
          <p:cNvSpPr/>
          <p:nvPr/>
        </p:nvSpPr>
        <p:spPr>
          <a:xfrm>
            <a:off x="6950000" y="3780000"/>
            <a:ext cx="3800000" cy="600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50" b="1" i="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Global Exception Handler</a:t>
            </a:r>
          </a:p>
        </p:txBody>
      </p:sp>
      <p:sp>
        <p:nvSpPr>
          <p:cNvPr id="118" name="Resp"/>
          <p:cNvSpPr/>
          <p:nvPr/>
        </p:nvSpPr>
        <p:spPr>
          <a:xfrm>
            <a:off x="7010000" y="4520000"/>
            <a:ext cx="1780000" cy="52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Continue</a:t>
            </a:r>
          </a:p>
        </p:txBody>
      </p:sp>
      <p:sp>
        <p:nvSpPr>
          <p:cNvPr id="119" name="Resp"/>
          <p:cNvSpPr/>
          <p:nvPr/>
        </p:nvSpPr>
        <p:spPr>
          <a:xfrm>
            <a:off x="8910000" y="4520000"/>
            <a:ext cx="1780000" cy="52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Ignore</a:t>
            </a:r>
          </a:p>
        </p:txBody>
      </p:sp>
      <p:sp>
        <p:nvSpPr>
          <p:cNvPr id="120" name="Resp"/>
          <p:cNvSpPr/>
          <p:nvPr/>
        </p:nvSpPr>
        <p:spPr>
          <a:xfrm>
            <a:off x="7010000" y="5180000"/>
            <a:ext cx="1780000" cy="52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Retry</a:t>
            </a:r>
          </a:p>
        </p:txBody>
      </p:sp>
      <p:sp>
        <p:nvSpPr>
          <p:cNvPr id="121" name="Resp"/>
          <p:cNvSpPr/>
          <p:nvPr/>
        </p:nvSpPr>
        <p:spPr>
          <a:xfrm>
            <a:off x="8910000" y="5180000"/>
            <a:ext cx="1780000" cy="52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txBody>
          <a:bodyPr spcFirstLastPara="1" wrap="square" lIns="45700" tIns="10000" rIns="45700" bIns="1000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1300" b="1" i="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Abort</a:t>
            </a:r>
          </a:p>
        </p:txBody>
      </p:sp>
      <p:pic>
        <p:nvPicPr>
          <p:cNvPr id="122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 txBox="1"/>
          <p:nvPr/>
        </p:nvSpPr>
        <p:spPr>
          <a:xfrm>
            <a:off x="3048000" y="2854000"/>
            <a:ext cx="6096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3200" b="1" i="0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 Flow &amp; Logical Paths</a:t>
            </a:r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931318"/>
            <a:ext cx="5357812" cy="171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62687" y="2931318"/>
            <a:ext cx="5357812" cy="171926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7"/>
          <p:cNvSpPr txBox="1"/>
          <p:nvPr/>
        </p:nvSpPr>
        <p:spPr>
          <a:xfrm>
            <a:off x="809625" y="3169443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1. Sequential Linear Default</a:t>
            </a:r>
          </a:p>
        </p:txBody>
      </p:sp>
      <p:sp>
        <p:nvSpPr>
          <p:cNvPr id="334" name="Google Shape;334;p27"/>
          <p:cNvSpPr txBox="1"/>
          <p:nvPr/>
        </p:nvSpPr>
        <p:spPr>
          <a:xfrm>
            <a:off x="809625" y="3626643"/>
            <a:ext cx="4881562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By default, robots read and execute activities from top to bottom. However, real business cases are filled with changing data that require conditional decision-making.</a:t>
            </a:r>
          </a:p>
        </p:txBody>
      </p:sp>
      <p:sp>
        <p:nvSpPr>
          <p:cNvPr id="335" name="Google Shape;335;p27"/>
          <p:cNvSpPr txBox="1"/>
          <p:nvPr/>
        </p:nvSpPr>
        <p:spPr>
          <a:xfrm>
            <a:off x="6500812" y="3169443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2. Logical Branching Decisions</a:t>
            </a:r>
          </a:p>
        </p:txBody>
      </p:sp>
      <p:sp>
        <p:nvSpPr>
          <p:cNvPr id="336" name="Google Shape;336;p27"/>
          <p:cNvSpPr txBox="1"/>
          <p:nvPr/>
        </p:nvSpPr>
        <p:spPr>
          <a:xfrm>
            <a:off x="6500812" y="3626643"/>
            <a:ext cx="4881562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Logical branches let robots evaluate runtime situations on the fly. Flows can split, loop, pause, or exit based on specific conditions.</a:t>
            </a:r>
          </a:p>
        </p:txBody>
      </p:sp>
      <p:sp>
        <p:nvSpPr>
          <p:cNvPr id="337" name="Google Shape;337;p27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Automating Business Rules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/>
          <p:nvPr/>
        </p:nvSpPr>
        <p:spPr>
          <a:xfrm>
            <a:off x="904875" y="3262312"/>
            <a:ext cx="10144125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Binary Logic Checks: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Evaluates a single statement to return a True or False result (e.g., `int_LoopIndexCounter &lt; 10`).</a:t>
            </a:r>
          </a:p>
        </p:txBody>
      </p:sp>
      <p:sp>
        <p:nvSpPr>
          <p:cNvPr id="344" name="Google Shape;344;p28"/>
          <p:cNvSpPr txBox="1"/>
          <p:nvPr/>
        </p:nvSpPr>
        <p:spPr>
          <a:xfrm>
            <a:off x="904875" y="3822312"/>
            <a:ext cx="10144125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Then vs. Else Blocks: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If the condition is True, the robot runs activities in the Then block. If False, it runs activities in the Else block.</a:t>
            </a:r>
          </a:p>
        </p:txBody>
      </p:sp>
      <p:sp>
        <p:nvSpPr>
          <p:cNvPr id="345" name="Google Shape;345;p28"/>
          <p:cNvSpPr txBox="1"/>
          <p:nvPr/>
        </p:nvSpPr>
        <p:spPr>
          <a:xfrm>
            <a:off x="904875" y="4382312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Safe Guardrails: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Use conditional checks to verify that file paths exist or that folders contain files before trying to read them. This prevents sudden crashes.</a:t>
            </a:r>
          </a:p>
        </p:txBody>
      </p:sp>
      <p:pic>
        <p:nvPicPr>
          <p:cNvPr id="346" name="Google Shape;346;p2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2861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8461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40612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Conditional Flow: If/Else Statements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931318"/>
            <a:ext cx="5357812" cy="171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62687" y="2931318"/>
            <a:ext cx="5357812" cy="171926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9"/>
          <p:cNvSpPr txBox="1"/>
          <p:nvPr/>
        </p:nvSpPr>
        <p:spPr>
          <a:xfrm>
            <a:off x="809625" y="3169443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1. The Switch Activity</a:t>
            </a:r>
          </a:p>
        </p:txBody>
      </p:sp>
      <p:sp>
        <p:nvSpPr>
          <p:cNvPr id="358" name="Google Shape;358;p29"/>
          <p:cNvSpPr txBox="1"/>
          <p:nvPr/>
        </p:nvSpPr>
        <p:spPr>
          <a:xfrm>
            <a:off x="809625" y="3626643"/>
            <a:ext cx="488156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 you have three or more logic paths, nesting multiple If conditions can make your code hard to read. A Switch activity routes execution dynamically based on an integer, string, or boolean index value.</a:t>
            </a:r>
          </a:p>
        </p:txBody>
      </p:sp>
      <p:sp>
        <p:nvSpPr>
          <p:cNvPr id="359" name="Google Shape;359;p29"/>
          <p:cNvSpPr txBox="1"/>
          <p:nvPr/>
        </p:nvSpPr>
        <p:spPr>
          <a:xfrm>
            <a:off x="6500812" y="3169443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2. Flowcharts for Complex Branching</a:t>
            </a:r>
          </a:p>
        </p:txBody>
      </p:sp>
      <p:sp>
        <p:nvSpPr>
          <p:cNvPr id="360" name="Google Shape;360;p29"/>
          <p:cNvSpPr txBox="1"/>
          <p:nvPr/>
        </p:nvSpPr>
        <p:spPr>
          <a:xfrm>
            <a:off x="6500812" y="3626643"/>
            <a:ext cx="488156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For complex business rules with lots of feedback loops and multi-step decisions, a Flowchart layout is much easier to read and maintain than nested sequences.</a:t>
            </a:r>
          </a:p>
        </p:txBody>
      </p:sp>
      <p:sp>
        <p:nvSpPr>
          <p:cNvPr id="361" name="Google Shape;361;p29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Multi-Branch Decisions &amp; Switches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33875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0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0"/>
          <p:cNvSpPr txBox="1"/>
          <p:nvPr/>
        </p:nvSpPr>
        <p:spPr>
          <a:xfrm>
            <a:off x="771525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For Each Loop</a:t>
            </a:r>
          </a:p>
        </p:txBody>
      </p:sp>
      <p:sp>
        <p:nvSpPr>
          <p:cNvPr id="371" name="Google Shape;371;p30"/>
          <p:cNvSpPr txBox="1"/>
          <p:nvPr/>
        </p:nvSpPr>
        <p:spPr>
          <a:xfrm>
            <a:off x="771525" y="3917156"/>
            <a:ext cx="31242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Loops through and runs activities for every single item in a collection (e.g., processing every file path retrieved in an array of strings).</a:t>
            </a:r>
          </a:p>
        </p:txBody>
      </p:sp>
      <p:sp>
        <p:nvSpPr>
          <p:cNvPr id="372" name="Google Shape;372;p30"/>
          <p:cNvSpPr txBox="1"/>
          <p:nvPr/>
        </p:nvSpPr>
        <p:spPr>
          <a:xfrm>
            <a:off x="4533900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While Loop</a:t>
            </a:r>
          </a:p>
        </p:txBody>
      </p:sp>
      <p:sp>
        <p:nvSpPr>
          <p:cNvPr id="373" name="Google Shape;373;p30"/>
          <p:cNvSpPr txBox="1"/>
          <p:nvPr/>
        </p:nvSpPr>
        <p:spPr>
          <a:xfrm>
            <a:off x="4533900" y="3917156"/>
            <a:ext cx="3124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Evaluates a condition *before* running. Keeps repeating the inner activities as long as that condition remains True.</a:t>
            </a:r>
          </a:p>
        </p:txBody>
      </p:sp>
      <p:sp>
        <p:nvSpPr>
          <p:cNvPr id="374" name="Google Shape;374;p30"/>
          <p:cNvSpPr txBox="1"/>
          <p:nvPr/>
        </p:nvSpPr>
        <p:spPr>
          <a:xfrm>
            <a:off x="8296275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Do While Loop</a:t>
            </a:r>
          </a:p>
        </p:txBody>
      </p:sp>
      <p:sp>
        <p:nvSpPr>
          <p:cNvPr id="375" name="Google Shape;375;p30"/>
          <p:cNvSpPr txBox="1"/>
          <p:nvPr/>
        </p:nvSpPr>
        <p:spPr>
          <a:xfrm>
            <a:off x="8296275" y="3917156"/>
            <a:ext cx="3124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Runs the inner activities *at least once*, and then evaluates the loop condition at the end of each iteration.</a:t>
            </a:r>
          </a:p>
        </p:txBody>
      </p:sp>
      <p:pic>
        <p:nvPicPr>
          <p:cNvPr id="376" name="Google Shape;376;p30" descr="image.png"/>
          <p:cNvPicPr preferRelativeResize="0"/>
          <p:nvPr/>
        </p:nvPicPr>
        <p:blipFill rotWithShape="1">
          <a:blip r:embed="rId6"/>
          <a:stretch>
            <a:fillRect/>
          </a:stretch>
        </p:blipFill>
        <p:spPr>
          <a:xfrm>
            <a:off x="776143" y="2917031"/>
            <a:ext cx="29556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533900" y="291703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296275" y="291703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Looping &amp; Iterative Execution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33875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0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1"/>
          <p:cNvSpPr txBox="1"/>
          <p:nvPr/>
        </p:nvSpPr>
        <p:spPr>
          <a:xfrm>
            <a:off x="771525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Assign Activity</a:t>
            </a:r>
          </a:p>
        </p:txBody>
      </p:sp>
      <p:sp>
        <p:nvSpPr>
          <p:cNvPr id="389" name="Google Shape;389;p31"/>
          <p:cNvSpPr txBox="1"/>
          <p:nvPr/>
        </p:nvSpPr>
        <p:spPr>
          <a:xfrm>
            <a:off x="771525" y="3917156"/>
            <a:ext cx="3124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Calculates and assigns values to variables in memory (e.g., setting `int_ValidFileCount = int_ValidFileCount + 1`).</a:t>
            </a:r>
          </a:p>
        </p:txBody>
      </p:sp>
      <p:sp>
        <p:nvSpPr>
          <p:cNvPr id="390" name="Google Shape;390;p31"/>
          <p:cNvSpPr txBox="1"/>
          <p:nvPr/>
        </p:nvSpPr>
        <p:spPr>
          <a:xfrm>
            <a:off x="4533900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Log Message Activity</a:t>
            </a:r>
          </a:p>
        </p:txBody>
      </p:sp>
      <p:sp>
        <p:nvSpPr>
          <p:cNvPr id="391" name="Google Shape;391;p31"/>
          <p:cNvSpPr txBox="1"/>
          <p:nvPr/>
        </p:nvSpPr>
        <p:spPr>
          <a:xfrm>
            <a:off x="4533900" y="3917156"/>
            <a:ext cx="3124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Writes process updates to the console. This is the developer's window into what the robot is doing in real-time.</a:t>
            </a:r>
          </a:p>
        </p:txBody>
      </p:sp>
      <p:sp>
        <p:nvSpPr>
          <p:cNvPr id="392" name="Google Shape;392;p31"/>
          <p:cNvSpPr txBox="1"/>
          <p:nvPr/>
        </p:nvSpPr>
        <p:spPr>
          <a:xfrm>
            <a:off x="8296275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Severity Classifiers</a:t>
            </a:r>
          </a:p>
        </p:txBody>
      </p:sp>
      <p:sp>
        <p:nvSpPr>
          <p:cNvPr id="393" name="Google Shape;393;p31"/>
          <p:cNvSpPr txBox="1"/>
          <p:nvPr/>
        </p:nvSpPr>
        <p:spPr>
          <a:xfrm>
            <a:off x="8296275" y="3917156"/>
            <a:ext cx="3124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Organizes logs: </a:t>
            </a:r>
            <a:r>
              <a:rPr lang="en-US" sz="125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Info</a:t>
            </a: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trace tracking, </a:t>
            </a:r>
            <a:r>
              <a:rPr lang="en-US" sz="125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Warn</a:t>
            </a: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handled problems, and </a:t>
            </a:r>
            <a:r>
              <a:rPr lang="en-US" sz="125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Error</a:t>
            </a: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program failures.</a:t>
            </a:r>
          </a:p>
        </p:txBody>
      </p:sp>
      <p:pic>
        <p:nvPicPr>
          <p:cNvPr id="394" name="Google Shape;394;p31" descr="image.png"/>
          <p:cNvPicPr preferRelativeResize="0"/>
          <p:nvPr/>
        </p:nvPicPr>
        <p:blipFill rotWithShape="1">
          <a:blip r:embed="rId6"/>
          <a:stretch>
            <a:fillRect/>
          </a:stretch>
        </p:blipFill>
        <p:spPr>
          <a:xfrm>
            <a:off x="777298" y="2917031"/>
            <a:ext cx="369454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7"/>
          <a:stretch>
            <a:fillRect/>
          </a:stretch>
        </p:blipFill>
        <p:spPr>
          <a:xfrm>
            <a:off x="4533900" y="2918555"/>
            <a:ext cx="228600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1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296275" y="291703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1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Core Dynamic Control Activities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 txBox="1"/>
          <p:nvPr/>
        </p:nvSpPr>
        <p:spPr>
          <a:xfrm>
            <a:off x="3048000" y="2854000"/>
            <a:ext cx="6096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3200" b="1" i="0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File &amp; Folder Automation Systems</a:t>
            </a:r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931318"/>
            <a:ext cx="5357812" cy="171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62687" y="2931318"/>
            <a:ext cx="5357812" cy="171926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5"/>
          <p:cNvSpPr txBox="1"/>
          <p:nvPr/>
        </p:nvSpPr>
        <p:spPr>
          <a:xfrm>
            <a:off x="809625" y="3169443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1. Dynamic Folder Creation</a:t>
            </a:r>
          </a:p>
        </p:txBody>
      </p:sp>
      <p:sp>
        <p:nvSpPr>
          <p:cNvPr id="465" name="Google Shape;465;p35"/>
          <p:cNvSpPr txBox="1"/>
          <p:nvPr/>
        </p:nvSpPr>
        <p:spPr>
          <a:xfrm>
            <a:off x="809625" y="3626643"/>
            <a:ext cx="4881562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If your robot assumes a folder exists and tries to write to it, the workflow will crash if that folder is missing. Always check and create directories dynamically during execution.</a:t>
            </a:r>
          </a:p>
        </p:txBody>
      </p:sp>
      <p:sp>
        <p:nvSpPr>
          <p:cNvPr id="466" name="Google Shape;466;p35"/>
          <p:cNvSpPr txBox="1"/>
          <p:nvPr/>
        </p:nvSpPr>
        <p:spPr>
          <a:xfrm>
            <a:off x="6500812" y="3169443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2. Structured Automation Cleanups</a:t>
            </a:r>
          </a:p>
        </p:txBody>
      </p:sp>
      <p:sp>
        <p:nvSpPr>
          <p:cNvPr id="467" name="Google Shape;467;p35"/>
          <p:cNvSpPr txBox="1"/>
          <p:nvPr/>
        </p:nvSpPr>
        <p:spPr>
          <a:xfrm>
            <a:off x="6500812" y="3626643"/>
            <a:ext cx="4881562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well-designed robot should always clean up after itself. Move processed files to archive folders and delete temporary work files when finished.</a:t>
            </a:r>
          </a:p>
        </p:txBody>
      </p:sp>
      <p:sp>
        <p:nvSpPr>
          <p:cNvPr id="468" name="Google Shape;468;p35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Understanding Host Storage Files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664618"/>
            <a:ext cx="3524250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33875" y="2664618"/>
            <a:ext cx="3524250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0" y="2664618"/>
            <a:ext cx="3524250" cy="22526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6"/>
          <p:cNvSpPr txBox="1"/>
          <p:nvPr/>
        </p:nvSpPr>
        <p:spPr>
          <a:xfrm>
            <a:off x="771525" y="3350418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Directory.GetFiles()</a:t>
            </a:r>
          </a:p>
        </p:txBody>
      </p:sp>
      <p:sp>
        <p:nvSpPr>
          <p:cNvPr id="478" name="Google Shape;478;p36"/>
          <p:cNvSpPr txBox="1"/>
          <p:nvPr/>
        </p:nvSpPr>
        <p:spPr>
          <a:xfrm>
            <a:off x="771525" y="3902868"/>
            <a:ext cx="3124200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Scans a folder and returns all containing file paths as an Array of Strings. You can also filter by file type (e.g., "*.pdf").</a:t>
            </a:r>
          </a:p>
        </p:txBody>
      </p:sp>
      <p:sp>
        <p:nvSpPr>
          <p:cNvPr id="479" name="Google Shape;479;p36"/>
          <p:cNvSpPr txBox="1"/>
          <p:nvPr/>
        </p:nvSpPr>
        <p:spPr>
          <a:xfrm>
            <a:off x="4533900" y="3350418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Path.GetFileName()</a:t>
            </a:r>
          </a:p>
        </p:txBody>
      </p:sp>
      <p:sp>
        <p:nvSpPr>
          <p:cNvPr id="480" name="Google Shape;480;p36"/>
          <p:cNvSpPr txBox="1"/>
          <p:nvPr/>
        </p:nvSpPr>
        <p:spPr>
          <a:xfrm>
            <a:off x="4533900" y="3902868"/>
            <a:ext cx="3124200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Extracts just the file name and extension (e.g., "Internal_Inv_101.pdf") from a full folder path string.</a:t>
            </a:r>
          </a:p>
        </p:txBody>
      </p:sp>
      <p:sp>
        <p:nvSpPr>
          <p:cNvPr id="481" name="Google Shape;481;p36"/>
          <p:cNvSpPr txBox="1"/>
          <p:nvPr/>
        </p:nvSpPr>
        <p:spPr>
          <a:xfrm>
            <a:off x="8296275" y="3350418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Path.GetExtension()</a:t>
            </a:r>
          </a:p>
        </p:txBody>
      </p:sp>
      <p:sp>
        <p:nvSpPr>
          <p:cNvPr id="482" name="Google Shape;482;p36"/>
          <p:cNvSpPr txBox="1"/>
          <p:nvPr/>
        </p:nvSpPr>
        <p:spPr>
          <a:xfrm>
            <a:off x="8296275" y="3902868"/>
            <a:ext cx="3124200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Extracts only the file extension (e.g., ".pdf" or ".txt") to help identify file types before processing.</a:t>
            </a:r>
          </a:p>
        </p:txBody>
      </p:sp>
      <p:pic>
        <p:nvPicPr>
          <p:cNvPr id="483" name="Google Shape;483;p36" descr="image.png"/>
          <p:cNvPicPr preferRelativeResize="0"/>
          <p:nvPr/>
        </p:nvPicPr>
        <p:blipFill rotWithShape="1">
          <a:blip r:embed="rId6"/>
          <a:stretch>
            <a:fillRect/>
          </a:stretch>
        </p:blipFill>
        <p:spPr>
          <a:xfrm>
            <a:off x="776143" y="2902743"/>
            <a:ext cx="29556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533900" y="290274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6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296275" y="290274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6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System.IO Namespace Methods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3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809875"/>
            <a:ext cx="5357812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62687" y="2809875"/>
            <a:ext cx="5357812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7"/>
          <p:cNvSpPr txBox="1"/>
          <p:nvPr/>
        </p:nvSpPr>
        <p:spPr>
          <a:xfrm>
            <a:off x="809625" y="3048000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Hardcoding Vulnerability</a:t>
            </a:r>
          </a:p>
        </p:txBody>
      </p:sp>
      <p:sp>
        <p:nvSpPr>
          <p:cNvPr id="495" name="Google Shape;495;p37"/>
          <p:cNvSpPr txBox="1"/>
          <p:nvPr/>
        </p:nvSpPr>
        <p:spPr>
          <a:xfrm>
            <a:off x="809625" y="3505200"/>
            <a:ext cx="4881562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Building file paths using string concatenation (e.g., "C:\Docs\" + str_FileName + ".pdf") is risky. Slashes and paths can change across local, cloud, or virtual environments, leading to runtime errors.</a:t>
            </a:r>
          </a:p>
        </p:txBody>
      </p:sp>
      <p:sp>
        <p:nvSpPr>
          <p:cNvPr id="496" name="Google Shape;496;p37"/>
          <p:cNvSpPr txBox="1"/>
          <p:nvPr/>
        </p:nvSpPr>
        <p:spPr>
          <a:xfrm>
            <a:off x="6500812" y="3048000"/>
            <a:ext cx="512564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Path.Combine Solution</a:t>
            </a:r>
          </a:p>
        </p:txBody>
      </p:sp>
      <p:sp>
        <p:nvSpPr>
          <p:cNvPr id="497" name="Google Shape;497;p37"/>
          <p:cNvSpPr txBox="1"/>
          <p:nvPr/>
        </p:nvSpPr>
        <p:spPr>
          <a:xfrm>
            <a:off x="6500812" y="3505200"/>
            <a:ext cx="4881562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 the standard method System.IO.Path.Combine(parentFolder, childFolder, fileName). It automatically inserts the correct folder slashes based on the operating system, ensuring your robot runs safely anywhere.</a:t>
            </a:r>
          </a:p>
        </p:txBody>
      </p:sp>
      <p:sp>
        <p:nvSpPr>
          <p:cNvPr id="498" name="Google Shape;498;p37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Dynamic Path Concatenation vs Combine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8"/>
          <p:cNvSpPr txBox="1"/>
          <p:nvPr/>
        </p:nvSpPr>
        <p:spPr>
          <a:xfrm>
            <a:off x="904875" y="3162300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File Exists Checks: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Always verify that a file exists before trying to read, move, or rename it. This keeps your process running smoothly without unexpected breaks.</a:t>
            </a:r>
          </a:p>
        </p:txBody>
      </p:sp>
      <p:sp>
        <p:nvSpPr>
          <p:cNvPr id="505" name="Google Shape;505;p38"/>
          <p:cNvSpPr txBox="1"/>
          <p:nvPr/>
        </p:nvSpPr>
        <p:spPr>
          <a:xfrm>
            <a:off x="904875" y="3722300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Folder Presence Verification: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Use folder check activities to verify directories exist before trying to write files. If a folder is missing, have your robot create it on the fly.</a:t>
            </a:r>
          </a:p>
        </p:txBody>
      </p:sp>
      <p:sp>
        <p:nvSpPr>
          <p:cNvPr id="506" name="Google Shape;506;p38"/>
          <p:cNvSpPr txBox="1"/>
          <p:nvPr/>
        </p:nvSpPr>
        <p:spPr>
          <a:xfrm>
            <a:off x="904875" y="4282300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Verify File Status: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Check if a file is currently locked or open in another application (like Excel) before trying to write to it. This prevents system lock exceptions.</a:t>
            </a:r>
          </a:p>
        </p:txBody>
      </p:sp>
      <p:pic>
        <p:nvPicPr>
          <p:cNvPr id="507" name="Google Shape;507;p3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18611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7461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30611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8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Operational Integrity: File Verifications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3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62687" y="2266950"/>
            <a:ext cx="5357812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9"/>
          <p:cNvSpPr txBox="1"/>
          <p:nvPr/>
        </p:nvSpPr>
        <p:spPr>
          <a:xfrm>
            <a:off x="571500" y="2409825"/>
            <a:ext cx="5357812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 these core design patterns for reliable file and folder automation:</a:t>
            </a:r>
          </a:p>
        </p:txBody>
      </p:sp>
      <p:sp>
        <p:nvSpPr>
          <p:cNvPr id="518" name="Google Shape;518;p39"/>
          <p:cNvSpPr txBox="1"/>
          <p:nvPr/>
        </p:nvSpPr>
        <p:spPr>
          <a:xfrm>
            <a:off x="762000" y="2767012"/>
            <a:ext cx="5167312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Never hardcode folder paths directly in individual activities. Always use variables or configuration files.</a:t>
            </a:r>
          </a:p>
        </p:txBody>
      </p:sp>
      <p:sp>
        <p:nvSpPr>
          <p:cNvPr id="519" name="Google Shape;519;p39"/>
          <p:cNvSpPr txBox="1"/>
          <p:nvPr/>
        </p:nvSpPr>
        <p:spPr>
          <a:xfrm>
            <a:off x="762000" y="3290887"/>
            <a:ext cx="5167312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Always use automatic retries when copying files over local network connections to handle minor network hiccups.</a:t>
            </a:r>
          </a:p>
        </p:txBody>
      </p:sp>
      <p:sp>
        <p:nvSpPr>
          <p:cNvPr id="520" name="Google Shape;520;p39"/>
          <p:cNvSpPr txBox="1"/>
          <p:nvPr/>
        </p:nvSpPr>
        <p:spPr>
          <a:xfrm>
            <a:off x="762000" y="3814762"/>
            <a:ext cx="5167312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Log clear warnings if files are skipped due to validation issues. This makes auditing your automation much easier.</a:t>
            </a:r>
          </a:p>
        </p:txBody>
      </p:sp>
      <p:pic>
        <p:nvPicPr>
          <p:cNvPr id="521" name="Google Shape;521;p3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62687" y="2266950"/>
            <a:ext cx="5357812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9"/>
          <p:cNvSpPr txBox="1"/>
          <p:nvPr/>
        </p:nvSpPr>
        <p:spPr>
          <a:xfrm>
            <a:off x="571500" y="2767012"/>
            <a:ext cx="142875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→</a:t>
            </a:r>
          </a:p>
        </p:txBody>
      </p:sp>
      <p:sp>
        <p:nvSpPr>
          <p:cNvPr id="523" name="Google Shape;523;p39"/>
          <p:cNvSpPr txBox="1"/>
          <p:nvPr/>
        </p:nvSpPr>
        <p:spPr>
          <a:xfrm>
            <a:off x="571500" y="3290887"/>
            <a:ext cx="142875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→</a:t>
            </a:r>
          </a:p>
        </p:txBody>
      </p:sp>
      <p:sp>
        <p:nvSpPr>
          <p:cNvPr id="524" name="Google Shape;524;p39"/>
          <p:cNvSpPr txBox="1"/>
          <p:nvPr/>
        </p:nvSpPr>
        <p:spPr>
          <a:xfrm>
            <a:off x="571500" y="3814762"/>
            <a:ext cx="142875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→</a:t>
            </a:r>
          </a:p>
        </p:txBody>
      </p:sp>
      <p:sp>
        <p:nvSpPr>
          <p:cNvPr id="525" name="Google Shape;525;p39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Secure File Management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 txBox="1"/>
          <p:nvPr/>
        </p:nvSpPr>
        <p:spPr>
          <a:xfrm>
            <a:off x="3048000" y="2854000"/>
            <a:ext cx="6096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3200" b="1" i="0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Debugging &amp; Quality Diagnostics</a:t>
            </a:r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/>
        </p:nvSpPr>
        <p:spPr>
          <a:xfrm>
            <a:off x="2057400" y="3231951"/>
            <a:ext cx="80772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rPr>
              <a:t>If debugging is the process of removing software bugs, then programming must be the process of putting them in.</a:t>
            </a:r>
          </a:p>
        </p:txBody>
      </p:sp>
      <p:sp>
        <p:nvSpPr>
          <p:cNvPr id="583" name="Google Shape;583;p43"/>
          <p:cNvSpPr txBox="1"/>
          <p:nvPr/>
        </p:nvSpPr>
        <p:spPr>
          <a:xfrm>
            <a:off x="5419725" y="4168973"/>
            <a:ext cx="13525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— Edsger W. Dijkstra</a:t>
            </a:r>
          </a:p>
        </p:txBody>
      </p:sp>
      <p:sp>
        <p:nvSpPr>
          <p:cNvPr id="584" name="Google Shape;584;p43"/>
          <p:cNvSpPr txBox="1"/>
          <p:nvPr/>
        </p:nvSpPr>
        <p:spPr>
          <a:xfrm>
            <a:off x="1581150" y="3422451"/>
            <a:ext cx="219075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C7D2FE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rPr>
              <a:t>"</a:t>
            </a:r>
          </a:p>
        </p:txBody>
      </p:sp>
      <p:sp>
        <p:nvSpPr>
          <p:cNvPr id="585" name="Google Shape;585;p43"/>
          <p:cNvSpPr txBox="1"/>
          <p:nvPr/>
        </p:nvSpPr>
        <p:spPr>
          <a:xfrm>
            <a:off x="10391775" y="3978473"/>
            <a:ext cx="219075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C7D2FE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rPr>
              <a:t>"</a:t>
            </a:r>
          </a:p>
        </p:txBody>
      </p:sp>
      <p:sp>
        <p:nvSpPr>
          <p:cNvPr id="586" name="Google Shape;586;p43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Diagnostic Philosophy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4"/>
          <p:cNvSpPr txBox="1"/>
          <p:nvPr/>
        </p:nvSpPr>
        <p:spPr>
          <a:xfrm>
            <a:off x="904875" y="3055143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Interactive Pauses: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Set breakpoints on specific activities to pause the robot's execution. This lets you inspect active variables and system memory at key moments.</a:t>
            </a:r>
          </a:p>
        </p:txBody>
      </p:sp>
      <p:sp>
        <p:nvSpPr>
          <p:cNvPr id="593" name="Google Shape;593;p44"/>
          <p:cNvSpPr txBox="1"/>
          <p:nvPr/>
        </p:nvSpPr>
        <p:spPr>
          <a:xfrm>
            <a:off x="904875" y="3735143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Variable Hover Tools: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Hover your cursor over variables while paused to check their current values instantly, without opening extra panels.</a:t>
            </a:r>
          </a:p>
        </p:txBody>
      </p:sp>
      <p:sp>
        <p:nvSpPr>
          <p:cNvPr id="594" name="Google Shape;594;p44"/>
          <p:cNvSpPr txBox="1"/>
          <p:nvPr/>
        </p:nvSpPr>
        <p:spPr>
          <a:xfrm>
            <a:off x="904875" y="4415143"/>
            <a:ext cx="10144125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Conditional Breakpoints: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Set conditions on breakpoints so they only trigger when specific conditions are met (e.g., pausing only when your loop count hits `int_Index = 5`).</a:t>
            </a:r>
          </a:p>
        </p:txBody>
      </p:sp>
      <p:pic>
        <p:nvPicPr>
          <p:cNvPr id="595" name="Google Shape;595;p4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07895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75895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438956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4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Using Breakpoints &amp; Control Stops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33875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0" y="2678906"/>
            <a:ext cx="3524250" cy="2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 txBox="1"/>
          <p:nvPr/>
        </p:nvSpPr>
        <p:spPr>
          <a:xfrm>
            <a:off x="771525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Step Into</a:t>
            </a:r>
          </a:p>
        </p:txBody>
      </p:sp>
      <p:sp>
        <p:nvSpPr>
          <p:cNvPr id="608" name="Google Shape;608;p45"/>
          <p:cNvSpPr txBox="1"/>
          <p:nvPr/>
        </p:nvSpPr>
        <p:spPr>
          <a:xfrm>
            <a:off x="771525" y="3917156"/>
            <a:ext cx="3124200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Runs the very next activity, drilling down directly into inner sequences, loops, or nested workflows.</a:t>
            </a:r>
          </a:p>
        </p:txBody>
      </p:sp>
      <p:sp>
        <p:nvSpPr>
          <p:cNvPr id="609" name="Google Shape;609;p45"/>
          <p:cNvSpPr txBox="1"/>
          <p:nvPr/>
        </p:nvSpPr>
        <p:spPr>
          <a:xfrm>
            <a:off x="4533900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Step Over</a:t>
            </a:r>
          </a:p>
        </p:txBody>
      </p:sp>
      <p:sp>
        <p:nvSpPr>
          <p:cNvPr id="610" name="Google Shape;610;p45"/>
          <p:cNvSpPr txBox="1"/>
          <p:nvPr/>
        </p:nvSpPr>
        <p:spPr>
          <a:xfrm>
            <a:off x="4533900" y="3917156"/>
            <a:ext cx="3124200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Runs the current container as a single step, letting you bypass detailed observations of familiar sequences.</a:t>
            </a:r>
          </a:p>
        </p:txBody>
      </p:sp>
      <p:sp>
        <p:nvSpPr>
          <p:cNvPr id="611" name="Google Shape;611;p45"/>
          <p:cNvSpPr txBox="1"/>
          <p:nvPr/>
        </p:nvSpPr>
        <p:spPr>
          <a:xfrm>
            <a:off x="8296275" y="3364706"/>
            <a:ext cx="32804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Step Out</a:t>
            </a:r>
          </a:p>
        </p:txBody>
      </p:sp>
      <p:sp>
        <p:nvSpPr>
          <p:cNvPr id="612" name="Google Shape;612;p45"/>
          <p:cNvSpPr txBox="1"/>
          <p:nvPr/>
        </p:nvSpPr>
        <p:spPr>
          <a:xfrm>
            <a:off x="8296275" y="3917156"/>
            <a:ext cx="3124200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Finishes running all activities in the current sub-sequence and returns you instantly to the parent sequence level.</a:t>
            </a:r>
          </a:p>
        </p:txBody>
      </p:sp>
      <p:pic>
        <p:nvPicPr>
          <p:cNvPr id="613" name="Google Shape;613;p45" descr="image.png"/>
          <p:cNvPicPr preferRelativeResize="0"/>
          <p:nvPr/>
        </p:nvPicPr>
        <p:blipFill rotWithShape="1">
          <a:blip r:embed="rId6"/>
          <a:stretch>
            <a:fillRect/>
          </a:stretch>
        </p:blipFill>
        <p:spPr>
          <a:xfrm>
            <a:off x="774989" y="2917031"/>
            <a:ext cx="221672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533900" y="291703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5" descr="image.png"/>
          <p:cNvPicPr preferRelativeResize="0"/>
          <p:nvPr/>
        </p:nvPicPr>
        <p:blipFill rotWithShape="1">
          <a:blip r:embed="rId8"/>
          <a:stretch>
            <a:fillRect/>
          </a:stretch>
        </p:blipFill>
        <p:spPr>
          <a:xfrm>
            <a:off x="8296275" y="2918555"/>
            <a:ext cx="228600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Step-By-Step Execution Options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Google Shape;622;p46"/>
          <p:cNvGraphicFramePr/>
          <p:nvPr/>
        </p:nvGraphicFramePr>
        <p:xfrm>
          <a:off x="571500" y="2657475"/>
          <a:ext cx="11049025" cy="2267000"/>
        </p:xfrm>
        <a:graphic>
          <a:graphicData uri="http://schemas.openxmlformats.org/drawingml/2006/table">
            <a:tbl>
              <a:tblPr firstRow="1" bandRow="1">
                <a:noFill/>
                <a:tableStyleId>{7552F254-C8C9-4A3A-BF54-483A6EC616C2}</a:tableStyleId>
              </a:tblPr>
              <a:tblGrid>
                <a:gridCol w="187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Diagnostic Interface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Core Function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293B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Best Use-Case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Locals Panel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Displays all variables and their values in the current scope.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Track how loop indexes and file paths change during runs.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Immediate Window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Lets you write, test, and run code lines on the fly while paused.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Test path formulas and variables formulas instantly.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Watch Panel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Tracks a customized list of variables in one place.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Monitor key totals, statuses, and file counts across long runs.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Call Stack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Maps the execution path through nested parent folders.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475569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Find exactly which sub-sequence triggered a crash.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3" name="Google Shape;623;p46"/>
          <p:cNvSpPr/>
          <p:nvPr/>
        </p:nvSpPr>
        <p:spPr>
          <a:xfrm>
            <a:off x="571500" y="3109912"/>
            <a:ext cx="1871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4" name="Google Shape;624;p46"/>
          <p:cNvSpPr/>
          <p:nvPr/>
        </p:nvSpPr>
        <p:spPr>
          <a:xfrm>
            <a:off x="2442864" y="3109912"/>
            <a:ext cx="46203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5" name="Google Shape;625;p46"/>
          <p:cNvSpPr/>
          <p:nvPr/>
        </p:nvSpPr>
        <p:spPr>
          <a:xfrm>
            <a:off x="7063233" y="3109912"/>
            <a:ext cx="4557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6" name="Google Shape;626;p46"/>
          <p:cNvSpPr/>
          <p:nvPr/>
        </p:nvSpPr>
        <p:spPr>
          <a:xfrm>
            <a:off x="571500" y="3562350"/>
            <a:ext cx="1871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7" name="Google Shape;627;p46"/>
          <p:cNvSpPr/>
          <p:nvPr/>
        </p:nvSpPr>
        <p:spPr>
          <a:xfrm>
            <a:off x="2442864" y="3562350"/>
            <a:ext cx="46203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8" name="Google Shape;628;p46"/>
          <p:cNvSpPr/>
          <p:nvPr/>
        </p:nvSpPr>
        <p:spPr>
          <a:xfrm>
            <a:off x="7063233" y="3562350"/>
            <a:ext cx="4557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9" name="Google Shape;629;p46"/>
          <p:cNvSpPr/>
          <p:nvPr/>
        </p:nvSpPr>
        <p:spPr>
          <a:xfrm>
            <a:off x="571500" y="4014787"/>
            <a:ext cx="1871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0" name="Google Shape;630;p46"/>
          <p:cNvSpPr/>
          <p:nvPr/>
        </p:nvSpPr>
        <p:spPr>
          <a:xfrm>
            <a:off x="2442864" y="4014787"/>
            <a:ext cx="46203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1" name="Google Shape;631;p46"/>
          <p:cNvSpPr/>
          <p:nvPr/>
        </p:nvSpPr>
        <p:spPr>
          <a:xfrm>
            <a:off x="7063233" y="4014787"/>
            <a:ext cx="4557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2" name="Google Shape;632;p46"/>
          <p:cNvSpPr/>
          <p:nvPr/>
        </p:nvSpPr>
        <p:spPr>
          <a:xfrm>
            <a:off x="571500" y="4467225"/>
            <a:ext cx="1871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3" name="Google Shape;633;p46"/>
          <p:cNvSpPr/>
          <p:nvPr/>
        </p:nvSpPr>
        <p:spPr>
          <a:xfrm>
            <a:off x="2442864" y="4467225"/>
            <a:ext cx="46203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4" name="Google Shape;634;p46"/>
          <p:cNvSpPr/>
          <p:nvPr/>
        </p:nvSpPr>
        <p:spPr>
          <a:xfrm>
            <a:off x="7063233" y="4467225"/>
            <a:ext cx="4557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5" name="Google Shape;635;p46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Core Studio Diagnostic Panels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4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678906"/>
            <a:ext cx="3514725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24350" y="2678906"/>
            <a:ext cx="3543300" cy="222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105775" y="2678906"/>
            <a:ext cx="3514725" cy="2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 txBox="1"/>
          <p:nvPr/>
        </p:nvSpPr>
        <p:spPr>
          <a:xfrm>
            <a:off x="771525" y="3364706"/>
            <a:ext cx="327040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NullReferenceException</a:t>
            </a:r>
          </a:p>
        </p:txBody>
      </p:sp>
      <p:sp>
        <p:nvSpPr>
          <p:cNvPr id="645" name="Google Shape;645;p47"/>
          <p:cNvSpPr txBox="1"/>
          <p:nvPr/>
        </p:nvSpPr>
        <p:spPr>
          <a:xfrm>
            <a:off x="771525" y="3917156"/>
            <a:ext cx="3114675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Happens when you try to use a variable that hasn't been instantiated or doesn't have a default value yet.</a:t>
            </a:r>
          </a:p>
        </p:txBody>
      </p:sp>
      <p:sp>
        <p:nvSpPr>
          <p:cNvPr id="646" name="Google Shape;646;p47"/>
          <p:cNvSpPr txBox="1"/>
          <p:nvPr/>
        </p:nvSpPr>
        <p:spPr>
          <a:xfrm>
            <a:off x="4524375" y="3364706"/>
            <a:ext cx="330041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DirectoryNotFoundException</a:t>
            </a:r>
          </a:p>
        </p:txBody>
      </p:sp>
      <p:sp>
        <p:nvSpPr>
          <p:cNvPr id="647" name="Google Shape;647;p47"/>
          <p:cNvSpPr txBox="1"/>
          <p:nvPr/>
        </p:nvSpPr>
        <p:spPr>
          <a:xfrm>
            <a:off x="4524375" y="3917156"/>
            <a:ext cx="3143250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Occurs when the robot tries to write to or read from a folder path that doesn't exist on the machine.</a:t>
            </a:r>
          </a:p>
        </p:txBody>
      </p:sp>
      <p:sp>
        <p:nvSpPr>
          <p:cNvPr id="648" name="Google Shape;648;p47"/>
          <p:cNvSpPr txBox="1"/>
          <p:nvPr/>
        </p:nvSpPr>
        <p:spPr>
          <a:xfrm>
            <a:off x="8305800" y="3364706"/>
            <a:ext cx="327040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IOException (File Locked)</a:t>
            </a:r>
          </a:p>
        </p:txBody>
      </p:sp>
      <p:sp>
        <p:nvSpPr>
          <p:cNvPr id="649" name="Google Shape;649;p47"/>
          <p:cNvSpPr txBox="1"/>
          <p:nvPr/>
        </p:nvSpPr>
        <p:spPr>
          <a:xfrm>
            <a:off x="8305800" y="3917156"/>
            <a:ext cx="3114675" cy="79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Happens when the robot tries to modify, move, or write to a file that is already open in another application.</a:t>
            </a:r>
          </a:p>
        </p:txBody>
      </p:sp>
      <p:pic>
        <p:nvPicPr>
          <p:cNvPr id="650" name="Google Shape;650;p47" descr="image.png"/>
          <p:cNvPicPr preferRelativeResize="0"/>
          <p:nvPr/>
        </p:nvPicPr>
        <p:blipFill rotWithShape="1">
          <a:blip r:embed="rId6"/>
          <a:stretch>
            <a:fillRect/>
          </a:stretch>
        </p:blipFill>
        <p:spPr>
          <a:xfrm>
            <a:off x="776143" y="2917031"/>
            <a:ext cx="29556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47" descr="image.png"/>
          <p:cNvPicPr preferRelativeResize="0"/>
          <p:nvPr/>
        </p:nvPicPr>
        <p:blipFill rotWithShape="1">
          <a:blip r:embed="rId7"/>
          <a:stretch>
            <a:fillRect/>
          </a:stretch>
        </p:blipFill>
        <p:spPr>
          <a:xfrm>
            <a:off x="4528993" y="2917031"/>
            <a:ext cx="29556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7" descr="image.png"/>
          <p:cNvPicPr preferRelativeResize="0"/>
          <p:nvPr/>
        </p:nvPicPr>
        <p:blipFill rotWithShape="1">
          <a:blip r:embed="rId8"/>
          <a:stretch>
            <a:fillRect/>
          </a:stretch>
        </p:blipFill>
        <p:spPr>
          <a:xfrm>
            <a:off x="8310995" y="2917031"/>
            <a:ext cx="332509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7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Common Runtime Exceptions in RPA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4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62687" y="2266950"/>
            <a:ext cx="5357812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48"/>
          <p:cNvSpPr txBox="1"/>
          <p:nvPr/>
        </p:nvSpPr>
        <p:spPr>
          <a:xfrm>
            <a:off x="571500" y="2409825"/>
            <a:ext cx="5357812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 this step-by-step approach when diagnosing robot errors:</a:t>
            </a:r>
          </a:p>
        </p:txBody>
      </p:sp>
      <p:sp>
        <p:nvSpPr>
          <p:cNvPr id="661" name="Google Shape;661;p48"/>
          <p:cNvSpPr txBox="1"/>
          <p:nvPr/>
        </p:nvSpPr>
        <p:spPr>
          <a:xfrm>
            <a:off x="762000" y="2767012"/>
            <a:ext cx="5167312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Open your logs and read the exception error message and stack trace.</a:t>
            </a:r>
          </a:p>
        </p:txBody>
      </p:sp>
      <p:sp>
        <p:nvSpPr>
          <p:cNvPr id="662" name="Google Shape;662;p48"/>
          <p:cNvSpPr txBox="1"/>
          <p:nvPr/>
        </p:nvSpPr>
        <p:spPr>
          <a:xfrm>
            <a:off x="762000" y="3367012"/>
            <a:ext cx="5167312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Add a breakpoint just before the activity that triggered the crash.</a:t>
            </a:r>
          </a:p>
        </p:txBody>
      </p:sp>
      <p:sp>
        <p:nvSpPr>
          <p:cNvPr id="663" name="Google Shape;663;p48"/>
          <p:cNvSpPr txBox="1"/>
          <p:nvPr/>
        </p:nvSpPr>
        <p:spPr>
          <a:xfrm>
            <a:off x="762000" y="3967012"/>
            <a:ext cx="5167312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Run in Debug Mode, inspect your variables in the Locals panel, and use the Immediate Window to test and fix your logic.</a:t>
            </a:r>
          </a:p>
        </p:txBody>
      </p:sp>
      <p:pic>
        <p:nvPicPr>
          <p:cNvPr id="664" name="Google Shape;664;p4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62687" y="2266950"/>
            <a:ext cx="5357812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8"/>
          <p:cNvSpPr txBox="1"/>
          <p:nvPr/>
        </p:nvSpPr>
        <p:spPr>
          <a:xfrm>
            <a:off x="571500" y="2767012"/>
            <a:ext cx="142875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→</a:t>
            </a:r>
          </a:p>
        </p:txBody>
      </p:sp>
      <p:sp>
        <p:nvSpPr>
          <p:cNvPr id="666" name="Google Shape;666;p48"/>
          <p:cNvSpPr txBox="1"/>
          <p:nvPr/>
        </p:nvSpPr>
        <p:spPr>
          <a:xfrm>
            <a:off x="571500" y="3367012"/>
            <a:ext cx="142875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→</a:t>
            </a:r>
          </a:p>
        </p:txBody>
      </p:sp>
      <p:sp>
        <p:nvSpPr>
          <p:cNvPr id="667" name="Google Shape;667;p48"/>
          <p:cNvSpPr txBox="1"/>
          <p:nvPr/>
        </p:nvSpPr>
        <p:spPr>
          <a:xfrm>
            <a:off x="571500" y="3967012"/>
            <a:ext cx="142875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72C4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→</a:t>
            </a:r>
          </a:p>
        </p:txBody>
      </p:sp>
      <p:sp>
        <p:nvSpPr>
          <p:cNvPr id="668" name="Google Shape;668;p48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Systematic Diagnostics</a:t>
            </a:r>
          </a:p>
        </p:txBody>
      </p:sp>
      <p:sp>
        <p:nvSpPr>
          <p:cNvPr id="901" name="Accent Bar"/>
          <p:cNvSpPr/>
          <p:nvPr/>
        </p:nvSpPr>
        <p:spPr>
          <a:xfrm>
            <a:off x="571500" y="11315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 txBox="1"/>
          <p:nvPr/>
        </p:nvSpPr>
        <p:spPr>
          <a:xfrm>
            <a:off x="3048000" y="2854000"/>
            <a:ext cx="6096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3200" b="1">
                <a:solidFill>
                  <a:srgbClr val="1F3864"/>
                </a:solidFill>
                <a:latin typeface="Poppins" panose="00000500000000000000"/>
                <a:cs typeface="Poppins" panose="00000500000000000000"/>
                <a:sym typeface="Poppins" panose="00000500000000000000"/>
              </a:rPr>
              <a:t>Hands - On</a:t>
            </a:r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1500" y="520000"/>
            <a:ext cx="96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Hands-On Exercise: Vendor Onboarding &amp; Provisioning Engine</a:t>
            </a:r>
          </a:p>
        </p:txBody>
      </p:sp>
      <p:sp>
        <p:nvSpPr>
          <p:cNvPr id="3" name="Accent Bar"/>
          <p:cNvSpPr/>
          <p:nvPr/>
        </p:nvSpPr>
        <p:spPr>
          <a:xfrm>
            <a:off x="571500" y="11200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 txBox="1"/>
          <p:nvPr/>
        </p:nvSpPr>
        <p:spPr>
          <a:xfrm>
            <a:off x="571500" y="1250000"/>
            <a:ext cx="11049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mission: build a resilient robot that dynamically verifies the intake </a:t>
            </a:r>
            <a:r>
              <a:rPr lang="en-US" sz="130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folder</a:t>
            </a:r>
            <a:r>
              <a:rPr lang="en-US" sz="13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safely extracts every vendor file, routes each one by format, and appends real-time execution timestamps.</a:t>
            </a:r>
          </a:p>
        </p:txBody>
      </p:sp>
      <p:sp>
        <p:nvSpPr>
          <p:cNvPr id="5" name="Left Panel"/>
          <p:cNvSpPr/>
          <p:nvPr/>
        </p:nvSpPr>
        <p:spPr>
          <a:xfrm>
            <a:off x="571500" y="1990000"/>
            <a:ext cx="52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ight Panel"/>
          <p:cNvSpPr/>
          <p:nvPr/>
        </p:nvSpPr>
        <p:spPr>
          <a:xfrm>
            <a:off x="6090500" y="1990000"/>
            <a:ext cx="55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 Header"/>
          <p:cNvSpPr txBox="1"/>
          <p:nvPr/>
        </p:nvSpPr>
        <p:spPr>
          <a:xfrm>
            <a:off x="871500" y="2200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Robot’s Mission</a:t>
            </a:r>
          </a:p>
        </p:txBody>
      </p:sp>
      <p:sp>
        <p:nvSpPr>
          <p:cNvPr id="8" name="Left Steps"/>
          <p:cNvSpPr txBox="1"/>
          <p:nvPr/>
        </p:nvSpPr>
        <p:spPr>
          <a:xfrm>
            <a:off x="871500" y="2740000"/>
            <a:ext cx="4630000" cy="3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0050" marR="0" lvl="0" indent="-400050" algn="l" rtl="0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Verify the intake network drive and create it dynamically if it is missing.</a:t>
            </a:r>
          </a:p>
          <a:p>
            <a:pPr marL="400050" marR="0" lvl="0" indent="-400050" algn="l" rtl="0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Safely extract every incoming vendor file from the master intake drive.</a:t>
            </a:r>
          </a:p>
          <a:p>
            <a:pPr marL="400050" marR="0" lvl="0" indent="-400050" algn="l" rtl="0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Evaluate each file’s format by reading its extension.</a:t>
            </a:r>
          </a:p>
          <a:p>
            <a:pPr marL="400050" indent="-400050">
              <a:lnSpc>
                <a:spcPct val="112000"/>
              </a:lnSpc>
              <a:spcAft>
                <a:spcPts val="9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Route files to departmental folders — Contracts, Financials, </a:t>
            </a: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Tech and Others</a:t>
            </a: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</a:p>
          <a:p>
            <a:pPr marL="400050" marR="0" lvl="0" indent="-4000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Append a real-time execution timestamp to every processed file.</a:t>
            </a:r>
          </a:p>
        </p:txBody>
      </p:sp>
      <p:sp>
        <p:nvSpPr>
          <p:cNvPr id="9" name="Right Header"/>
          <p:cNvSpPr txBox="1"/>
          <p:nvPr/>
        </p:nvSpPr>
        <p:spPr>
          <a:xfrm>
            <a:off x="6390500" y="2200000"/>
            <a:ext cx="49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Technical Blueprint</a:t>
            </a:r>
          </a:p>
        </p:txBody>
      </p:sp>
      <p:sp>
        <p:nvSpPr>
          <p:cNvPr id="10" name="Right Concepts"/>
          <p:cNvSpPr txBox="1"/>
          <p:nvPr/>
        </p:nvSpPr>
        <p:spPr>
          <a:xfrm>
            <a:off x="6390500" y="2660000"/>
            <a:ext cx="4930000" cy="3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Data Types &amp; Scoping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Enterprise naming (str_IntakeFolder, arr_VendorFiles, int_ProcessedCount) scoped to the smallest block.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Folder Presence Verification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Check and auto-create the intake folder to prevent a DirectoryNotFoundException.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Switch-Based Control Flow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Loop the file array and Switch on extension: .pdf → Contracts, .xlsx → Financials.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The Path.Combine Solution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Replace string concatenation with System.IO.Path.Combine() for cross-environment safety.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Interactive Diagnostics Demo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file left open in Excel throws an IOException — trace it live with the Call Stack, Locals panel, and Immediate window.</a:t>
            </a:r>
          </a:p>
        </p:txBody>
      </p:sp>
      <p:pic>
        <p:nvPicPr>
          <p:cNvPr id="11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 txBox="1"/>
          <p:nvPr/>
        </p:nvSpPr>
        <p:spPr>
          <a:xfrm>
            <a:off x="3048000" y="2854000"/>
            <a:ext cx="6096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3200" b="1" i="0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Consolidation &amp; Epic Solo Task</a:t>
            </a:r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1500" y="520000"/>
            <a:ext cx="96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Solo Task Assignment:</a:t>
            </a:r>
            <a:r>
              <a:rPr lang="en-US" sz="2000" b="1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 </a:t>
            </a:r>
            <a:r>
              <a:rPr lang="en-US" sz="20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 </a:t>
            </a:r>
            <a:r>
              <a:rPr lang="en-US" sz="2000" b="1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Update Vendor Onboarding &amp; Provisioning Engine</a:t>
            </a:r>
            <a:endParaRPr lang="en-US" sz="2000" b="1" i="0" u="none" strike="noStrike" cap="none">
              <a:solidFill>
                <a:srgbClr val="1F3864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3" name="Accent Bar"/>
          <p:cNvSpPr/>
          <p:nvPr/>
        </p:nvSpPr>
        <p:spPr>
          <a:xfrm>
            <a:off x="571500" y="1120000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 txBox="1"/>
          <p:nvPr/>
        </p:nvSpPr>
        <p:spPr>
          <a:xfrm>
            <a:off x="571500" y="1184687"/>
            <a:ext cx="11049000" cy="50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Your challenge: </a:t>
            </a:r>
            <a:r>
              <a:rPr lang="en-US" sz="160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 need to implement the hands on workflow but by using flow chart instead of sequence</a:t>
            </a:r>
            <a:endParaRPr lang="en-US" sz="160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  <p:sp>
        <p:nvSpPr>
          <p:cNvPr id="5" name="Left Panel"/>
          <p:cNvSpPr/>
          <p:nvPr/>
        </p:nvSpPr>
        <p:spPr>
          <a:xfrm>
            <a:off x="571500" y="1990000"/>
            <a:ext cx="52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ight Panel"/>
          <p:cNvSpPr/>
          <p:nvPr/>
        </p:nvSpPr>
        <p:spPr>
          <a:xfrm>
            <a:off x="6090500" y="1990000"/>
            <a:ext cx="5530000" cy="4360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9525">
            <a:solidFill>
              <a:srgbClr val="DBE3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 Header"/>
          <p:cNvSpPr txBox="1"/>
          <p:nvPr/>
        </p:nvSpPr>
        <p:spPr>
          <a:xfrm>
            <a:off x="871500" y="2200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Your Mission</a:t>
            </a:r>
          </a:p>
        </p:txBody>
      </p:sp>
      <p:sp>
        <p:nvSpPr>
          <p:cNvPr id="8" name="Left Steps"/>
          <p:cNvSpPr txBox="1"/>
          <p:nvPr/>
        </p:nvSpPr>
        <p:spPr>
          <a:xfrm>
            <a:off x="871500" y="2740000"/>
            <a:ext cx="4630000" cy="3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0050" indent="-400050">
              <a:lnSpc>
                <a:spcPct val="112000"/>
              </a:lnSpc>
              <a:spcAft>
                <a:spcPts val="900"/>
              </a:spcAft>
              <a:buClr>
                <a:srgbClr val="4472C4"/>
              </a:buClr>
              <a:buFont typeface="Lato" panose="020F0502020204030203"/>
              <a:buAutoNum type="arabicPeriod"/>
            </a:pP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Use flowchart to implement the last process</a:t>
            </a:r>
          </a:p>
          <a:p>
            <a:pPr marL="400050" indent="-400050">
              <a:lnSpc>
                <a:spcPct val="112000"/>
              </a:lnSpc>
              <a:spcAft>
                <a:spcPts val="900"/>
              </a:spcAft>
              <a:buClr>
                <a:srgbClr val="4472C4"/>
              </a:buClr>
              <a:buAutoNum type="arabicPeriod"/>
            </a:pPr>
            <a:r>
              <a:rPr lang="en-US" sz="1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Use orchestrator assets to save the input and output folder</a:t>
            </a:r>
          </a:p>
        </p:txBody>
      </p:sp>
      <p:sp>
        <p:nvSpPr>
          <p:cNvPr id="9" name="Right Header"/>
          <p:cNvSpPr txBox="1"/>
          <p:nvPr/>
        </p:nvSpPr>
        <p:spPr>
          <a:xfrm>
            <a:off x="6390500" y="2200000"/>
            <a:ext cx="493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472C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Requirements Checklist</a:t>
            </a:r>
          </a:p>
        </p:txBody>
      </p:sp>
      <p:sp>
        <p:nvSpPr>
          <p:cNvPr id="10" name="Right Concepts"/>
          <p:cNvSpPr txBox="1"/>
          <p:nvPr/>
        </p:nvSpPr>
        <p:spPr>
          <a:xfrm>
            <a:off x="6390500" y="2660000"/>
            <a:ext cx="4930000" cy="3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Variables &amp; Naming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 clear names (</a:t>
            </a:r>
            <a:r>
              <a:rPr lang="en-US" sz="1050" b="0" i="0" u="none" strike="noStrike" cap="none" err="1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str_InputFolder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</a:t>
            </a:r>
            <a:r>
              <a:rPr lang="en-US" sz="1050" b="0" i="0" u="none" strike="noStrike" cap="none" err="1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arr_AllFiles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</a:t>
            </a:r>
            <a:r>
              <a:rPr lang="en-US" sz="1050" b="0" i="0" u="none" strike="noStrike" cap="none" err="1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int_MovedCount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 scoped to the smallest block.</a:t>
            </a:r>
            <a:endParaRPr lang="en-US" sz="105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Control Flow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</a:t>
            </a:r>
            <a:r>
              <a:rPr lang="en-US" sz="10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flow chart to implement </a:t>
            </a:r>
            <a:r>
              <a:rPr lang="en-US" sz="1050" err="1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</a:t>
            </a:r>
            <a:r>
              <a:rPr lang="en-US" sz="10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 solution</a:t>
            </a:r>
            <a:endParaRPr lang="en-US" sz="105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File &amp; Folder Automation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 Folder Exists, Create Folder, </a:t>
            </a:r>
            <a:r>
              <a:rPr lang="en-US" sz="1050" b="0" i="0" u="none" strike="noStrike" cap="none" err="1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Path.Combine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and Move File instead of hardcoded paths.</a:t>
            </a:r>
            <a:endParaRPr lang="en-US" sz="105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Debugging &amp; Deliverable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Set a breakpoint in the loop, watch </a:t>
            </a:r>
            <a:r>
              <a:rPr lang="en-US" sz="1050" b="0" i="0" u="none" strike="noStrike" cap="none" err="1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int_MovedCount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in the Locals panel, then submit your workflow plus the run log.</a:t>
            </a:r>
            <a:endParaRPr lang="en-US" sz="105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  <p:pic>
        <p:nvPicPr>
          <p:cNvPr id="11" name="RAY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2285" y="1370848"/>
            <a:ext cx="11484599" cy="24314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/>
              <a:t>Agenda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 strike="sngStrike"/>
              <a:t>Introduction &amp; Hands-on</a:t>
            </a:r>
            <a:endParaRPr lang="en-US" sz="2000" b="1" strike="sngStrike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>
                <a:ea typeface="Calibri" panose="020F0502020204030204"/>
                <a:cs typeface="Calibri" panose="020F0502020204030204"/>
              </a:rPr>
              <a:t>What Is RPA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>
                <a:ea typeface="Calibri" panose="020F0502020204030204"/>
                <a:cs typeface="Calibri" panose="020F0502020204030204"/>
              </a:rPr>
              <a:t>RPA Tools</a:t>
            </a:r>
            <a:endParaRPr lang="en-US" strike="sngStrike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>
                <a:ea typeface="Calibri" panose="020F0502020204030204"/>
                <a:cs typeface="Calibri" panose="020F0502020204030204"/>
              </a:rPr>
              <a:t>Installing UiPath</a:t>
            </a:r>
            <a:endParaRPr lang="en-US" strike="sngStrike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 err="1">
                <a:ea typeface="Calibri" panose="020F0502020204030204"/>
                <a:cs typeface="Calibri" panose="020F0502020204030204"/>
              </a:rPr>
              <a:t>Uipath</a:t>
            </a:r>
            <a:r>
              <a:rPr lang="en-US" sz="2000" b="1" strike="sngStrike">
                <a:ea typeface="Calibri" panose="020F0502020204030204"/>
                <a:cs typeface="Calibri" panose="020F0502020204030204"/>
              </a:rPr>
              <a:t> Automation Methodology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strike="sngStrike">
                <a:ea typeface="Calibri" panose="020F0502020204030204"/>
                <a:cs typeface="Calibri" panose="020F0502020204030204"/>
              </a:rPr>
              <a:t>Explore </a:t>
            </a:r>
            <a:r>
              <a:rPr lang="en-US" sz="2000" b="1" strike="sngStrike" err="1">
                <a:ea typeface="Calibri" panose="020F0502020204030204"/>
                <a:cs typeface="Calibri" panose="020F0502020204030204"/>
              </a:rPr>
              <a:t>Uipath</a:t>
            </a:r>
            <a:r>
              <a:rPr lang="en-US" sz="2000" b="1" strike="sngStrike">
                <a:ea typeface="Calibri" panose="020F0502020204030204"/>
                <a:cs typeface="Calibri" panose="020F0502020204030204"/>
              </a:rPr>
              <a:t> Studio </a:t>
            </a:r>
            <a:endParaRPr lang="en-US" strike="sngStrik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870" y="149225"/>
            <a:ext cx="2012315" cy="847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2125" y="3799105"/>
            <a:ext cx="11484599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/>
              <a:buChar char="•"/>
            </a:pPr>
            <a:r>
              <a:rPr lang="en-US" sz="2000" b="1" strike="sngStrike"/>
              <a:t>Variables, Data Types ,</a:t>
            </a:r>
            <a:r>
              <a:rPr lang="en-US" sz="2000" b="1" strike="sngStrike" err="1"/>
              <a:t>ControlFlows</a:t>
            </a:r>
            <a:r>
              <a:rPr lang="en-US" sz="2000" b="1" strike="sngStrike"/>
              <a:t> &amp;</a:t>
            </a:r>
            <a:r>
              <a:rPr lang="en-US" sz="2000" b="1" strike="sngStrike" err="1"/>
              <a:t>Activites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 strike="sngStrike"/>
              <a:t>Working with File and Folders, Debugging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Data Manipulation(</a:t>
            </a:r>
            <a:r>
              <a:rPr lang="en-US" sz="2000" b="1" err="1">
                <a:ea typeface="Calibri" panose="020F0502020204030204"/>
                <a:cs typeface="Calibri" panose="020F0502020204030204"/>
              </a:rPr>
              <a:t>string,list,Dictionaries</a:t>
            </a:r>
            <a:r>
              <a:rPr lang="en-US" sz="2000" b="1">
                <a:ea typeface="Calibri" panose="020F0502020204030204"/>
                <a:cs typeface="Calibri" panose="020F0502020204030204"/>
              </a:rPr>
              <a:t>)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Ui Automation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Project 1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Data Manipulation(Data Tables)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Excel &amp; PDF Automation</a:t>
            </a:r>
            <a:endParaRPr lang="en-US" err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Email Automation and integration services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Api Automation + Error handling</a:t>
            </a:r>
          </a:p>
        </p:txBody>
      </p:sp>
      <p:sp>
        <p:nvSpPr>
          <p:cNvPr id="2" name="Right Bracket 1"/>
          <p:cNvSpPr/>
          <p:nvPr/>
        </p:nvSpPr>
        <p:spPr>
          <a:xfrm>
            <a:off x="6872928" y="1891899"/>
            <a:ext cx="733926" cy="1825926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84159" y="2620196"/>
            <a:ext cx="8141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strike="sngStrike"/>
              <a:t>Day1</a:t>
            </a:r>
          </a:p>
        </p:txBody>
      </p:sp>
      <p:sp>
        <p:nvSpPr>
          <p:cNvPr id="8" name="Right Bracket 7"/>
          <p:cNvSpPr/>
          <p:nvPr/>
        </p:nvSpPr>
        <p:spPr>
          <a:xfrm>
            <a:off x="6850525" y="3934363"/>
            <a:ext cx="762955" cy="377052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684159" y="3936243"/>
            <a:ext cx="814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strike="sngStrike"/>
              <a:t>Day2</a:t>
            </a:r>
          </a:p>
        </p:txBody>
      </p:sp>
      <p:sp>
        <p:nvSpPr>
          <p:cNvPr id="10" name="Right Bracket 9"/>
          <p:cNvSpPr/>
          <p:nvPr/>
        </p:nvSpPr>
        <p:spPr>
          <a:xfrm>
            <a:off x="6858414" y="4605779"/>
            <a:ext cx="748440" cy="319652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684159" y="4938020"/>
            <a:ext cx="81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Day4</a:t>
            </a:r>
          </a:p>
        </p:txBody>
      </p:sp>
      <p:sp>
        <p:nvSpPr>
          <p:cNvPr id="12" name="Right Bracket 11"/>
          <p:cNvSpPr/>
          <p:nvPr/>
        </p:nvSpPr>
        <p:spPr>
          <a:xfrm>
            <a:off x="6865671" y="4983655"/>
            <a:ext cx="741183" cy="286267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684159" y="4582769"/>
            <a:ext cx="81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Day3</a:t>
            </a:r>
          </a:p>
        </p:txBody>
      </p:sp>
      <p:sp>
        <p:nvSpPr>
          <p:cNvPr id="14" name="Right Bracket 13"/>
          <p:cNvSpPr/>
          <p:nvPr/>
        </p:nvSpPr>
        <p:spPr>
          <a:xfrm>
            <a:off x="6872928" y="5382051"/>
            <a:ext cx="733926" cy="425604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684159" y="5384472"/>
            <a:ext cx="81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Day5</a:t>
            </a:r>
          </a:p>
        </p:txBody>
      </p:sp>
      <p:sp>
        <p:nvSpPr>
          <p:cNvPr id="7" name="Right Bracket 6"/>
          <p:cNvSpPr/>
          <p:nvPr/>
        </p:nvSpPr>
        <p:spPr>
          <a:xfrm>
            <a:off x="6880184" y="6020679"/>
            <a:ext cx="733926" cy="425604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684158" y="6023100"/>
            <a:ext cx="8141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Day6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2285" y="1370848"/>
            <a:ext cx="11484599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/>
              <a:t>Agenda</a:t>
            </a:r>
          </a:p>
          <a:p>
            <a:pPr marL="342900" indent="-342900">
              <a:buFontTx/>
              <a:buChar char="-"/>
            </a:pPr>
            <a:endParaRPr lang="en-US" sz="2000" b="1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75" y="264795"/>
            <a:ext cx="1808480" cy="762000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284052" y="1926131"/>
            <a:ext cx="11484599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,Sans-Serif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Project 2</a:t>
            </a: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UiPath RPA Architecture (Studio, Orchestrator and Robot)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State Machines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RE - Framework</a:t>
            </a:r>
          </a:p>
          <a:p>
            <a:pPr marL="342900" indent="-342900">
              <a:buFont typeface="Arial" panose="020B0604020202020204"/>
              <a:buChar char="•"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RPA Final Project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endParaRPr lang="en-US" sz="2000" b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endParaRPr lang="en-US" sz="2000" b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/>
              <a:buChar char="•"/>
            </a:pPr>
            <a:endParaRPr lang="en-US" sz="20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Right Bracket 9"/>
          <p:cNvSpPr/>
          <p:nvPr/>
        </p:nvSpPr>
        <p:spPr>
          <a:xfrm>
            <a:off x="8027255" y="2321839"/>
            <a:ext cx="741498" cy="423719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TextBox 2"/>
          <p:cNvSpPr txBox="1"/>
          <p:nvPr/>
        </p:nvSpPr>
        <p:spPr>
          <a:xfrm>
            <a:off x="8915664" y="1927865"/>
            <a:ext cx="8141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/>
              <a:t>Day7</a:t>
            </a:r>
          </a:p>
        </p:txBody>
      </p:sp>
      <p:sp>
        <p:nvSpPr>
          <p:cNvPr id="16" name="Right Bracket 15"/>
          <p:cNvSpPr/>
          <p:nvPr/>
        </p:nvSpPr>
        <p:spPr>
          <a:xfrm>
            <a:off x="8034512" y="2017036"/>
            <a:ext cx="734241" cy="191494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TextBox 13"/>
          <p:cNvSpPr txBox="1"/>
          <p:nvPr/>
        </p:nvSpPr>
        <p:spPr>
          <a:xfrm>
            <a:off x="8915663" y="2341521"/>
            <a:ext cx="8141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/>
              <a:t>Day8</a:t>
            </a:r>
          </a:p>
        </p:txBody>
      </p:sp>
      <p:sp>
        <p:nvSpPr>
          <p:cNvPr id="20" name="Right Bracket 19"/>
          <p:cNvSpPr/>
          <p:nvPr/>
        </p:nvSpPr>
        <p:spPr>
          <a:xfrm>
            <a:off x="8027254" y="2866124"/>
            <a:ext cx="741498" cy="423719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TextBox 9"/>
          <p:cNvSpPr txBox="1"/>
          <p:nvPr/>
        </p:nvSpPr>
        <p:spPr>
          <a:xfrm>
            <a:off x="8915662" y="2893063"/>
            <a:ext cx="8141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/>
              <a:t>Day9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6"/>
          <p:cNvSpPr txBox="1"/>
          <p:nvPr/>
        </p:nvSpPr>
        <p:spPr>
          <a:xfrm>
            <a:off x="295275" y="981075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F386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Questions &amp; Discussion</a:t>
            </a:r>
          </a:p>
        </p:txBody>
      </p:sp>
      <p:sp>
        <p:nvSpPr>
          <p:cNvPr id="793" name="Google Shape;793;p56"/>
          <p:cNvSpPr txBox="1"/>
          <p:nvPr/>
        </p:nvSpPr>
        <p:spPr>
          <a:xfrm>
            <a:off x="571500" y="1962150"/>
            <a:ext cx="11049000" cy="28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Congratulations on completing Session 2! Best of luck with your Solo Task challenge.</a:t>
            </a:r>
          </a:p>
        </p:txBody>
      </p:sp>
      <p:sp>
        <p:nvSpPr>
          <p:cNvPr id="794" name="Google Shape;794;p56"/>
          <p:cNvSpPr txBox="1"/>
          <p:nvPr/>
        </p:nvSpPr>
        <p:spPr>
          <a:xfrm>
            <a:off x="571500" y="2457450"/>
            <a:ext cx="11049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Submit your project files and logs to: </a:t>
            </a:r>
            <a:r>
              <a:rPr lang="en-US" sz="1400" b="1" i="0" u="none" strike="noStrike" cap="none">
                <a:solidFill>
                  <a:srgbClr val="94A3B8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internship@yourcompany.com</a:t>
            </a:r>
          </a:p>
        </p:txBody>
      </p:sp>
      <p:sp>
        <p:nvSpPr>
          <p:cNvPr id="901" name="Accent Bar"/>
          <p:cNvSpPr/>
          <p:nvPr/>
        </p:nvSpPr>
        <p:spPr>
          <a:xfrm>
            <a:off x="5396000" y="1681075"/>
            <a:ext cx="1400000" cy="5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00" name="RAY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000" y="280000"/>
            <a:ext cx="1700000" cy="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44</Slides>
  <Notes>35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2026-06-28T13:07:00Z</dcterms:created>
  <dcterms:modified xsi:type="dcterms:W3CDTF">2026-07-05T09:40:21Z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B651B712D48146EDAED1BBC79AD3F286_12</vt:lpwstr>
  </property>
  <property fmtid="{D5CDD505-2E9C-101B-9397-08002B2CF9AE}" pid="3" name="KSOProductBuildVer">
    <vt:lpwstr>1033-12.1.0.26880</vt:lpwstr>
  </property>
</Properties>
</file>