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6C3FC5">
              <a:alpha val="18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00BCD4">
              <a:alpha val="12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Embeddings, Vector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Databases, RAG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AI Agents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D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AI smarter, more accurate, and autonomous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6C3FC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6C3FC5">
              <a:alpha val="15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00BCD4">
              <a:alpha val="12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731520"/>
          </a:xfrm>
          <a:prstGeom prst="roundRect">
            <a:avLst>
              <a:gd name="adj" fmla="val 11250"/>
            </a:avLst>
          </a:prstGeom>
          <a:solidFill>
            <a:srgbClr val="1E264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960120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6C3FC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6012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14300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0149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&amp; Knowledge Bases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28800" y="134416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· Knowledge Bases · Embeddings · Similarity Search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1837944"/>
            <a:ext cx="8046720" cy="731520"/>
          </a:xfrm>
          <a:prstGeom prst="roundRect">
            <a:avLst>
              <a:gd name="adj" fmla="val 11250"/>
            </a:avLst>
          </a:prstGeom>
          <a:solidFill>
            <a:srgbClr val="1E2640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1837944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00BCD4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837944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202082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28800" y="18928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Databases &amp; RAG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828800" y="22219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RAG Architecture · PDF Q&amp;A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2715768"/>
            <a:ext cx="8046720" cy="731520"/>
          </a:xfrm>
          <a:prstGeom prst="roundRect">
            <a:avLst>
              <a:gd name="adj" fmla="val 11250"/>
            </a:avLst>
          </a:prstGeom>
          <a:solidFill>
            <a:srgbClr val="1E2640"/>
          </a:solidFill>
          <a:ln/>
        </p:spPr>
      </p:sp>
      <p:sp>
        <p:nvSpPr>
          <p:cNvPr id="18" name="Shape 14"/>
          <p:cNvSpPr/>
          <p:nvPr/>
        </p:nvSpPr>
        <p:spPr>
          <a:xfrm>
            <a:off x="548640" y="2715768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7B2FBE"/>
          </a:solidFill>
          <a:ln/>
        </p:spPr>
      </p:sp>
      <p:sp>
        <p:nvSpPr>
          <p:cNvPr id="19" name="Text 15"/>
          <p:cNvSpPr/>
          <p:nvPr/>
        </p:nvSpPr>
        <p:spPr>
          <a:xfrm>
            <a:off x="548640" y="2715768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289864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2770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&amp; Function Calling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828800" y="30998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Tools · Function Calling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48640" y="3593592"/>
            <a:ext cx="8046720" cy="731520"/>
          </a:xfrm>
          <a:prstGeom prst="roundRect">
            <a:avLst>
              <a:gd name="adj" fmla="val 11250"/>
            </a:avLst>
          </a:prstGeom>
          <a:solidFill>
            <a:srgbClr val="1E2640"/>
          </a:solidFill>
          <a:ln/>
        </p:spPr>
      </p:sp>
      <p:sp>
        <p:nvSpPr>
          <p:cNvPr id="24" name="Shape 19"/>
          <p:cNvSpPr/>
          <p:nvPr/>
        </p:nvSpPr>
        <p:spPr>
          <a:xfrm>
            <a:off x="548640" y="3593592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E040FB"/>
          </a:solidFill>
          <a:ln/>
        </p:spPr>
      </p:sp>
      <p:sp>
        <p:nvSpPr>
          <p:cNvPr id="25" name="Text 20"/>
          <p:cNvSpPr/>
          <p:nvPr/>
        </p:nvSpPr>
        <p:spPr>
          <a:xfrm>
            <a:off x="548640" y="3593592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2" y="3776472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828800" y="36484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&amp; CrewAI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828800" y="39776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LLMs to Agents · Memory · CrewAI · Multi-Agent Systems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6C3FC5">
              <a:alpha val="15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4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202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LLMs, Knowledge Bases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Embeddings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3383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D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forget things — and how we fix it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LLMs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powerful — but they have real blind spots high schoolers should know about.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FFB30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4721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2011680"/>
            <a:ext cx="3602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data up to a date. Can't know about last week's news or your school schedule.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393192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41732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6C3FC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528" y="14721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 Memory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65192" y="2011680"/>
            <a:ext cx="3602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conversation starts fresh. It forgets what you said yesterday.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108960"/>
            <a:ext cx="393192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10896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00BCD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4128" y="316382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1792" y="3703320"/>
            <a:ext cx="3602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make up facts confidently. Always verify important answers!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800600" y="3108960"/>
            <a:ext cx="393192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310896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E040F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0040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67528" y="316382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Private Data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65192" y="3703320"/>
            <a:ext cx="3602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 your company's documents, your school's syllabus, or private files.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Can't ChatGPT Answer This?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asking ChatGPT: 'What is today's lunch menu at our school?' and 'What happened in the news today?'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 it says — does it admit it doesn't know, or make something up?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3 other questions an LLM could NOT reliably answer. Why?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Think about: recency, privacy, and specificity.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Can you trick it into confidently giving a wrong answer?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Knowledge Bases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6C3FC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Think of it like giving the AI a cheat sheet — but the cheat sheet is your entire company/school's documents.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6C3FC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3852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9019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collection of documents, PDFs, notes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" y="3154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Stored in a way AI can search it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private, up-to-date information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187452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87452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00BCD4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93852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94760" y="19019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it?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56432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Company policies &amp; manuals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56432" y="3154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 papers &amp; textbooks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456432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history, emails, notes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126480" y="187452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187452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E040FB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3852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29400" y="19019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291072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answers from YOUR data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291072" y="3154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hallucination from memory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291072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up to date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Your Knowledge Base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you're building an AI assistant for YOUR school.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5 types of documents you'd put in the knowledge base (e.g. timetable, syllabus…)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each: who would benefit from asking questions about it?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Think about what information students and teachers look for most often.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What sensitive data should NOT go in? Why?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Embeddings?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1F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D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"Turning words into coordinates on a map — similar meanings end up near each other."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9319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→ Numbers (Vector)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F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2286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[0.82, 0.14, 0.65, ...]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97180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71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F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"Kitten"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29718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[0.80, 0.12, 0.63, ...]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65760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57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F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36576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[0.21, 0.77, 0.05, ...]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3434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&amp; Kitten have similar vectors → they're semantically close!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737360"/>
            <a:ext cx="40233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 by meaning, not exact words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Works across languages (cat = gato = قطة)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520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Powers Spotify/Netflix recommendations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4114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Finds 'similar questions' in chatbots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Words by Meaning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computer, sort these words into 3 clusters by similarity: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"Dog · Puppy · Wolf · Rose · Tulip · Daisy · Car · Truck · Van"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explain: which 2 words are MOST similar? LEAST similar? Why?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You're doing what an embedding model does — clustering by meaning.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How would you handle 'Hot dog'? Does it belong with food or animals?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Text-to-Vector Transformation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text become numbers? The embedding model is trained to capture meaning.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6C3FC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63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83080" y="1965960"/>
            <a:ext cx="24688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29968" y="146304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7B2FBE"/>
          </a:solidFill>
          <a:ln/>
        </p:spPr>
      </p:sp>
      <p:sp>
        <p:nvSpPr>
          <p:cNvPr id="9" name="Text 7"/>
          <p:cNvSpPr/>
          <p:nvPr/>
        </p:nvSpPr>
        <p:spPr>
          <a:xfrm>
            <a:off x="2029968" y="1463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38728" y="1965960"/>
            <a:ext cx="24688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85616" y="146304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00BCD4"/>
          </a:solidFill>
          <a:ln/>
        </p:spPr>
      </p:sp>
      <p:sp>
        <p:nvSpPr>
          <p:cNvPr id="12" name="Text 10"/>
          <p:cNvSpPr/>
          <p:nvPr/>
        </p:nvSpPr>
        <p:spPr>
          <a:xfrm>
            <a:off x="3785616" y="1463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94376" y="1965960"/>
            <a:ext cx="24688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41264" y="146304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00C853"/>
          </a:solidFill>
          <a:ln/>
        </p:spPr>
      </p:sp>
      <p:sp>
        <p:nvSpPr>
          <p:cNvPr id="15" name="Text 13"/>
          <p:cNvSpPr/>
          <p:nvPr/>
        </p:nvSpPr>
        <p:spPr>
          <a:xfrm>
            <a:off x="5541264" y="1463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[0.3, ...]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50024" y="1965960"/>
            <a:ext cx="24688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96912" y="146304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E040FB"/>
          </a:solidFill>
          <a:ln/>
        </p:spPr>
      </p:sp>
      <p:sp>
        <p:nvSpPr>
          <p:cNvPr id="18" name="Text 16"/>
          <p:cNvSpPr/>
          <p:nvPr/>
        </p:nvSpPr>
        <p:spPr>
          <a:xfrm>
            <a:off x="7296912" y="1463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Dimensions: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word/sentence becomes a list of ~768 to 1536 numbers (dimensions). Think of it as a point in 768-dimensional space — impossible to draw, but easy for a computer to compare.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embedding models: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(OpenAI)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416052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(HuggingFace)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416052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embed-english-v3.0 (Cohere)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Sketch a 2D Vector Space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 X-Y grid (any scale). Place these words as dots by estimated meaning distance: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"King · Queen · Man · Woman · Prince · Dog · Cat · Fish"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words cluster together? Which are furthest apart?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This is a simplified 2D version of real 768-dimension embeddings.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Look up 'Word2Vec King - Man + Woman = Queen' — what does this show?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Search &amp; Cosine Similarity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words are vectors, 'similarity' becomes a math problem computers can solve instantly.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Cosine Similarity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angle between two vectors.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 (opposite) → 1 (identical)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578608"/>
            <a:ext cx="3611880" cy="438912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7860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↔ Kitten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260604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00C853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26060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108960"/>
            <a:ext cx="3611880" cy="438912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↔ Dog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3136392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00BCD4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31363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639312"/>
            <a:ext cx="3611880" cy="438912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393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↔ Car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3666744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FFB300"/>
          </a:solidFill>
          <a:ln/>
        </p:spPr>
      </p:sp>
      <p:sp>
        <p:nvSpPr>
          <p:cNvPr id="19" name="Text 17"/>
          <p:cNvSpPr/>
          <p:nvPr/>
        </p:nvSpPr>
        <p:spPr>
          <a:xfrm>
            <a:off x="3154680" y="366674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169664"/>
            <a:ext cx="3611880" cy="438912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696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↔ Algorithm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54680" y="4197096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E040FB"/>
          </a:solidFill>
          <a:ln/>
        </p:spPr>
      </p:sp>
      <p:sp>
        <p:nvSpPr>
          <p:cNvPr id="23" name="Text 21"/>
          <p:cNvSpPr/>
          <p:nvPr/>
        </p:nvSpPr>
        <p:spPr>
          <a:xfrm>
            <a:off x="3154680" y="41970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1417320"/>
            <a:ext cx="40233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508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How Similarity Search Works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asks a question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46320" y="2542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Question → embedding (vector)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46320" y="30723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Compare vector to all stored vectors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46320" y="36027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Return top-N most similar results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46320" y="4133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Feed those results to the LLM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the Similarity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computer, score these pairs 0–10 for semantic similarity: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"Pizza ↔ Pasta  |  Python ↔ Snake  |  Python ↔ Java  |  Happy ↔ Joyful  |  Bank ↔ River"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the word 'Bank' — does context matter for similarity?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Ambiguous words (bank, python, apple) are a real challenge for embedding models.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Bonus: how does context-aware search (like Google) handle ambiguous queries?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4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202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RAG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3383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AI a supercharged, searchable memory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1F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D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special database that stores vectors (embeddings) and can search them by similarity at lightning speed."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Regular Database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Searches by exact match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* WHERE text = 'cat'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Misses: kitten, feline, pet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Can't understand meaning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F0FDF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Vector Database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Searches by semantic meaning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query_similar('cat', top_k=5)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Finds: kitten, feline, puppy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Understands context &amp; language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24328" y="470916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6C3FC5"/>
          </a:solidFill>
          <a:ln/>
        </p:spPr>
      </p:sp>
      <p:sp>
        <p:nvSpPr>
          <p:cNvPr id="21" name="Text 19"/>
          <p:cNvSpPr/>
          <p:nvPr/>
        </p:nvSpPr>
        <p:spPr>
          <a:xfrm>
            <a:off x="2624328" y="4709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91456" y="470916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6C3FC5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4709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58584" y="470916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6C3FC5"/>
          </a:solidFill>
          <a:ln/>
        </p:spPr>
      </p:sp>
      <p:sp>
        <p:nvSpPr>
          <p:cNvPr id="25" name="Text 23"/>
          <p:cNvSpPr/>
          <p:nvPr/>
        </p:nvSpPr>
        <p:spPr>
          <a:xfrm>
            <a:off x="6958584" y="4709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Search vs Semantic Search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Google and search: 'ways to get around a city'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search in a Word document using Ctrl+F for 'transportation'. What's different?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returned more relevant results? Why? This IS the difference between keyword and vector search.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Google uses semantic understanding — Ctrl+F is pure keyword matching.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Try the same search on DuckDuckGo vs Google — do results differ? Why?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ChromaDB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is a free, open-source vector database — perfect for beginners and student projects.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chromadb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 collection (like a table)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chromadb.Client()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 = client.create_collection("my_docs")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documents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collection.add(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documents=["AI is amazing", "Cats are cute"],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ids=["doc1", "doc2"]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Search!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collection.query(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query_texts=["Tell me about AI"],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n_results=1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0" y="1417320"/>
            <a:ext cx="30175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0" y="1417320"/>
            <a:ext cx="3017520" cy="502920"/>
          </a:xfrm>
          <a:prstGeom prst="roundRect">
            <a:avLst>
              <a:gd name="adj" fmla="val 21818"/>
            </a:avLst>
          </a:prstGeom>
          <a:solidFill>
            <a:srgbClr val="6C3FC5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50876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36208" y="147218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chromadb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33872" y="2011680"/>
            <a:ext cx="2688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to install. Runs on your laptop.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0" y="2514600"/>
            <a:ext cx="30175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0" y="2514600"/>
            <a:ext cx="3017520" cy="502920"/>
          </a:xfrm>
          <a:prstGeom prst="roundRect">
            <a:avLst>
              <a:gd name="adj" fmla="val 21818"/>
            </a:avLst>
          </a:prstGeom>
          <a:solidFill>
            <a:srgbClr val="00BCD4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60604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36208" y="256946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or Persistent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833872" y="3108960"/>
            <a:ext cx="2688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temporarily or save to disk.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669280" y="3611880"/>
            <a:ext cx="30175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669280" y="3611880"/>
            <a:ext cx="3017520" cy="502920"/>
          </a:xfrm>
          <a:prstGeom prst="roundRect">
            <a:avLst>
              <a:gd name="adj" fmla="val 21818"/>
            </a:avLst>
          </a:prstGeom>
          <a:solidFill>
            <a:srgbClr val="E040F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703320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36208" y="366674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Auto-Embeddings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833872" y="4206240"/>
            <a:ext cx="2688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text for you — no extra model needed.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the ChromaDB Code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code on the previous slide line by line.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'collection.query' returns when asked about AI? 'doc1' or 'doc2'?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3rd document: 'Dogs are loyal pets'. If you query 'animals', what results do you expect?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model matches 'AI is amazing' to 'Tell me about AI' because their embeddings are close.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What happens if you set n_results=2? What would the output look like?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 (RAG)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6C3FC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"Instead of trusting the AI's memory, we first RETRIEVE real facts, then ASK the AI to answer using those facts."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69164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6C3FC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7099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202996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3040" y="2221992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169164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7B2FBE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17099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202996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2221992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169164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00BCD4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17099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54680" y="202996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2221992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69164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00C853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7099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17720" y="202996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2221992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169164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E040FB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17099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80760" y="202996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2221992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800" y="169164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FFB300"/>
          </a:solidFill>
          <a:ln/>
        </p:spPr>
      </p:sp>
      <p:sp>
        <p:nvSpPr>
          <p:cNvPr id="27" name="Text 25"/>
          <p:cNvSpPr/>
          <p:nvPr/>
        </p:nvSpPr>
        <p:spPr>
          <a:xfrm>
            <a:off x="7543800" y="17099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43800" y="202996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Answer!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926080"/>
            <a:ext cx="82296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is a Game-Changer:</a:t>
            </a:r>
            <a:endParaRPr lang="en-US" sz="13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56432"/>
            <a:ext cx="256032" cy="25603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932688" y="3401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uses real, current information</a:t>
            </a:r>
            <a:endParaRPr lang="en-US" sz="12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3456432"/>
            <a:ext cx="256032" cy="25603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047488" y="3401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sources — less hallucination</a:t>
            </a:r>
            <a:endParaRPr lang="en-US" sz="12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959352"/>
            <a:ext cx="256032" cy="25603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932688" y="3904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private/proprietary data</a:t>
            </a:r>
            <a:endParaRPr lang="en-US" sz="12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959352"/>
            <a:ext cx="256032" cy="25603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047488" y="3904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ChatGPT, Bing, Perplexity AI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vs No-RAG: Spot the Difference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RAG: Ask ChatGPT 'What grade did Ahmed get in his midterm?'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RAG (simulated): Pretend to give it Ahmed's report card, then ask again. How does the answer change?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RAG pipeline from memory — can you label all 6 steps without looking?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RAG = Retrieve first, then Generate. The key insight is that the LLM only sees real retrieved data.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What's a real app that uses RAG? (Hint: Perplexity.ai, Bing Chat, Notion AI)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Hands-On: PDF Question Answering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 — ask questions about any PDF document!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PDF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or pdfplumber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all text pages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63040"/>
            <a:ext cx="502920" cy="50292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1508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Chunks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into 500-word pieces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~50 words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63040"/>
            <a:ext cx="502920" cy="50292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1508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Chunks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each chunk 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ChromaDB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703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all vectors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metadata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91840" y="31546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154680"/>
            <a:ext cx="502920" cy="502920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8620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Retrieve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3703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 → embed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find top 3 chunks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26480" y="31546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154680"/>
            <a:ext cx="502920" cy="50292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2084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3703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= chunks + question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answer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PDF Q&amp;A Plan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real PDF you'd want to 'chat with' (textbook chapter, a news article, a story)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6 steps from memory and next to each step write: what could go wrong here?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pairs: one person is the 'user', one is the 'RAG system'. Act out a question-answering conversation!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hardest step is usually chunking — too big = noise, too small = missing context.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Code challenge: look up 'langchain pdf qa tutorial' and try running it in Google Colab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B2FBE">
              <a:alpha val="1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7B2FB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4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202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&amp;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Calling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3383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LLMs to the real world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— The AI Lego Kit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7B2FB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"LangChain lets you chain together LLMs, tools, memory, and data — like Lego blocks for AI."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6C3FC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7465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" y="2286000"/>
            <a:ext cx="2276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GPT-4, Claude, Llama — swap models in 1 line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16916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6916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FFB30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78308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58768" y="17465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56432" y="2286000"/>
            <a:ext cx="2276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PDFs, websites, CSVs, Notion pages automatically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26480" y="16916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6916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00BCD4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93408" y="17465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91072" y="2286000"/>
            <a:ext cx="2276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ChromaDB, Pinecone, FAISS integrations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32918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32918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7B2FBE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83280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24128" y="33467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21792" y="3886200"/>
            <a:ext cx="2276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chatbots persistent memory across conversations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3291840" y="32918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91840" y="32918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00C853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383280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58768" y="33467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Agents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456432" y="3886200"/>
            <a:ext cx="2276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Google, run code, call APIs automatically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126480" y="32918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26480" y="32918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E040FB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383280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93408" y="33467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291072" y="3886200"/>
            <a:ext cx="2276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steps: prompt → LLM → parser → database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Chain?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build: 'A chatbot that reads your class notes PDF and answers questions in Arabic.'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LangChain components you'd need: loader → ??? → ??? → ??? → ???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it as a flow diagram with arrows between each component.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chain is: PDF Loader → Text Splitter → Embedder → Vector Store → LLM → Answer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What component handles translating the answer to Arabic? Where in the chain does it go?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Calling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LLM a 'menu' of real-world actions it can request — like a remote control for your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Without Function Calling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'Please reset my password, zone: DMZ'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'I can only describe the ticket, not file it.'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😞 Ticket stays unprocessed.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F0FDF4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With Function Calling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'Please reset my password, zone: DMZ'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calls extract_info_from_email(email)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{request: 'Reset Password', zone: 'DMZ'}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'Ticket filed — Reset Password / DMZ.'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you can give an LLM: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6C3FC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extract_info_from_email(email)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388620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00BCD4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reset_password(zone)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FFB30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lock_unlock_user(zone)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443484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E040F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grant_vpn_access(website)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 LLM's Toolkit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building an AI study assistant for students. Design its 4 most useful functions.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function: write its name, what input it takes, and what it returns.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search_notes(topic: str) → returns matching notes from your notebook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Think about: what actions do you repeat daily that could be automated?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What's a function that would be dangerous to give an AI? (e.g. delete_files?)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E040FB">
              <a:alpha val="15000"/>
            </a:srgbClr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E040F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4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202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CrewAI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3383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 chatbots to collaborative AI teams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LLMs to AI Agents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D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LLM answers ONE question. An Agent keeps ACTING until the job is done."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4114800" cy="548640"/>
          </a:xfrm>
          <a:prstGeom prst="roundRect">
            <a:avLst>
              <a:gd name="adj" fmla="val 20000"/>
            </a:avLst>
          </a:prstGeom>
          <a:solidFill>
            <a:srgbClr val="6C3FC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5564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(Brain)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23317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Answers questions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7889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request-response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32461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memory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7033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tools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41605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Passive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0" y="169164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0" y="1691640"/>
            <a:ext cx="4114800" cy="548640"/>
          </a:xfrm>
          <a:prstGeom prst="roundRect">
            <a:avLst>
              <a:gd name="adj" fmla="val 20000"/>
            </a:avLst>
          </a:prstGeom>
          <a:solidFill>
            <a:srgbClr val="E040FB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755648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96128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(Worker)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212080" y="23317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Completes tasks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212080" y="27889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Multi-step loop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212080" y="32461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 memory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212080" y="37033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Uses tools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212080" y="41605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Autonomous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251960" y="2651760"/>
            <a:ext cx="640080" cy="64008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5" name="Text 21"/>
          <p:cNvSpPr/>
          <p:nvPr/>
        </p:nvSpPr>
        <p:spPr>
          <a:xfrm>
            <a:off x="425196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vs Agent: Which Would You Use?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task, decide: LLM (one response) or Agent (multi-step autonomous)?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this email" | "Research, write, and publish a blog post" | "Translate a sentence" | "Monitor prices and buy when below $50"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Agent task: list the steps it would take and tools it would need.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Agents are worth building when there are multiple steps that depend on each other.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What's the risk of giving an agent autonomy to 'buy when below $50'? How would you add a safety check?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an AI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Agent is made of the same core parts — like organs in a body.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6C3FC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4721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LLM (Brain)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2011680"/>
            <a:ext cx="2276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Reasons, plans, and decides what to do next based on the current state.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41732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7B2FB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0876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58768" y="14721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Memory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56432" y="2011680"/>
            <a:ext cx="2276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(current session) and long-term (past interactions, vector DB).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0" y="14173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41732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FFB30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0876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93408" y="14721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Tools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91072" y="2011680"/>
            <a:ext cx="2276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search, calculator, code executor, email sender, database queries.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31089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310896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00C853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0040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4128" y="31638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Action Executor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21792" y="3703320"/>
            <a:ext cx="2276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LLM's plan and actually runs the tool calls step by step.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291840" y="31089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310896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00BCD4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200400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58768" y="31638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Observation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456432" y="3703320"/>
            <a:ext cx="2276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results of actions and feeds them back to the LLM to decide next step.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126480" y="31089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26480" y="310896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E040FB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200400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93408" y="31638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 / Task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291072" y="3703320"/>
            <a:ext cx="2276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given by the user. The agent works until this is achieved.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Dissect a Real Agent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an agent given this task: 'Find the top 3 AI conferences in 2025 and add them to my calendar.'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component, fill in what it does for THIS specific task: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___ | Tools needed: ___ | Memory: ___ | Steps the Brain plans: ___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Break it into small steps: first search, then filter, then format, then call calendar API.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What happens if the search returns no results? How should the agent recover?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Memory &amp; Reasoning 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think → act → observe cycle — it keeps looping until the task is done.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2286000" cy="1097280"/>
          </a:xfrm>
          <a:prstGeom prst="roundRect">
            <a:avLst>
              <a:gd name="adj" fmla="val 12500"/>
            </a:avLst>
          </a:prstGeom>
          <a:solidFill>
            <a:srgbClr val="6C3FC5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554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need to do?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463040"/>
            <a:ext cx="2286000" cy="1097280"/>
          </a:xfrm>
          <a:prstGeom prst="roundRect">
            <a:avLst>
              <a:gd name="adj" fmla="val 12500"/>
            </a:avLst>
          </a:prstGeom>
          <a:solidFill>
            <a:srgbClr val="E040F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554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tool /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291840"/>
            <a:ext cx="2286000" cy="1097280"/>
          </a:xfrm>
          <a:prstGeom prst="roundRect">
            <a:avLst>
              <a:gd name="adj" fmla="val 12500"/>
            </a:avLst>
          </a:prstGeom>
          <a:solidFill>
            <a:srgbClr val="00BCD4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0" y="3886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result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2011680"/>
            <a:ext cx="1371600" cy="0"/>
          </a:xfrm>
          <a:prstGeom prst="line">
            <a:avLst/>
          </a:prstGeom>
          <a:noFill/>
          <a:ln w="38100">
            <a:solidFill>
              <a:srgbClr val="FFB3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2560320"/>
            <a:ext cx="0" cy="731520"/>
          </a:xfrm>
          <a:prstGeom prst="line">
            <a:avLst/>
          </a:prstGeom>
          <a:noFill/>
          <a:ln w="38100">
            <a:solidFill>
              <a:srgbClr val="FFB3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3291840"/>
            <a:ext cx="1371600" cy="0"/>
          </a:xfrm>
          <a:prstGeom prst="line">
            <a:avLst/>
          </a:prstGeom>
          <a:noFill/>
          <a:ln w="38100">
            <a:solidFill>
              <a:srgbClr val="FFB3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2560320"/>
            <a:ext cx="0" cy="731520"/>
          </a:xfrm>
          <a:prstGeom prst="line">
            <a:avLst/>
          </a:prstGeom>
          <a:noFill/>
          <a:ln w="381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repeats until task is done or max steps reached!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4622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Memory: the conversation so far (context window)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443484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44622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Memory: vector database of past interactions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 the ReAct Loop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pairs: one person is the 'Agent Brain' (LLM), one is the 'Environment' (tools + world).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'Find the population of Cairo and compare it to Alexandria.'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says THINK → ACT (calls search) → Environment returns result → Brain OBSERVEs → repeat until done!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Brain can't do anything without calling a tool — it can only think and request actions.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How many loop iterations did it take? What's the minimum number of steps possible?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Single-Agent vs Multi-Agent Systems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one agent isn't enough — just like one person can't do everything.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Single 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agent does everything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Simpler to build &amp; debug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Gets overwhelmed on big tasks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basic chatbot assistant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508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Multi-Agent 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Specialized agents collaborate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work = faster results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3291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agent is an expert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ResearchAgent + WriterAgent + EditorAgent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73659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6C3FC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75488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world: Google's multi-agent AlphaCode uses separate Planning, Coding, and Testing agents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Multi-Agent Team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'Write and publish a blog post about AI in Egypt.'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team of 3–4 specialized agents, each with a specific role, tools, and output.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collaboration: who talks to whom? Who starts? Who finishes?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Think like a manager: what skills does this task need? Research? Writing? Fact-checking? SEO?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What happens if one agent fails mid-way? How would you design for failure?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CrewAI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E040F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"CrewAI lets you build a team of AI agents in Python — each with a role, tools, and tasks."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6C3FC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7465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" y="2286000"/>
            <a:ext cx="36027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with a role, goal, and backstory.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'You are a senior data analyst.'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00600" y="169164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69164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00BCD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8308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67528" y="17465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65192" y="2286000"/>
            <a:ext cx="36027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piece of work with expected output.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'Research top AI trends 2025.'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47472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47472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E040F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6616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35295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1792" y="4069080"/>
            <a:ext cx="36027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agents + their tasks.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agents collaborate.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800600" y="347472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00600" y="347472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7B2FBE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566160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67528" y="35295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965192" y="4069080"/>
            <a:ext cx="36027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(one by one) or Hierarchical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(manager agent delegates tasks).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Your First CrewAI Agent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 (or pseudocode), define 2 agents for a 'Study Helper Crew'.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agent fill in: role, goal, backstory, and 2 tools it needs.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write 1 task for each agent with a description and expected output.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Role sets the persona, goal sets the objective, backstory gives the agent context to be better at its job.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What would a 'Manager' agent look like? What would it delegate to others?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457200"/>
            <a:ext cx="1371600" cy="1371600"/>
          </a:xfrm>
          <a:prstGeom prst="ellipse">
            <a:avLst/>
          </a:prstGeom>
          <a:solidFill>
            <a:srgbClr val="6C3FC5">
              <a:alpha val="12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an AI Assistant Team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design a real CrewAI system: a team that researches any topic and produces a report.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4114800" cy="530352"/>
          </a:xfrm>
          <a:prstGeom prst="roundRect">
            <a:avLst>
              <a:gd name="adj" fmla="val 20690"/>
            </a:avLst>
          </a:prstGeom>
          <a:solidFill>
            <a:srgbClr val="6C3FC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6362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5361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Research Agent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2084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Senior Researcher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2468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Web search, PDF reader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38912" y="28163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Bullet list of key findings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46304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463040"/>
            <a:ext cx="4114800" cy="530352"/>
          </a:xfrm>
          <a:prstGeom prst="roundRect">
            <a:avLst>
              <a:gd name="adj" fmla="val 20690"/>
            </a:avLst>
          </a:prstGeom>
          <a:solidFill>
            <a:srgbClr val="00BCD4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63624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6088" y="15361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Writer Agent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73752" y="2084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Technical Writer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73752" y="2468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Text formatter, templates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873752" y="28163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Full markdown report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74320" y="352044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74320" y="3520440"/>
            <a:ext cx="4114800" cy="530352"/>
          </a:xfrm>
          <a:prstGeom prst="roundRect">
            <a:avLst>
              <a:gd name="adj" fmla="val 20690"/>
            </a:avLst>
          </a:prstGeom>
          <a:solidFill>
            <a:srgbClr val="00C853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21024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" y="35935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Editor Agent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38912" y="4142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Quality Editor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38912" y="4526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Grammar checker, style guide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38912" y="48737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Polished final draft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709160" y="352044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09160" y="3520440"/>
            <a:ext cx="4114800" cy="530352"/>
          </a:xfrm>
          <a:prstGeom prst="roundRect">
            <a:avLst>
              <a:gd name="adj" fmla="val 20690"/>
            </a:avLst>
          </a:prstGeom>
          <a:solidFill>
            <a:srgbClr val="E040FB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621024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76088" y="35935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Manager Agent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873752" y="4142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Project Manager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873752" y="4526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Task delegator, progress tracker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4873752" y="48737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Coordinates the whole crew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Quick Task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828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AI Team for a School Project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school project topic (e.g. climate change, Egyptian history, robotics).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3-agent CrewAI system to research and produce a presentation on that topic.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team design to the class: who are the agents, what are their tasks, what's the final output?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Think like a team lead: which agent starts? How does output from one become input for the next?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71246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7124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Bonus code: install crewai and try 'from crewai import Agent, Task, Crew' in Google Colab!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C3FC5">
              <a:alpha val="15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E040FB">
              <a:alpha val="15000"/>
            </a:srgbClr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Now Know 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1E264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6C3FC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9728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0584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turn words into vectors that capture meaning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664208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1E2640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16642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BCD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166420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search by similarity, not exact match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322576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1E2640"/>
          </a:solidFill>
          <a:ln/>
        </p:spPr>
      </p:sp>
      <p:sp>
        <p:nvSpPr>
          <p:cNvPr id="14" name="Shape 10"/>
          <p:cNvSpPr/>
          <p:nvPr/>
        </p:nvSpPr>
        <p:spPr>
          <a:xfrm>
            <a:off x="548640" y="232257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7B2FB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41401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232257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Retrieve real facts first, then let AI answer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2980944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1E2640"/>
          </a:solidFill>
          <a:ln/>
        </p:spPr>
      </p:sp>
      <p:sp>
        <p:nvSpPr>
          <p:cNvPr id="18" name="Shape 13"/>
          <p:cNvSpPr/>
          <p:nvPr/>
        </p:nvSpPr>
        <p:spPr>
          <a:xfrm>
            <a:off x="548640" y="298094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C853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7238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298094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function calling connect LLMs to the real world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363931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1E2640"/>
          </a:solidFill>
          <a:ln/>
        </p:spPr>
      </p:sp>
      <p:sp>
        <p:nvSpPr>
          <p:cNvPr id="22" name="Shape 16"/>
          <p:cNvSpPr/>
          <p:nvPr/>
        </p:nvSpPr>
        <p:spPr>
          <a:xfrm>
            <a:off x="548640" y="36393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040FB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73075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363931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loop: Think → Act → Observe until done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48640" y="429768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1E2640"/>
          </a:solidFill>
          <a:ln/>
        </p:spPr>
      </p:sp>
      <p:sp>
        <p:nvSpPr>
          <p:cNvPr id="26" name="Shape 19"/>
          <p:cNvSpPr/>
          <p:nvPr/>
        </p:nvSpPr>
        <p:spPr>
          <a:xfrm>
            <a:off x="548640" y="42976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B300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389120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34440" y="42976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lets you build collaborative multi-agent teams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 — Embeddings, Vector Databases, RAG &amp; AI Agents</dc:title>
  <dc:subject>PptxGenJS Presentation</dc:subject>
  <dc:creator>PptxGenJS</dc:creator>
  <cp:lastModifiedBy>PptxGenJS</cp:lastModifiedBy>
  <cp:revision>1</cp:revision>
  <dcterms:created xsi:type="dcterms:W3CDTF">2026-07-08T18:34:07Z</dcterms:created>
  <dcterms:modified xsi:type="dcterms:W3CDTF">2026-07-08T18:34:07Z</dcterms:modified>
</cp:coreProperties>
</file>