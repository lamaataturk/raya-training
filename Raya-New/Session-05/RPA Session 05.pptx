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47"/>
  </p:notesMasterIdLst>
  <p:sldIdLst>
    <p:sldId id="256" r:id="rId2"/>
    <p:sldId id="397" r:id="rId3"/>
    <p:sldId id="398" r:id="rId4"/>
    <p:sldId id="401" r:id="rId5"/>
    <p:sldId id="402"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92E9CA3-BF75-823A-33B2-CBBA409B4542}" v="1" dt="2026-07-10T21:11:46.246"/>
    <p1510:client id="{1BC8673E-7D54-3953-EFD5-C8ED4A06E8DE}" v="57" dt="2026-07-10T21:13:21.187"/>
    <p1510:client id="{85CB827B-4778-AA1F-DBA7-1C26415E11AD}" v="26" dt="2026-07-11T21:32:32.614"/>
    <p1510:client id="{B8CAFDC9-FB40-BD0F-21A0-2D540B0F0597}" v="11" dt="2026-07-12T07:00:19.218"/>
  </p1510:revLst>
</p1510:revInfo>
</file>

<file path=ppt/tableStyles.xml><?xml version="1.0" encoding="utf-8"?>
<a:tblStyleLst xmlns:a="http://schemas.openxmlformats.org/drawingml/2006/main" def="{E1852C3B-A719-4818-B90F-14940A95C7CC}">
  <a:tblStyle styleId="{E1852C3B-A719-4818-B90F-14940A95C7CC}"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notesMaster" Target="notesMasters/notesMaster1.xml"/><Relationship Id="rId50"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microsoft.com/office/2015/10/relationships/revisionInfo" Target="revisionInfo.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B8CAFDC9-FB40-BD0F-21A0-2D540B0F0597}"/>
    <pc:docChg chg="delSld">
      <pc:chgData name="" userId="" providerId="" clId="Web-{B8CAFDC9-FB40-BD0F-21A0-2D540B0F0597}" dt="2026-07-12T06:59:43.358" v="4"/>
      <pc:docMkLst>
        <pc:docMk/>
      </pc:docMkLst>
      <pc:sldChg chg="del">
        <pc:chgData name="" userId="" providerId="" clId="Web-{B8CAFDC9-FB40-BD0F-21A0-2D540B0F0597}" dt="2026-07-12T06:59:43.358" v="3"/>
        <pc:sldMkLst>
          <pc:docMk/>
          <pc:sldMk cId="2242650534" sldId="299"/>
        </pc:sldMkLst>
      </pc:sldChg>
      <pc:sldChg chg="del">
        <pc:chgData name="" userId="" providerId="" clId="Web-{B8CAFDC9-FB40-BD0F-21A0-2D540B0F0597}" dt="2026-07-12T06:59:43.358" v="2"/>
        <pc:sldMkLst>
          <pc:docMk/>
          <pc:sldMk cId="842234833" sldId="300"/>
        </pc:sldMkLst>
      </pc:sldChg>
      <pc:sldChg chg="del">
        <pc:chgData name="" userId="" providerId="" clId="Web-{B8CAFDC9-FB40-BD0F-21A0-2D540B0F0597}" dt="2026-07-12T06:59:43.358" v="1"/>
        <pc:sldMkLst>
          <pc:docMk/>
          <pc:sldMk cId="828735961" sldId="301"/>
        </pc:sldMkLst>
      </pc:sldChg>
      <pc:sldChg chg="del">
        <pc:chgData name="" userId="" providerId="" clId="Web-{B8CAFDC9-FB40-BD0F-21A0-2D540B0F0597}" dt="2026-07-12T06:59:43.358" v="4"/>
        <pc:sldMkLst>
          <pc:docMk/>
          <pc:sldMk cId="1355402432" sldId="302"/>
        </pc:sldMkLst>
      </pc:sldChg>
      <pc:sldChg chg="del">
        <pc:chgData name="" userId="" providerId="" clId="Web-{B8CAFDC9-FB40-BD0F-21A0-2D540B0F0597}" dt="2026-07-12T06:59:43.358" v="0"/>
        <pc:sldMkLst>
          <pc:docMk/>
          <pc:sldMk cId="0" sldId="403"/>
        </pc:sldMkLst>
      </pc:sldChg>
    </pc:docChg>
  </pc:docChgLst>
  <pc:docChgLst>
    <pc:chgData name="Yussef mohamed Kamel Thabit" userId="S::yussef_thabit@rayacorp.com::345fcbbb-e931-4815-b0fe-d1ab2afb8134" providerId="AD" clId="Web-{192E9CA3-BF75-823A-33B2-CBBA409B4542}"/>
    <pc:docChg chg="modSld">
      <pc:chgData name="Yussef mohamed Kamel Thabit" userId="S::yussef_thabit@rayacorp.com::345fcbbb-e931-4815-b0fe-d1ab2afb8134" providerId="AD" clId="Web-{192E9CA3-BF75-823A-33B2-CBBA409B4542}" dt="2026-07-10T21:33:07.844" v="1"/>
      <pc:docMkLst>
        <pc:docMk/>
      </pc:docMkLst>
      <pc:sldChg chg="addSp delSp modSp mod modTransition setBg modShow">
        <pc:chgData name="Yussef mohamed Kamel Thabit" userId="S::yussef_thabit@rayacorp.com::345fcbbb-e931-4815-b0fe-d1ab2afb8134" providerId="AD" clId="Web-{192E9CA3-BF75-823A-33B2-CBBA409B4542}" dt="2026-07-10T21:33:07.844" v="1"/>
        <pc:sldMkLst>
          <pc:docMk/>
          <pc:sldMk cId="0" sldId="256"/>
        </pc:sldMkLst>
        <pc:spChg chg="mod">
          <ac:chgData name="Yussef mohamed Kamel Thabit" userId="S::yussef_thabit@rayacorp.com::345fcbbb-e931-4815-b0fe-d1ab2afb8134" providerId="AD" clId="Web-{192E9CA3-BF75-823A-33B2-CBBA409B4542}" dt="2026-07-10T21:33:07.844" v="1"/>
          <ac:spMkLst>
            <pc:docMk/>
            <pc:sldMk cId="0" sldId="256"/>
            <ac:spMk id="8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6"/>
            <ac:spMk id="8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6"/>
            <ac:spMk id="8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6"/>
            <ac:spMk id="8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6"/>
            <ac:spMk id="90"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56"/>
            <ac:picMk id="85"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56"/>
            <ac:picMk id="9001" creationId="{00000000-0000-0000-0000-000000000000}"/>
          </ac:picMkLst>
        </pc:picChg>
      </pc:sldChg>
      <pc:sldChg chg="addSp delSp modSp mod modTransition setBg modShow">
        <pc:chgData name="Yussef mohamed Kamel Thabit" userId="S::yussef_thabit@rayacorp.com::345fcbbb-e931-4815-b0fe-d1ab2afb8134" providerId="AD" clId="Web-{192E9CA3-BF75-823A-33B2-CBBA409B4542}" dt="2026-07-10T21:33:07.844" v="1"/>
        <pc:sldMkLst>
          <pc:docMk/>
          <pc:sldMk cId="0" sldId="258"/>
        </pc:sldMkLst>
        <pc:spChg chg="mod">
          <ac:chgData name="Yussef mohamed Kamel Thabit" userId="S::yussef_thabit@rayacorp.com::345fcbbb-e931-4815-b0fe-d1ab2afb8134" providerId="AD" clId="Web-{192E9CA3-BF75-823A-33B2-CBBA409B4542}" dt="2026-07-10T21:33:07.844" v="1"/>
          <ac:spMkLst>
            <pc:docMk/>
            <pc:sldMk cId="0" sldId="258"/>
            <ac:spMk id="10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8"/>
            <ac:spMk id="10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8"/>
            <ac:spMk id="11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8"/>
            <ac:spMk id="11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8"/>
            <ac:spMk id="11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58"/>
            <ac:picMk id="107"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58"/>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59"/>
        </pc:sldMkLst>
        <pc:spChg chg="mod">
          <ac:chgData name="Yussef mohamed Kamel Thabit" userId="S::yussef_thabit@rayacorp.com::345fcbbb-e931-4815-b0fe-d1ab2afb8134" providerId="AD" clId="Web-{192E9CA3-BF75-823A-33B2-CBBA409B4542}" dt="2026-07-10T21:33:07.844" v="1"/>
          <ac:spMkLst>
            <pc:docMk/>
            <pc:sldMk cId="0" sldId="259"/>
            <ac:spMk id="12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59"/>
            <ac:spMk id="129"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59"/>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59"/>
            <ac:picMk id="118"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0"/>
        </pc:sldMkLst>
        <pc:spChg chg="mod">
          <ac:chgData name="Yussef mohamed Kamel Thabit" userId="S::yussef_thabit@rayacorp.com::345fcbbb-e931-4815-b0fe-d1ab2afb8134" providerId="AD" clId="Web-{192E9CA3-BF75-823A-33B2-CBBA409B4542}" dt="2026-07-10T21:33:07.844" v="1"/>
          <ac:spMkLst>
            <pc:docMk/>
            <pc:sldMk cId="0" sldId="260"/>
            <ac:spMk id="13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0"/>
            <ac:spMk id="149"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0"/>
            <ac:picMk id="135"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60"/>
            <ac:picMk id="150"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1"/>
        </pc:sldMkLst>
        <pc:spChg chg="mod">
          <ac:chgData name="Yussef mohamed Kamel Thabit" userId="S::yussef_thabit@rayacorp.com::345fcbbb-e931-4815-b0fe-d1ab2afb8134" providerId="AD" clId="Web-{192E9CA3-BF75-823A-33B2-CBBA409B4542}" dt="2026-07-10T21:33:07.844" v="1"/>
          <ac:spMkLst>
            <pc:docMk/>
            <pc:sldMk cId="0" sldId="261"/>
            <ac:spMk id="16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1"/>
            <ac:spMk id="168"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1"/>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1"/>
            <ac:picMk id="158"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61"/>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2"/>
        </pc:sldMkLst>
        <pc:spChg chg="mod">
          <ac:chgData name="Yussef mohamed Kamel Thabit" userId="S::yussef_thabit@rayacorp.com::345fcbbb-e931-4815-b0fe-d1ab2afb8134" providerId="AD" clId="Web-{192E9CA3-BF75-823A-33B2-CBBA409B4542}" dt="2026-07-10T21:33:07.844" v="1"/>
          <ac:spMkLst>
            <pc:docMk/>
            <pc:sldMk cId="0" sldId="262"/>
            <ac:spMk id="17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7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2"/>
            <ac:spMk id="186"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2"/>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2"/>
            <ac:picMk id="177"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3"/>
        </pc:sldMkLst>
        <pc:spChg chg="mod">
          <ac:chgData name="Yussef mohamed Kamel Thabit" userId="S::yussef_thabit@rayacorp.com::345fcbbb-e931-4815-b0fe-d1ab2afb8134" providerId="AD" clId="Web-{192E9CA3-BF75-823A-33B2-CBBA409B4542}" dt="2026-07-10T21:33:07.844" v="1"/>
          <ac:spMkLst>
            <pc:docMk/>
            <pc:sldMk cId="0" sldId="263"/>
            <ac:spMk id="19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3"/>
            <ac:spMk id="207"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3"/>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3"/>
            <ac:picMk id="196"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4"/>
        </pc:sldMkLst>
        <pc:spChg chg="mod">
          <ac:chgData name="Yussef mohamed Kamel Thabit" userId="S::yussef_thabit@rayacorp.com::345fcbbb-e931-4815-b0fe-d1ab2afb8134" providerId="AD" clId="Web-{192E9CA3-BF75-823A-33B2-CBBA409B4542}" dt="2026-07-10T21:33:07.844" v="1"/>
          <ac:spMkLst>
            <pc:docMk/>
            <pc:sldMk cId="0" sldId="264"/>
            <ac:spMk id="21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4"/>
            <ac:spMk id="21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4"/>
            <ac:spMk id="21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4"/>
            <ac:spMk id="21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4"/>
            <ac:spMk id="21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4"/>
            <ac:spMk id="220"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4"/>
            <ac:spMk id="9002" creationId="{00000000-0000-0000-0000-000000000000}"/>
          </ac:spMkLst>
        </pc:spChg>
        <pc:graphicFrameChg chg="modGraphic">
          <ac:chgData name="Yussef mohamed Kamel Thabit" userId="S::yussef_thabit@rayacorp.com::345fcbbb-e931-4815-b0fe-d1ab2afb8134" providerId="AD" clId="Web-{192E9CA3-BF75-823A-33B2-CBBA409B4542}" dt="2026-07-10T21:33:07.844" v="1"/>
          <ac:graphicFrameMkLst>
            <pc:docMk/>
            <pc:sldMk cId="0" sldId="264"/>
            <ac:graphicFrameMk id="221" creationId="{00000000-0000-0000-0000-000000000000}"/>
          </ac:graphicFrameMkLst>
        </pc:graphicFrameChg>
        <pc:picChg chg="mod">
          <ac:chgData name="Yussef mohamed Kamel Thabit" userId="S::yussef_thabit@rayacorp.com::345fcbbb-e931-4815-b0fe-d1ab2afb8134" providerId="AD" clId="Web-{192E9CA3-BF75-823A-33B2-CBBA409B4542}" dt="2026-07-10T21:11:46.246" v="0"/>
          <ac:picMkLst>
            <pc:docMk/>
            <pc:sldMk cId="0" sldId="264"/>
            <ac:picMk id="213"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64"/>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5"/>
        </pc:sldMkLst>
        <pc:spChg chg="mod">
          <ac:chgData name="Yussef mohamed Kamel Thabit" userId="S::yussef_thabit@rayacorp.com::345fcbbb-e931-4815-b0fe-d1ab2afb8134" providerId="AD" clId="Web-{192E9CA3-BF75-823A-33B2-CBBA409B4542}" dt="2026-07-10T21:33:07.844" v="1"/>
          <ac:spMkLst>
            <pc:docMk/>
            <pc:sldMk cId="0" sldId="265"/>
            <ac:spMk id="23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3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3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3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4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4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4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5"/>
            <ac:spMk id="243"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5"/>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5"/>
            <ac:picMk id="233"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65"/>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6"/>
        </pc:sldMkLst>
        <pc:spChg chg="mod">
          <ac:chgData name="Yussef mohamed Kamel Thabit" userId="S::yussef_thabit@rayacorp.com::345fcbbb-e931-4815-b0fe-d1ab2afb8134" providerId="AD" clId="Web-{192E9CA3-BF75-823A-33B2-CBBA409B4542}" dt="2026-07-10T21:33:07.844" v="1"/>
          <ac:spMkLst>
            <pc:docMk/>
            <pc:sldMk cId="0" sldId="266"/>
            <ac:spMk id="25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5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5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5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5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5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6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6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6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6"/>
            <ac:spMk id="263"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6"/>
            <ac:picMk id="249"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66"/>
            <ac:picMk id="264"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7"/>
        </pc:sldMkLst>
        <pc:spChg chg="mod">
          <ac:chgData name="Yussef mohamed Kamel Thabit" userId="S::yussef_thabit@rayacorp.com::345fcbbb-e931-4815-b0fe-d1ab2afb8134" providerId="AD" clId="Web-{192E9CA3-BF75-823A-33B2-CBBA409B4542}" dt="2026-07-10T21:33:07.844" v="1"/>
          <ac:spMkLst>
            <pc:docMk/>
            <pc:sldMk cId="0" sldId="267"/>
            <ac:spMk id="27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7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7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7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7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7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7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7"/>
            <ac:spMk id="280"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7"/>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7"/>
            <ac:picMk id="272"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67"/>
            <ac:picMk id="9001" creationId="{00000000-0000-0000-0000-000000000000}"/>
          </ac:picMkLst>
        </pc:picChg>
      </pc:sldChg>
      <pc:sldChg chg="addSp delSp modSp mod modTransition setBg modShow">
        <pc:chgData name="Yussef mohamed Kamel Thabit" userId="S::yussef_thabit@rayacorp.com::345fcbbb-e931-4815-b0fe-d1ab2afb8134" providerId="AD" clId="Web-{192E9CA3-BF75-823A-33B2-CBBA409B4542}" dt="2026-07-10T21:33:07.844" v="1"/>
        <pc:sldMkLst>
          <pc:docMk/>
          <pc:sldMk cId="0" sldId="268"/>
        </pc:sldMkLst>
        <pc:spChg chg="mod">
          <ac:chgData name="Yussef mohamed Kamel Thabit" userId="S::yussef_thabit@rayacorp.com::345fcbbb-e931-4815-b0fe-d1ab2afb8134" providerId="AD" clId="Web-{192E9CA3-BF75-823A-33B2-CBBA409B4542}" dt="2026-07-10T21:33:07.844" v="1"/>
          <ac:spMkLst>
            <pc:docMk/>
            <pc:sldMk cId="0" sldId="268"/>
            <ac:spMk id="29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8"/>
            <ac:spMk id="29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8"/>
            <ac:spMk id="29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8"/>
            <ac:spMk id="29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8"/>
            <ac:spMk id="294"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8"/>
            <ac:picMk id="289"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68"/>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69"/>
        </pc:sldMkLst>
        <pc:spChg chg="mod">
          <ac:chgData name="Yussef mohamed Kamel Thabit" userId="S::yussef_thabit@rayacorp.com::345fcbbb-e931-4815-b0fe-d1ab2afb8134" providerId="AD" clId="Web-{192E9CA3-BF75-823A-33B2-CBBA409B4542}" dt="2026-07-10T21:33:07.844" v="1"/>
          <ac:spMkLst>
            <pc:docMk/>
            <pc:sldMk cId="0" sldId="269"/>
            <ac:spMk id="30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0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0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0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0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0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0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1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69"/>
            <ac:spMk id="311"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69"/>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69"/>
            <ac:picMk id="300"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0"/>
        </pc:sldMkLst>
        <pc:spChg chg="mod">
          <ac:chgData name="Yussef mohamed Kamel Thabit" userId="S::yussef_thabit@rayacorp.com::345fcbbb-e931-4815-b0fe-d1ab2afb8134" providerId="AD" clId="Web-{192E9CA3-BF75-823A-33B2-CBBA409B4542}" dt="2026-07-10T21:33:07.844" v="1"/>
          <ac:spMkLst>
            <pc:docMk/>
            <pc:sldMk cId="0" sldId="270"/>
            <ac:spMk id="31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1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0"/>
            <ac:spMk id="326"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0"/>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0"/>
            <ac:picMk id="317"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1"/>
        </pc:sldMkLst>
        <pc:spChg chg="mod">
          <ac:chgData name="Yussef mohamed Kamel Thabit" userId="S::yussef_thabit@rayacorp.com::345fcbbb-e931-4815-b0fe-d1ab2afb8134" providerId="AD" clId="Web-{192E9CA3-BF75-823A-33B2-CBBA409B4542}" dt="2026-07-10T21:33:07.844" v="1"/>
          <ac:spMkLst>
            <pc:docMk/>
            <pc:sldMk cId="0" sldId="271"/>
            <ac:spMk id="33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3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4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4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4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4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4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1"/>
            <ac:spMk id="345"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1"/>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1"/>
            <ac:picMk id="336"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1"/>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2"/>
        </pc:sldMkLst>
        <pc:spChg chg="mod">
          <ac:chgData name="Yussef mohamed Kamel Thabit" userId="S::yussef_thabit@rayacorp.com::345fcbbb-e931-4815-b0fe-d1ab2afb8134" providerId="AD" clId="Web-{192E9CA3-BF75-823A-33B2-CBBA409B4542}" dt="2026-07-10T21:33:07.844" v="1"/>
          <ac:spMkLst>
            <pc:docMk/>
            <pc:sldMk cId="0" sldId="272"/>
            <ac:spMk id="35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5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5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5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5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6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6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2"/>
            <ac:spMk id="362"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2"/>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2"/>
            <ac:picMk id="353"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2"/>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3"/>
        </pc:sldMkLst>
        <pc:spChg chg="mod">
          <ac:chgData name="Yussef mohamed Kamel Thabit" userId="S::yussef_thabit@rayacorp.com::345fcbbb-e931-4815-b0fe-d1ab2afb8134" providerId="AD" clId="Web-{192E9CA3-BF75-823A-33B2-CBBA409B4542}" dt="2026-07-10T21:33:07.844" v="1"/>
          <ac:spMkLst>
            <pc:docMk/>
            <pc:sldMk cId="0" sldId="273"/>
            <ac:spMk id="37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3"/>
            <ac:spMk id="379"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3"/>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3"/>
            <ac:picMk id="370"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3"/>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4"/>
        </pc:sldMkLst>
        <pc:spChg chg="mod">
          <ac:chgData name="Yussef mohamed Kamel Thabit" userId="S::yussef_thabit@rayacorp.com::345fcbbb-e931-4815-b0fe-d1ab2afb8134" providerId="AD" clId="Web-{192E9CA3-BF75-823A-33B2-CBBA409B4542}" dt="2026-07-10T21:33:07.844" v="1"/>
          <ac:spMkLst>
            <pc:docMk/>
            <pc:sldMk cId="0" sldId="274"/>
            <ac:spMk id="38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4"/>
            <ac:spMk id="39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4"/>
            <ac:spMk id="39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4"/>
            <ac:spMk id="39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4"/>
            <ac:spMk id="39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4"/>
            <ac:spMk id="394"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4"/>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4"/>
            <ac:picMk id="388"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4"/>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5"/>
        </pc:sldMkLst>
        <pc:spChg chg="mod">
          <ac:chgData name="Yussef mohamed Kamel Thabit" userId="S::yussef_thabit@rayacorp.com::345fcbbb-e931-4815-b0fe-d1ab2afb8134" providerId="AD" clId="Web-{192E9CA3-BF75-823A-33B2-CBBA409B4542}" dt="2026-07-10T21:33:07.844" v="1"/>
          <ac:spMkLst>
            <pc:docMk/>
            <pc:sldMk cId="0" sldId="275"/>
            <ac:spMk id="40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5"/>
            <ac:spMk id="408"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5"/>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5"/>
            <ac:picMk id="400"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5"/>
            <ac:picMk id="9001" creationId="{00000000-0000-0000-0000-000000000000}"/>
          </ac:picMkLst>
        </pc:picChg>
      </pc:sldChg>
      <pc:sldChg chg="addSp delSp modSp mod modTransition setBg modShow">
        <pc:chgData name="Yussef mohamed Kamel Thabit" userId="S::yussef_thabit@rayacorp.com::345fcbbb-e931-4815-b0fe-d1ab2afb8134" providerId="AD" clId="Web-{192E9CA3-BF75-823A-33B2-CBBA409B4542}" dt="2026-07-10T21:33:07.844" v="1"/>
        <pc:sldMkLst>
          <pc:docMk/>
          <pc:sldMk cId="0" sldId="276"/>
        </pc:sldMkLst>
        <pc:spChg chg="mod">
          <ac:chgData name="Yussef mohamed Kamel Thabit" userId="S::yussef_thabit@rayacorp.com::345fcbbb-e931-4815-b0fe-d1ab2afb8134" providerId="AD" clId="Web-{192E9CA3-BF75-823A-33B2-CBBA409B4542}" dt="2026-07-10T21:33:07.844" v="1"/>
          <ac:spMkLst>
            <pc:docMk/>
            <pc:sldMk cId="0" sldId="276"/>
            <ac:spMk id="41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6"/>
            <ac:spMk id="41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6"/>
            <ac:spMk id="42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6"/>
            <ac:spMk id="42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6"/>
            <ac:spMk id="42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6"/>
            <ac:picMk id="417"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6"/>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7"/>
        </pc:sldMkLst>
        <pc:spChg chg="mod">
          <ac:chgData name="Yussef mohamed Kamel Thabit" userId="S::yussef_thabit@rayacorp.com::345fcbbb-e931-4815-b0fe-d1ab2afb8134" providerId="AD" clId="Web-{192E9CA3-BF75-823A-33B2-CBBA409B4542}" dt="2026-07-10T21:33:07.844" v="1"/>
          <ac:spMkLst>
            <pc:docMk/>
            <pc:sldMk cId="0" sldId="277"/>
            <ac:spMk id="43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7"/>
            <ac:spMk id="439"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7"/>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7"/>
            <ac:picMk id="428"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8"/>
        </pc:sldMkLst>
        <pc:spChg chg="mod">
          <ac:chgData name="Yussef mohamed Kamel Thabit" userId="S::yussef_thabit@rayacorp.com::345fcbbb-e931-4815-b0fe-d1ab2afb8134" providerId="AD" clId="Web-{192E9CA3-BF75-823A-33B2-CBBA409B4542}" dt="2026-07-10T21:33:07.844" v="1"/>
          <ac:spMkLst>
            <pc:docMk/>
            <pc:sldMk cId="0" sldId="278"/>
            <ac:spMk id="44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4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4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4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5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5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5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8"/>
            <ac:spMk id="453"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8"/>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78"/>
            <ac:picMk id="445"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8"/>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79"/>
        </pc:sldMkLst>
        <pc:spChg chg="mod">
          <ac:chgData name="Yussef mohamed Kamel Thabit" userId="S::yussef_thabit@rayacorp.com::345fcbbb-e931-4815-b0fe-d1ab2afb8134" providerId="AD" clId="Web-{192E9CA3-BF75-823A-33B2-CBBA409B4542}" dt="2026-07-10T21:33:07.844" v="1"/>
          <ac:spMkLst>
            <pc:docMk/>
            <pc:sldMk cId="0" sldId="279"/>
            <ac:spMk id="46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9"/>
            <ac:spMk id="46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9"/>
            <ac:spMk id="46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9"/>
            <ac:spMk id="46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79"/>
            <ac:spMk id="468"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79"/>
            <ac:spMk id="9002" creationId="{00000000-0000-0000-0000-000000000000}"/>
          </ac:spMkLst>
        </pc:spChg>
        <pc:graphicFrameChg chg="modGraphic">
          <ac:chgData name="Yussef mohamed Kamel Thabit" userId="S::yussef_thabit@rayacorp.com::345fcbbb-e931-4815-b0fe-d1ab2afb8134" providerId="AD" clId="Web-{192E9CA3-BF75-823A-33B2-CBBA409B4542}" dt="2026-07-10T21:33:07.844" v="1"/>
          <ac:graphicFrameMkLst>
            <pc:docMk/>
            <pc:sldMk cId="0" sldId="279"/>
            <ac:graphicFrameMk id="469" creationId="{00000000-0000-0000-0000-000000000000}"/>
          </ac:graphicFrameMkLst>
        </pc:graphicFrameChg>
        <pc:picChg chg="mod">
          <ac:chgData name="Yussef mohamed Kamel Thabit" userId="S::yussef_thabit@rayacorp.com::345fcbbb-e931-4815-b0fe-d1ab2afb8134" providerId="AD" clId="Web-{192E9CA3-BF75-823A-33B2-CBBA409B4542}" dt="2026-07-10T21:11:46.246" v="0"/>
          <ac:picMkLst>
            <pc:docMk/>
            <pc:sldMk cId="0" sldId="279"/>
            <ac:picMk id="462"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79"/>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0"/>
        </pc:sldMkLst>
        <pc:spChg chg="mod">
          <ac:chgData name="Yussef mohamed Kamel Thabit" userId="S::yussef_thabit@rayacorp.com::345fcbbb-e931-4815-b0fe-d1ab2afb8134" providerId="AD" clId="Web-{192E9CA3-BF75-823A-33B2-CBBA409B4542}" dt="2026-07-10T21:33:07.844" v="1"/>
          <ac:spMkLst>
            <pc:docMk/>
            <pc:sldMk cId="0" sldId="280"/>
            <ac:spMk id="48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8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8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9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9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9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9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9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0"/>
            <ac:spMk id="495"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0"/>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0"/>
            <ac:picMk id="484"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1"/>
        </pc:sldMkLst>
        <pc:spChg chg="mod">
          <ac:chgData name="Yussef mohamed Kamel Thabit" userId="S::yussef_thabit@rayacorp.com::345fcbbb-e931-4815-b0fe-d1ab2afb8134" providerId="AD" clId="Web-{192E9CA3-BF75-823A-33B2-CBBA409B4542}" dt="2026-07-10T21:33:07.844" v="1"/>
          <ac:spMkLst>
            <pc:docMk/>
            <pc:sldMk cId="0" sldId="281"/>
            <ac:spMk id="50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0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0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0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1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1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1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1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1"/>
            <ac:spMk id="515"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1"/>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1"/>
            <ac:picMk id="501"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81"/>
            <ac:picMk id="516"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2"/>
        </pc:sldMkLst>
        <pc:spChg chg="mod">
          <ac:chgData name="Yussef mohamed Kamel Thabit" userId="S::yussef_thabit@rayacorp.com::345fcbbb-e931-4815-b0fe-d1ab2afb8134" providerId="AD" clId="Web-{192E9CA3-BF75-823A-33B2-CBBA409B4542}" dt="2026-07-10T21:33:07.844" v="1"/>
          <ac:spMkLst>
            <pc:docMk/>
            <pc:sldMk cId="0" sldId="282"/>
            <ac:spMk id="52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2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2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3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3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3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3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2"/>
            <ac:spMk id="534"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2"/>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2"/>
            <ac:picMk id="524"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82"/>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3"/>
        </pc:sldMkLst>
        <pc:spChg chg="mod">
          <ac:chgData name="Yussef mohamed Kamel Thabit" userId="S::yussef_thabit@rayacorp.com::345fcbbb-e931-4815-b0fe-d1ab2afb8134" providerId="AD" clId="Web-{192E9CA3-BF75-823A-33B2-CBBA409B4542}" dt="2026-07-10T21:33:07.844" v="1"/>
          <ac:spMkLst>
            <pc:docMk/>
            <pc:sldMk cId="0" sldId="283"/>
            <ac:spMk id="54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3"/>
            <ac:spMk id="548"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3"/>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3"/>
            <ac:picMk id="540" creationId="{00000000-0000-0000-0000-000000000000}"/>
          </ac:picMkLst>
        </pc:picChg>
        <pc:picChg chg="mod">
          <ac:chgData name="Yussef mohamed Kamel Thabit" userId="S::yussef_thabit@rayacorp.com::345fcbbb-e931-4815-b0fe-d1ab2afb8134" providerId="AD" clId="Web-{192E9CA3-BF75-823A-33B2-CBBA409B4542}" dt="2026-07-10T21:33:07.844" v="1"/>
          <ac:picMkLst>
            <pc:docMk/>
            <pc:sldMk cId="0" sldId="283"/>
            <ac:picMk id="55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4"/>
        </pc:sldMkLst>
        <pc:spChg chg="mod">
          <ac:chgData name="Yussef mohamed Kamel Thabit" userId="S::yussef_thabit@rayacorp.com::345fcbbb-e931-4815-b0fe-d1ab2afb8134" providerId="AD" clId="Web-{192E9CA3-BF75-823A-33B2-CBBA409B4542}" dt="2026-07-10T21:33:07.844" v="1"/>
          <ac:spMkLst>
            <pc:docMk/>
            <pc:sldMk cId="0" sldId="284"/>
            <ac:spMk id="55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4"/>
            <ac:spMk id="567"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4"/>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4"/>
            <ac:picMk id="557"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84"/>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5"/>
        </pc:sldMkLst>
        <pc:spChg chg="mod">
          <ac:chgData name="Yussef mohamed Kamel Thabit" userId="S::yussef_thabit@rayacorp.com::345fcbbb-e931-4815-b0fe-d1ab2afb8134" providerId="AD" clId="Web-{192E9CA3-BF75-823A-33B2-CBBA409B4542}" dt="2026-07-10T21:33:07.844" v="1"/>
          <ac:spMkLst>
            <pc:docMk/>
            <pc:sldMk cId="0" sldId="285"/>
            <ac:spMk id="57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5"/>
            <ac:spMk id="587"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5"/>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5"/>
            <ac:picMk id="576"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6"/>
        </pc:sldMkLst>
        <pc:spChg chg="mod">
          <ac:chgData name="Yussef mohamed Kamel Thabit" userId="S::yussef_thabit@rayacorp.com::345fcbbb-e931-4815-b0fe-d1ab2afb8134" providerId="AD" clId="Web-{192E9CA3-BF75-823A-33B2-CBBA409B4542}" dt="2026-07-10T21:33:07.844" v="1"/>
          <ac:spMkLst>
            <pc:docMk/>
            <pc:sldMk cId="0" sldId="286"/>
            <ac:spMk id="59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59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59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59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59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59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60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6"/>
            <ac:spMk id="601"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6"/>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6"/>
            <ac:picMk id="593"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86"/>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7"/>
        </pc:sldMkLst>
        <pc:spChg chg="mod">
          <ac:chgData name="Yussef mohamed Kamel Thabit" userId="S::yussef_thabit@rayacorp.com::345fcbbb-e931-4815-b0fe-d1ab2afb8134" providerId="AD" clId="Web-{192E9CA3-BF75-823A-33B2-CBBA409B4542}" dt="2026-07-10T21:33:07.844" v="1"/>
          <ac:spMkLst>
            <pc:docMk/>
            <pc:sldMk cId="0" sldId="287"/>
            <ac:spMk id="61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7"/>
            <ac:spMk id="61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7"/>
            <ac:spMk id="61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7"/>
            <ac:spMk id="61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7"/>
            <ac:spMk id="61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7"/>
            <ac:spMk id="617"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7"/>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7"/>
            <ac:picMk id="611"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87"/>
            <ac:picMk id="9001" creationId="{00000000-0000-0000-0000-000000000000}"/>
          </ac:picMkLst>
        </pc:picChg>
      </pc:sldChg>
      <pc:sldChg chg="addSp delSp modSp mod modTransition setBg modShow">
        <pc:chgData name="Yussef mohamed Kamel Thabit" userId="S::yussef_thabit@rayacorp.com::345fcbbb-e931-4815-b0fe-d1ab2afb8134" providerId="AD" clId="Web-{192E9CA3-BF75-823A-33B2-CBBA409B4542}" dt="2026-07-10T21:33:07.844" v="1"/>
        <pc:sldMkLst>
          <pc:docMk/>
          <pc:sldMk cId="0" sldId="288"/>
        </pc:sldMkLst>
        <pc:spChg chg="mod">
          <ac:chgData name="Yussef mohamed Kamel Thabit" userId="S::yussef_thabit@rayacorp.com::345fcbbb-e931-4815-b0fe-d1ab2afb8134" providerId="AD" clId="Web-{192E9CA3-BF75-823A-33B2-CBBA409B4542}" dt="2026-07-10T21:33:07.844" v="1"/>
          <ac:spMkLst>
            <pc:docMk/>
            <pc:sldMk cId="0" sldId="288"/>
            <ac:spMk id="62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8"/>
            <ac:spMk id="62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8"/>
            <ac:spMk id="62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8"/>
            <ac:spMk id="62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8"/>
            <ac:spMk id="628"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8"/>
            <ac:picMk id="623"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88"/>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89"/>
        </pc:sldMkLst>
        <pc:spChg chg="mod">
          <ac:chgData name="Yussef mohamed Kamel Thabit" userId="S::yussef_thabit@rayacorp.com::345fcbbb-e931-4815-b0fe-d1ab2afb8134" providerId="AD" clId="Web-{192E9CA3-BF75-823A-33B2-CBBA409B4542}" dt="2026-07-10T21:33:07.844" v="1"/>
          <ac:spMkLst>
            <pc:docMk/>
            <pc:sldMk cId="0" sldId="289"/>
            <ac:spMk id="63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3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3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4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4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4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4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4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89"/>
            <ac:spMk id="645"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89"/>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89"/>
            <ac:picMk id="634"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0"/>
        </pc:sldMkLst>
        <pc:spChg chg="mod">
          <ac:chgData name="Yussef mohamed Kamel Thabit" userId="S::yussef_thabit@rayacorp.com::345fcbbb-e931-4815-b0fe-d1ab2afb8134" providerId="AD" clId="Web-{192E9CA3-BF75-823A-33B2-CBBA409B4542}" dt="2026-07-10T21:33:07.844" v="1"/>
          <ac:spMkLst>
            <pc:docMk/>
            <pc:sldMk cId="0" sldId="290"/>
            <ac:spMk id="65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0"/>
            <ac:spMk id="659"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0"/>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0"/>
            <ac:picMk id="651"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90"/>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1"/>
        </pc:sldMkLst>
        <pc:spChg chg="mod">
          <ac:chgData name="Yussef mohamed Kamel Thabit" userId="S::yussef_thabit@rayacorp.com::345fcbbb-e931-4815-b0fe-d1ab2afb8134" providerId="AD" clId="Web-{192E9CA3-BF75-823A-33B2-CBBA409B4542}" dt="2026-07-10T21:33:07.844" v="1"/>
          <ac:spMkLst>
            <pc:docMk/>
            <pc:sldMk cId="0" sldId="291"/>
            <ac:spMk id="66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1"/>
            <ac:spMk id="677"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1"/>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1"/>
            <ac:picMk id="667" creationId="{00000000-0000-0000-0000-000000000000}"/>
          </ac:picMkLst>
        </pc:picChg>
        <pc:picChg chg="add">
          <ac:chgData name="Yussef mohamed Kamel Thabit" userId="S::yussef_thabit@rayacorp.com::345fcbbb-e931-4815-b0fe-d1ab2afb8134" providerId="AD" clId="Web-{192E9CA3-BF75-823A-33B2-CBBA409B4542}" dt="2026-07-10T21:33:07.844" v="1"/>
          <ac:picMkLst>
            <pc:docMk/>
            <pc:sldMk cId="0" sldId="291"/>
            <ac:picMk id="90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2"/>
        </pc:sldMkLst>
        <pc:spChg chg="mod">
          <ac:chgData name="Yussef mohamed Kamel Thabit" userId="S::yussef_thabit@rayacorp.com::345fcbbb-e931-4815-b0fe-d1ab2afb8134" providerId="AD" clId="Web-{192E9CA3-BF75-823A-33B2-CBBA409B4542}" dt="2026-07-10T21:33:07.844" v="1"/>
          <ac:spMkLst>
            <pc:docMk/>
            <pc:sldMk cId="0" sldId="292"/>
            <ac:spMk id="69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2"/>
            <ac:spMk id="698"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2"/>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2"/>
            <ac:picMk id="686"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92"/>
            <ac:picMk id="701"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3"/>
        </pc:sldMkLst>
        <pc:spChg chg="mod">
          <ac:chgData name="Yussef mohamed Kamel Thabit" userId="S::yussef_thabit@rayacorp.com::345fcbbb-e931-4815-b0fe-d1ab2afb8134" providerId="AD" clId="Web-{192E9CA3-BF75-823A-33B2-CBBA409B4542}" dt="2026-07-10T21:33:07.844" v="1"/>
          <ac:spMkLst>
            <pc:docMk/>
            <pc:sldMk cId="0" sldId="293"/>
            <ac:spMk id="71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1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3"/>
            <ac:spMk id="720"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3"/>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3"/>
            <ac:picMk id="709"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4"/>
        </pc:sldMkLst>
        <pc:spChg chg="mod">
          <ac:chgData name="Yussef mohamed Kamel Thabit" userId="S::yussef_thabit@rayacorp.com::345fcbbb-e931-4815-b0fe-d1ab2afb8134" providerId="AD" clId="Web-{192E9CA3-BF75-823A-33B2-CBBA409B4542}" dt="2026-07-10T21:33:07.844" v="1"/>
          <ac:spMkLst>
            <pc:docMk/>
            <pc:sldMk cId="0" sldId="294"/>
            <ac:spMk id="72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2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2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3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3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3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3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4"/>
            <ac:spMk id="734"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4"/>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4"/>
            <ac:picMk id="726" creationId="{00000000-0000-0000-0000-000000000000}"/>
          </ac:picMkLst>
        </pc:picChg>
        <pc:picChg chg="mod">
          <ac:chgData name="Yussef mohamed Kamel Thabit" userId="S::yussef_thabit@rayacorp.com::345fcbbb-e931-4815-b0fe-d1ab2afb8134" providerId="AD" clId="Web-{192E9CA3-BF75-823A-33B2-CBBA409B4542}" dt="2026-07-10T21:33:07.844" v="1"/>
          <ac:picMkLst>
            <pc:docMk/>
            <pc:sldMk cId="0" sldId="294"/>
            <ac:picMk id="737"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5"/>
        </pc:sldMkLst>
        <pc:spChg chg="mod">
          <ac:chgData name="Yussef mohamed Kamel Thabit" userId="S::yussef_thabit@rayacorp.com::345fcbbb-e931-4815-b0fe-d1ab2afb8134" providerId="AD" clId="Web-{192E9CA3-BF75-823A-33B2-CBBA409B4542}" dt="2026-07-10T21:33:07.844" v="1"/>
          <ac:spMkLst>
            <pc:docMk/>
            <pc:sldMk cId="0" sldId="295"/>
            <ac:spMk id="74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7"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5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5"/>
            <ac:spMk id="761"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5"/>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5"/>
            <ac:picMk id="743"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95"/>
            <ac:picMk id="744"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6"/>
        </pc:sldMkLst>
        <pc:spChg chg="mod">
          <ac:chgData name="Yussef mohamed Kamel Thabit" userId="S::yussef_thabit@rayacorp.com::345fcbbb-e931-4815-b0fe-d1ab2afb8134" providerId="AD" clId="Web-{192E9CA3-BF75-823A-33B2-CBBA409B4542}" dt="2026-07-10T21:33:07.844" v="1"/>
          <ac:spMkLst>
            <pc:docMk/>
            <pc:sldMk cId="0" sldId="296"/>
            <ac:spMk id="77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7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7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7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7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7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7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80"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6"/>
            <ac:spMk id="781"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6"/>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6"/>
            <ac:picMk id="767"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96"/>
            <ac:picMk id="782" creationId="{00000000-0000-0000-0000-000000000000}"/>
          </ac:picMkLst>
        </pc:picChg>
      </pc:sldChg>
      <pc:sldChg chg="addSp modSp mod modTransition modShow">
        <pc:chgData name="Yussef mohamed Kamel Thabit" userId="S::yussef_thabit@rayacorp.com::345fcbbb-e931-4815-b0fe-d1ab2afb8134" providerId="AD" clId="Web-{192E9CA3-BF75-823A-33B2-CBBA409B4542}" dt="2026-07-10T21:33:07.844" v="1"/>
        <pc:sldMkLst>
          <pc:docMk/>
          <pc:sldMk cId="0" sldId="297"/>
        </pc:sldMkLst>
        <pc:spChg chg="mod">
          <ac:chgData name="Yussef mohamed Kamel Thabit" userId="S::yussef_thabit@rayacorp.com::345fcbbb-e931-4815-b0fe-d1ab2afb8134" providerId="AD" clId="Web-{192E9CA3-BF75-823A-33B2-CBBA409B4542}" dt="2026-07-10T21:33:07.844" v="1"/>
          <ac:spMkLst>
            <pc:docMk/>
            <pc:sldMk cId="0" sldId="297"/>
            <ac:spMk id="794"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795"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796"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798"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799"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801"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802"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803" creationId="{00000000-0000-0000-0000-000000000000}"/>
          </ac:spMkLst>
        </pc:spChg>
        <pc:spChg chg="mod">
          <ac:chgData name="Yussef mohamed Kamel Thabit" userId="S::yussef_thabit@rayacorp.com::345fcbbb-e931-4815-b0fe-d1ab2afb8134" providerId="AD" clId="Web-{192E9CA3-BF75-823A-33B2-CBBA409B4542}" dt="2026-07-10T21:33:07.844" v="1"/>
          <ac:spMkLst>
            <pc:docMk/>
            <pc:sldMk cId="0" sldId="297"/>
            <ac:spMk id="804" creationId="{00000000-0000-0000-0000-000000000000}"/>
          </ac:spMkLst>
        </pc:spChg>
        <pc:spChg chg="add">
          <ac:chgData name="Yussef mohamed Kamel Thabit" userId="S::yussef_thabit@rayacorp.com::345fcbbb-e931-4815-b0fe-d1ab2afb8134" providerId="AD" clId="Web-{192E9CA3-BF75-823A-33B2-CBBA409B4542}" dt="2026-07-10T21:33:07.844" v="1"/>
          <ac:spMkLst>
            <pc:docMk/>
            <pc:sldMk cId="0" sldId="297"/>
            <ac:spMk id="9002" creationId="{00000000-0000-0000-0000-000000000000}"/>
          </ac:spMkLst>
        </pc:spChg>
        <pc:picChg chg="mod">
          <ac:chgData name="Yussef mohamed Kamel Thabit" userId="S::yussef_thabit@rayacorp.com::345fcbbb-e931-4815-b0fe-d1ab2afb8134" providerId="AD" clId="Web-{192E9CA3-BF75-823A-33B2-CBBA409B4542}" dt="2026-07-10T21:11:46.246" v="0"/>
          <ac:picMkLst>
            <pc:docMk/>
            <pc:sldMk cId="0" sldId="297"/>
            <ac:picMk id="790" creationId="{00000000-0000-0000-0000-000000000000}"/>
          </ac:picMkLst>
        </pc:picChg>
        <pc:picChg chg="mod">
          <ac:chgData name="Yussef mohamed Kamel Thabit" userId="S::yussef_thabit@rayacorp.com::345fcbbb-e931-4815-b0fe-d1ab2afb8134" providerId="AD" clId="Web-{192E9CA3-BF75-823A-33B2-CBBA409B4542}" dt="2026-07-10T21:11:46.246" v="0"/>
          <ac:picMkLst>
            <pc:docMk/>
            <pc:sldMk cId="0" sldId="297"/>
            <ac:picMk id="805" creationId="{00000000-0000-0000-0000-000000000000}"/>
          </ac:picMkLst>
        </pc:picChg>
      </pc:sldChg>
    </pc:docChg>
  </pc:docChgLst>
  <pc:docChgLst>
    <pc:chgData name="Yussef mohamed Kamel Thabit" userId="S::yussef_thabit@rayacorp.com::345fcbbb-e931-4815-b0fe-d1ab2afb8134" providerId="AD" clId="Web-{85CB827B-4778-AA1F-DBA7-1C26415E11AD}"/>
    <pc:docChg chg="modSld">
      <pc:chgData name="Yussef mohamed Kamel Thabit" userId="S::yussef_thabit@rayacorp.com::345fcbbb-e931-4815-b0fe-d1ab2afb8134" providerId="AD" clId="Web-{85CB827B-4778-AA1F-DBA7-1C26415E11AD}" dt="2026-07-11T21:32:32.614" v="22" actId="14100"/>
      <pc:docMkLst>
        <pc:docMk/>
      </pc:docMkLst>
      <pc:sldChg chg="addSp delSp modSp">
        <pc:chgData name="Yussef mohamed Kamel Thabit" userId="S::yussef_thabit@rayacorp.com::345fcbbb-e931-4815-b0fe-d1ab2afb8134" providerId="AD" clId="Web-{85CB827B-4778-AA1F-DBA7-1C26415E11AD}" dt="2026-07-11T21:30:25.667" v="21" actId="14100"/>
        <pc:sldMkLst>
          <pc:docMk/>
          <pc:sldMk cId="0" sldId="271"/>
        </pc:sldMkLst>
        <pc:picChg chg="add mod">
          <ac:chgData name="Yussef mohamed Kamel Thabit" userId="S::yussef_thabit@rayacorp.com::345fcbbb-e931-4815-b0fe-d1ab2afb8134" providerId="AD" clId="Web-{85CB827B-4778-AA1F-DBA7-1C26415E11AD}" dt="2026-07-11T21:30:25.667" v="21" actId="14100"/>
          <ac:picMkLst>
            <pc:docMk/>
            <pc:sldMk cId="0" sldId="271"/>
            <ac:picMk id="2" creationId="{4BAAA28F-68CE-0E2F-D2CC-FFEEBEC43F6D}"/>
          </ac:picMkLst>
        </pc:picChg>
        <pc:picChg chg="del">
          <ac:chgData name="Yussef mohamed Kamel Thabit" userId="S::yussef_thabit@rayacorp.com::345fcbbb-e931-4815-b0fe-d1ab2afb8134" providerId="AD" clId="Web-{85CB827B-4778-AA1F-DBA7-1C26415E11AD}" dt="2026-07-11T21:29:36.772" v="15"/>
          <ac:picMkLst>
            <pc:docMk/>
            <pc:sldMk cId="0" sldId="271"/>
            <ac:picMk id="337" creationId="{00000000-0000-0000-0000-000000000000}"/>
          </ac:picMkLst>
        </pc:picChg>
      </pc:sldChg>
      <pc:sldChg chg="addSp delSp modSp">
        <pc:chgData name="Yussef mohamed Kamel Thabit" userId="S::yussef_thabit@rayacorp.com::345fcbbb-e931-4815-b0fe-d1ab2afb8134" providerId="AD" clId="Web-{85CB827B-4778-AA1F-DBA7-1C26415E11AD}" dt="2026-07-11T21:27:26.808" v="14" actId="1076"/>
        <pc:sldMkLst>
          <pc:docMk/>
          <pc:sldMk cId="0" sldId="272"/>
        </pc:sldMkLst>
        <pc:picChg chg="add mod">
          <ac:chgData name="Yussef mohamed Kamel Thabit" userId="S::yussef_thabit@rayacorp.com::345fcbbb-e931-4815-b0fe-d1ab2afb8134" providerId="AD" clId="Web-{85CB827B-4778-AA1F-DBA7-1C26415E11AD}" dt="2026-07-11T21:27:26.808" v="14" actId="1076"/>
          <ac:picMkLst>
            <pc:docMk/>
            <pc:sldMk cId="0" sldId="272"/>
            <ac:picMk id="2" creationId="{3E24146D-32C4-FFC5-CAAB-B19680653D21}"/>
          </ac:picMkLst>
        </pc:picChg>
        <pc:picChg chg="del">
          <ac:chgData name="Yussef mohamed Kamel Thabit" userId="S::yussef_thabit@rayacorp.com::345fcbbb-e931-4815-b0fe-d1ab2afb8134" providerId="AD" clId="Web-{85CB827B-4778-AA1F-DBA7-1C26415E11AD}" dt="2026-07-11T21:27:02.103" v="10"/>
          <ac:picMkLst>
            <pc:docMk/>
            <pc:sldMk cId="0" sldId="272"/>
            <ac:picMk id="354" creationId="{00000000-0000-0000-0000-000000000000}"/>
          </ac:picMkLst>
        </pc:picChg>
      </pc:sldChg>
      <pc:sldChg chg="addSp delSp modSp">
        <pc:chgData name="Yussef mohamed Kamel Thabit" userId="S::yussef_thabit@rayacorp.com::345fcbbb-e931-4815-b0fe-d1ab2afb8134" providerId="AD" clId="Web-{85CB827B-4778-AA1F-DBA7-1C26415E11AD}" dt="2026-07-11T21:32:32.614" v="22" actId="14100"/>
        <pc:sldMkLst>
          <pc:docMk/>
          <pc:sldMk cId="0" sldId="273"/>
        </pc:sldMkLst>
        <pc:picChg chg="add mod modCrop">
          <ac:chgData name="Yussef mohamed Kamel Thabit" userId="S::yussef_thabit@rayacorp.com::345fcbbb-e931-4815-b0fe-d1ab2afb8134" providerId="AD" clId="Web-{85CB827B-4778-AA1F-DBA7-1C26415E11AD}" dt="2026-07-11T21:32:32.614" v="22" actId="14100"/>
          <ac:picMkLst>
            <pc:docMk/>
            <pc:sldMk cId="0" sldId="273"/>
            <ac:picMk id="2" creationId="{95118B5D-BF8C-8A22-61B1-9A0407477846}"/>
          </ac:picMkLst>
        </pc:picChg>
        <pc:picChg chg="del">
          <ac:chgData name="Yussef mohamed Kamel Thabit" userId="S::yussef_thabit@rayacorp.com::345fcbbb-e931-4815-b0fe-d1ab2afb8134" providerId="AD" clId="Web-{85CB827B-4778-AA1F-DBA7-1C26415E11AD}" dt="2026-07-11T21:26:23.053" v="2"/>
          <ac:picMkLst>
            <pc:docMk/>
            <pc:sldMk cId="0" sldId="273"/>
            <ac:picMk id="371" creationId="{00000000-0000-0000-0000-000000000000}"/>
          </ac:picMkLst>
        </pc:picChg>
      </pc:sldChg>
    </pc:docChg>
  </pc:docChgLst>
  <pc:docChgLst>
    <pc:chgData name="Yussef mohamed Kamel Thabit" userId="S::yussef_thabit@rayacorp.com::345fcbbb-e931-4815-b0fe-d1ab2afb8134" providerId="AD" clId="Web-{B8CAFDC9-FB40-BD0F-21A0-2D540B0F0597}"/>
    <pc:docChg chg="addSld modSld">
      <pc:chgData name="Yussef mohamed Kamel Thabit" userId="S::yussef_thabit@rayacorp.com::345fcbbb-e931-4815-b0fe-d1ab2afb8134" providerId="AD" clId="Web-{B8CAFDC9-FB40-BD0F-21A0-2D540B0F0597}" dt="2026-07-12T07:00:19.218" v="5"/>
      <pc:docMkLst>
        <pc:docMk/>
      </pc:docMkLst>
      <pc:sldChg chg="mod modShow">
        <pc:chgData name="Yussef mohamed Kamel Thabit" userId="S::yussef_thabit@rayacorp.com::345fcbbb-e931-4815-b0fe-d1ab2afb8134" providerId="AD" clId="Web-{B8CAFDC9-FB40-BD0F-21A0-2D540B0F0597}" dt="2026-07-12T07:00:19.218" v="5"/>
        <pc:sldMkLst>
          <pc:docMk/>
          <pc:sldMk cId="0" sldId="296"/>
        </pc:sldMkLst>
      </pc:sldChg>
      <pc:sldChg chg="mod modShow">
        <pc:chgData name="Yussef mohamed Kamel Thabit" userId="S::yussef_thabit@rayacorp.com::345fcbbb-e931-4815-b0fe-d1ab2afb8134" providerId="AD" clId="Web-{B8CAFDC9-FB40-BD0F-21A0-2D540B0F0597}" dt="2026-07-12T07:00:18.953" v="4"/>
        <pc:sldMkLst>
          <pc:docMk/>
          <pc:sldMk cId="0" sldId="297"/>
        </pc:sldMkLst>
      </pc:sldChg>
      <pc:sldChg chg="add">
        <pc:chgData name="Yussef mohamed Kamel Thabit" userId="S::yussef_thabit@rayacorp.com::345fcbbb-e931-4815-b0fe-d1ab2afb8134" providerId="AD" clId="Web-{B8CAFDC9-FB40-BD0F-21A0-2D540B0F0597}" dt="2026-07-12T06:59:55.967" v="0"/>
        <pc:sldMkLst>
          <pc:docMk/>
          <pc:sldMk cId="1876101758" sldId="397"/>
        </pc:sldMkLst>
      </pc:sldChg>
      <pc:sldChg chg="add">
        <pc:chgData name="Yussef mohamed Kamel Thabit" userId="S::yussef_thabit@rayacorp.com::345fcbbb-e931-4815-b0fe-d1ab2afb8134" providerId="AD" clId="Web-{B8CAFDC9-FB40-BD0F-21A0-2D540B0F0597}" dt="2026-07-12T06:59:56.030" v="1"/>
        <pc:sldMkLst>
          <pc:docMk/>
          <pc:sldMk cId="3704577695" sldId="398"/>
        </pc:sldMkLst>
      </pc:sldChg>
      <pc:sldChg chg="add">
        <pc:chgData name="Yussef mohamed Kamel Thabit" userId="S::yussef_thabit@rayacorp.com::345fcbbb-e931-4815-b0fe-d1ab2afb8134" providerId="AD" clId="Web-{B8CAFDC9-FB40-BD0F-21A0-2D540B0F0597}" dt="2026-07-12T06:59:56.155" v="2"/>
        <pc:sldMkLst>
          <pc:docMk/>
          <pc:sldMk cId="4031982186" sldId="401"/>
        </pc:sldMkLst>
      </pc:sldChg>
      <pc:sldChg chg="add">
        <pc:chgData name="Yussef mohamed Kamel Thabit" userId="S::yussef_thabit@rayacorp.com::345fcbbb-e931-4815-b0fe-d1ab2afb8134" providerId="AD" clId="Web-{B8CAFDC9-FB40-BD0F-21A0-2D540B0F0597}" dt="2026-07-12T06:59:56.233" v="3"/>
        <pc:sldMkLst>
          <pc:docMk/>
          <pc:sldMk cId="3084340026" sldId="402"/>
        </pc:sldMkLst>
      </pc:sldChg>
    </pc:docChg>
  </pc:docChgLst>
  <pc:docChgLst>
    <pc:chgData name="Yussef mohamed Kamel Thabit" userId="S::yussef_thabit@rayacorp.com::345fcbbb-e931-4815-b0fe-d1ab2afb8134" providerId="AD" clId="Web-{1BC8673E-7D54-3953-EFD5-C8ED4A06E8DE}"/>
    <pc:docChg chg="addSld delSld modSld sldOrd">
      <pc:chgData name="Yussef mohamed Kamel Thabit" userId="S::yussef_thabit@rayacorp.com::345fcbbb-e931-4815-b0fe-d1ab2afb8134" providerId="AD" clId="Web-{1BC8673E-7D54-3953-EFD5-C8ED4A06E8DE}" dt="2026-07-10T21:13:21.187" v="56"/>
      <pc:docMkLst>
        <pc:docMk/>
      </pc:docMkLst>
      <pc:sldChg chg="mod modShow">
        <pc:chgData name="Yussef mohamed Kamel Thabit" userId="S::yussef_thabit@rayacorp.com::345fcbbb-e931-4815-b0fe-d1ab2afb8134" providerId="AD" clId="Web-{1BC8673E-7D54-3953-EFD5-C8ED4A06E8DE}" dt="2026-07-10T21:13:21.016" v="55"/>
        <pc:sldMkLst>
          <pc:docMk/>
          <pc:sldMk cId="0" sldId="256"/>
        </pc:sldMkLst>
      </pc:sldChg>
      <pc:sldChg chg="mod modShow">
        <pc:chgData name="Yussef mohamed Kamel Thabit" userId="S::yussef_thabit@rayacorp.com::345fcbbb-e931-4815-b0fe-d1ab2afb8134" providerId="AD" clId="Web-{1BC8673E-7D54-3953-EFD5-C8ED4A06E8DE}" dt="2026-07-10T21:13:21.187" v="56"/>
        <pc:sldMkLst>
          <pc:docMk/>
          <pc:sldMk cId="0" sldId="258"/>
        </pc:sldMkLst>
      </pc:sldChg>
      <pc:sldChg chg="mod modShow">
        <pc:chgData name="Yussef mohamed Kamel Thabit" userId="S::yussef_thabit@rayacorp.com::345fcbbb-e931-4815-b0fe-d1ab2afb8134" providerId="AD" clId="Web-{1BC8673E-7D54-3953-EFD5-C8ED4A06E8DE}" dt="2026-07-10T21:13:12.062" v="16"/>
        <pc:sldMkLst>
          <pc:docMk/>
          <pc:sldMk cId="0" sldId="259"/>
        </pc:sldMkLst>
      </pc:sldChg>
      <pc:sldChg chg="mod modShow">
        <pc:chgData name="Yussef mohamed Kamel Thabit" userId="S::yussef_thabit@rayacorp.com::345fcbbb-e931-4815-b0fe-d1ab2afb8134" providerId="AD" clId="Web-{1BC8673E-7D54-3953-EFD5-C8ED4A06E8DE}" dt="2026-07-10T21:13:12.328" v="17"/>
        <pc:sldMkLst>
          <pc:docMk/>
          <pc:sldMk cId="0" sldId="260"/>
        </pc:sldMkLst>
      </pc:sldChg>
      <pc:sldChg chg="mod modShow">
        <pc:chgData name="Yussef mohamed Kamel Thabit" userId="S::yussef_thabit@rayacorp.com::345fcbbb-e931-4815-b0fe-d1ab2afb8134" providerId="AD" clId="Web-{1BC8673E-7D54-3953-EFD5-C8ED4A06E8DE}" dt="2026-07-10T21:13:12.625" v="18"/>
        <pc:sldMkLst>
          <pc:docMk/>
          <pc:sldMk cId="0" sldId="261"/>
        </pc:sldMkLst>
      </pc:sldChg>
      <pc:sldChg chg="mod modShow">
        <pc:chgData name="Yussef mohamed Kamel Thabit" userId="S::yussef_thabit@rayacorp.com::345fcbbb-e931-4815-b0fe-d1ab2afb8134" providerId="AD" clId="Web-{1BC8673E-7D54-3953-EFD5-C8ED4A06E8DE}" dt="2026-07-10T21:13:12.843" v="19"/>
        <pc:sldMkLst>
          <pc:docMk/>
          <pc:sldMk cId="0" sldId="262"/>
        </pc:sldMkLst>
      </pc:sldChg>
      <pc:sldChg chg="mod modShow">
        <pc:chgData name="Yussef mohamed Kamel Thabit" userId="S::yussef_thabit@rayacorp.com::345fcbbb-e931-4815-b0fe-d1ab2afb8134" providerId="AD" clId="Web-{1BC8673E-7D54-3953-EFD5-C8ED4A06E8DE}" dt="2026-07-10T21:13:13.078" v="20"/>
        <pc:sldMkLst>
          <pc:docMk/>
          <pc:sldMk cId="0" sldId="263"/>
        </pc:sldMkLst>
      </pc:sldChg>
      <pc:sldChg chg="mod modShow">
        <pc:chgData name="Yussef mohamed Kamel Thabit" userId="S::yussef_thabit@rayacorp.com::345fcbbb-e931-4815-b0fe-d1ab2afb8134" providerId="AD" clId="Web-{1BC8673E-7D54-3953-EFD5-C8ED4A06E8DE}" dt="2026-07-10T21:13:13.343" v="21"/>
        <pc:sldMkLst>
          <pc:docMk/>
          <pc:sldMk cId="0" sldId="264"/>
        </pc:sldMkLst>
      </pc:sldChg>
      <pc:sldChg chg="mod modShow">
        <pc:chgData name="Yussef mohamed Kamel Thabit" userId="S::yussef_thabit@rayacorp.com::345fcbbb-e931-4815-b0fe-d1ab2afb8134" providerId="AD" clId="Web-{1BC8673E-7D54-3953-EFD5-C8ED4A06E8DE}" dt="2026-07-10T21:13:13.578" v="22"/>
        <pc:sldMkLst>
          <pc:docMk/>
          <pc:sldMk cId="0" sldId="265"/>
        </pc:sldMkLst>
      </pc:sldChg>
      <pc:sldChg chg="mod modShow">
        <pc:chgData name="Yussef mohamed Kamel Thabit" userId="S::yussef_thabit@rayacorp.com::345fcbbb-e931-4815-b0fe-d1ab2afb8134" providerId="AD" clId="Web-{1BC8673E-7D54-3953-EFD5-C8ED4A06E8DE}" dt="2026-07-10T21:13:13.812" v="23"/>
        <pc:sldMkLst>
          <pc:docMk/>
          <pc:sldMk cId="0" sldId="266"/>
        </pc:sldMkLst>
      </pc:sldChg>
      <pc:sldChg chg="mod modShow">
        <pc:chgData name="Yussef mohamed Kamel Thabit" userId="S::yussef_thabit@rayacorp.com::345fcbbb-e931-4815-b0fe-d1ab2afb8134" providerId="AD" clId="Web-{1BC8673E-7D54-3953-EFD5-C8ED4A06E8DE}" dt="2026-07-10T21:13:14.015" v="24"/>
        <pc:sldMkLst>
          <pc:docMk/>
          <pc:sldMk cId="0" sldId="267"/>
        </pc:sldMkLst>
      </pc:sldChg>
      <pc:sldChg chg="mod modShow">
        <pc:chgData name="Yussef mohamed Kamel Thabit" userId="S::yussef_thabit@rayacorp.com::345fcbbb-e931-4815-b0fe-d1ab2afb8134" providerId="AD" clId="Web-{1BC8673E-7D54-3953-EFD5-C8ED4A06E8DE}" dt="2026-07-10T21:13:14.203" v="25"/>
        <pc:sldMkLst>
          <pc:docMk/>
          <pc:sldMk cId="0" sldId="268"/>
        </pc:sldMkLst>
      </pc:sldChg>
      <pc:sldChg chg="mod modShow">
        <pc:chgData name="Yussef mohamed Kamel Thabit" userId="S::yussef_thabit@rayacorp.com::345fcbbb-e931-4815-b0fe-d1ab2afb8134" providerId="AD" clId="Web-{1BC8673E-7D54-3953-EFD5-C8ED4A06E8DE}" dt="2026-07-10T21:13:14.437" v="26"/>
        <pc:sldMkLst>
          <pc:docMk/>
          <pc:sldMk cId="0" sldId="269"/>
        </pc:sldMkLst>
      </pc:sldChg>
      <pc:sldChg chg="mod modShow">
        <pc:chgData name="Yussef mohamed Kamel Thabit" userId="S::yussef_thabit@rayacorp.com::345fcbbb-e931-4815-b0fe-d1ab2afb8134" providerId="AD" clId="Web-{1BC8673E-7D54-3953-EFD5-C8ED4A06E8DE}" dt="2026-07-10T21:13:14.640" v="27"/>
        <pc:sldMkLst>
          <pc:docMk/>
          <pc:sldMk cId="0" sldId="270"/>
        </pc:sldMkLst>
      </pc:sldChg>
      <pc:sldChg chg="mod modShow">
        <pc:chgData name="Yussef mohamed Kamel Thabit" userId="S::yussef_thabit@rayacorp.com::345fcbbb-e931-4815-b0fe-d1ab2afb8134" providerId="AD" clId="Web-{1BC8673E-7D54-3953-EFD5-C8ED4A06E8DE}" dt="2026-07-10T21:13:14.859" v="28"/>
        <pc:sldMkLst>
          <pc:docMk/>
          <pc:sldMk cId="0" sldId="271"/>
        </pc:sldMkLst>
      </pc:sldChg>
      <pc:sldChg chg="mod modShow">
        <pc:chgData name="Yussef mohamed Kamel Thabit" userId="S::yussef_thabit@rayacorp.com::345fcbbb-e931-4815-b0fe-d1ab2afb8134" providerId="AD" clId="Web-{1BC8673E-7D54-3953-EFD5-C8ED4A06E8DE}" dt="2026-07-10T21:13:15.078" v="29"/>
        <pc:sldMkLst>
          <pc:docMk/>
          <pc:sldMk cId="0" sldId="272"/>
        </pc:sldMkLst>
      </pc:sldChg>
      <pc:sldChg chg="mod modShow">
        <pc:chgData name="Yussef mohamed Kamel Thabit" userId="S::yussef_thabit@rayacorp.com::345fcbbb-e931-4815-b0fe-d1ab2afb8134" providerId="AD" clId="Web-{1BC8673E-7D54-3953-EFD5-C8ED4A06E8DE}" dt="2026-07-10T21:13:15.281" v="30"/>
        <pc:sldMkLst>
          <pc:docMk/>
          <pc:sldMk cId="0" sldId="273"/>
        </pc:sldMkLst>
      </pc:sldChg>
      <pc:sldChg chg="mod modShow">
        <pc:chgData name="Yussef mohamed Kamel Thabit" userId="S::yussef_thabit@rayacorp.com::345fcbbb-e931-4815-b0fe-d1ab2afb8134" providerId="AD" clId="Web-{1BC8673E-7D54-3953-EFD5-C8ED4A06E8DE}" dt="2026-07-10T21:13:15.578" v="31"/>
        <pc:sldMkLst>
          <pc:docMk/>
          <pc:sldMk cId="0" sldId="274"/>
        </pc:sldMkLst>
      </pc:sldChg>
      <pc:sldChg chg="mod modShow">
        <pc:chgData name="Yussef mohamed Kamel Thabit" userId="S::yussef_thabit@rayacorp.com::345fcbbb-e931-4815-b0fe-d1ab2afb8134" providerId="AD" clId="Web-{1BC8673E-7D54-3953-EFD5-C8ED4A06E8DE}" dt="2026-07-10T21:13:15.765" v="32"/>
        <pc:sldMkLst>
          <pc:docMk/>
          <pc:sldMk cId="0" sldId="275"/>
        </pc:sldMkLst>
      </pc:sldChg>
      <pc:sldChg chg="mod modShow">
        <pc:chgData name="Yussef mohamed Kamel Thabit" userId="S::yussef_thabit@rayacorp.com::345fcbbb-e931-4815-b0fe-d1ab2afb8134" providerId="AD" clId="Web-{1BC8673E-7D54-3953-EFD5-C8ED4A06E8DE}" dt="2026-07-10T21:13:15.953" v="33"/>
        <pc:sldMkLst>
          <pc:docMk/>
          <pc:sldMk cId="0" sldId="276"/>
        </pc:sldMkLst>
      </pc:sldChg>
      <pc:sldChg chg="mod modShow">
        <pc:chgData name="Yussef mohamed Kamel Thabit" userId="S::yussef_thabit@rayacorp.com::345fcbbb-e931-4815-b0fe-d1ab2afb8134" providerId="AD" clId="Web-{1BC8673E-7D54-3953-EFD5-C8ED4A06E8DE}" dt="2026-07-10T21:13:16.187" v="34"/>
        <pc:sldMkLst>
          <pc:docMk/>
          <pc:sldMk cId="0" sldId="277"/>
        </pc:sldMkLst>
      </pc:sldChg>
      <pc:sldChg chg="mod modShow">
        <pc:chgData name="Yussef mohamed Kamel Thabit" userId="S::yussef_thabit@rayacorp.com::345fcbbb-e931-4815-b0fe-d1ab2afb8134" providerId="AD" clId="Web-{1BC8673E-7D54-3953-EFD5-C8ED4A06E8DE}" dt="2026-07-10T21:13:16.375" v="35"/>
        <pc:sldMkLst>
          <pc:docMk/>
          <pc:sldMk cId="0" sldId="278"/>
        </pc:sldMkLst>
      </pc:sldChg>
      <pc:sldChg chg="mod modShow">
        <pc:chgData name="Yussef mohamed Kamel Thabit" userId="S::yussef_thabit@rayacorp.com::345fcbbb-e931-4815-b0fe-d1ab2afb8134" providerId="AD" clId="Web-{1BC8673E-7D54-3953-EFD5-C8ED4A06E8DE}" dt="2026-07-10T21:13:16.672" v="36"/>
        <pc:sldMkLst>
          <pc:docMk/>
          <pc:sldMk cId="0" sldId="279"/>
        </pc:sldMkLst>
      </pc:sldChg>
      <pc:sldChg chg="mod modShow">
        <pc:chgData name="Yussef mohamed Kamel Thabit" userId="S::yussef_thabit@rayacorp.com::345fcbbb-e931-4815-b0fe-d1ab2afb8134" providerId="AD" clId="Web-{1BC8673E-7D54-3953-EFD5-C8ED4A06E8DE}" dt="2026-07-10T21:13:16.906" v="37"/>
        <pc:sldMkLst>
          <pc:docMk/>
          <pc:sldMk cId="0" sldId="280"/>
        </pc:sldMkLst>
      </pc:sldChg>
      <pc:sldChg chg="mod modShow">
        <pc:chgData name="Yussef mohamed Kamel Thabit" userId="S::yussef_thabit@rayacorp.com::345fcbbb-e931-4815-b0fe-d1ab2afb8134" providerId="AD" clId="Web-{1BC8673E-7D54-3953-EFD5-C8ED4A06E8DE}" dt="2026-07-10T21:13:17.140" v="38"/>
        <pc:sldMkLst>
          <pc:docMk/>
          <pc:sldMk cId="0" sldId="281"/>
        </pc:sldMkLst>
      </pc:sldChg>
      <pc:sldChg chg="mod modShow">
        <pc:chgData name="Yussef mohamed Kamel Thabit" userId="S::yussef_thabit@rayacorp.com::345fcbbb-e931-4815-b0fe-d1ab2afb8134" providerId="AD" clId="Web-{1BC8673E-7D54-3953-EFD5-C8ED4A06E8DE}" dt="2026-07-10T21:13:17.359" v="39"/>
        <pc:sldMkLst>
          <pc:docMk/>
          <pc:sldMk cId="0" sldId="282"/>
        </pc:sldMkLst>
      </pc:sldChg>
      <pc:sldChg chg="mod modShow">
        <pc:chgData name="Yussef mohamed Kamel Thabit" userId="S::yussef_thabit@rayacorp.com::345fcbbb-e931-4815-b0fe-d1ab2afb8134" providerId="AD" clId="Web-{1BC8673E-7D54-3953-EFD5-C8ED4A06E8DE}" dt="2026-07-10T21:13:17.562" v="40"/>
        <pc:sldMkLst>
          <pc:docMk/>
          <pc:sldMk cId="0" sldId="283"/>
        </pc:sldMkLst>
      </pc:sldChg>
      <pc:sldChg chg="mod modShow">
        <pc:chgData name="Yussef mohamed Kamel Thabit" userId="S::yussef_thabit@rayacorp.com::345fcbbb-e931-4815-b0fe-d1ab2afb8134" providerId="AD" clId="Web-{1BC8673E-7D54-3953-EFD5-C8ED4A06E8DE}" dt="2026-07-10T21:13:17.844" v="41"/>
        <pc:sldMkLst>
          <pc:docMk/>
          <pc:sldMk cId="0" sldId="284"/>
        </pc:sldMkLst>
      </pc:sldChg>
      <pc:sldChg chg="mod modShow">
        <pc:chgData name="Yussef mohamed Kamel Thabit" userId="S::yussef_thabit@rayacorp.com::345fcbbb-e931-4815-b0fe-d1ab2afb8134" providerId="AD" clId="Web-{1BC8673E-7D54-3953-EFD5-C8ED4A06E8DE}" dt="2026-07-10T21:13:18.062" v="42"/>
        <pc:sldMkLst>
          <pc:docMk/>
          <pc:sldMk cId="0" sldId="285"/>
        </pc:sldMkLst>
      </pc:sldChg>
      <pc:sldChg chg="mod modShow">
        <pc:chgData name="Yussef mohamed Kamel Thabit" userId="S::yussef_thabit@rayacorp.com::345fcbbb-e931-4815-b0fe-d1ab2afb8134" providerId="AD" clId="Web-{1BC8673E-7D54-3953-EFD5-C8ED4A06E8DE}" dt="2026-07-10T21:13:18.266" v="43"/>
        <pc:sldMkLst>
          <pc:docMk/>
          <pc:sldMk cId="0" sldId="286"/>
        </pc:sldMkLst>
      </pc:sldChg>
      <pc:sldChg chg="mod modShow">
        <pc:chgData name="Yussef mohamed Kamel Thabit" userId="S::yussef_thabit@rayacorp.com::345fcbbb-e931-4815-b0fe-d1ab2afb8134" providerId="AD" clId="Web-{1BC8673E-7D54-3953-EFD5-C8ED4A06E8DE}" dt="2026-07-10T21:13:18.547" v="44"/>
        <pc:sldMkLst>
          <pc:docMk/>
          <pc:sldMk cId="0" sldId="287"/>
        </pc:sldMkLst>
      </pc:sldChg>
      <pc:sldChg chg="mod modShow">
        <pc:chgData name="Yussef mohamed Kamel Thabit" userId="S::yussef_thabit@rayacorp.com::345fcbbb-e931-4815-b0fe-d1ab2afb8134" providerId="AD" clId="Web-{1BC8673E-7D54-3953-EFD5-C8ED4A06E8DE}" dt="2026-07-10T21:13:18.719" v="45"/>
        <pc:sldMkLst>
          <pc:docMk/>
          <pc:sldMk cId="0" sldId="288"/>
        </pc:sldMkLst>
      </pc:sldChg>
      <pc:sldChg chg="mod modShow">
        <pc:chgData name="Yussef mohamed Kamel Thabit" userId="S::yussef_thabit@rayacorp.com::345fcbbb-e931-4815-b0fe-d1ab2afb8134" providerId="AD" clId="Web-{1BC8673E-7D54-3953-EFD5-C8ED4A06E8DE}" dt="2026-07-10T21:13:18.953" v="46"/>
        <pc:sldMkLst>
          <pc:docMk/>
          <pc:sldMk cId="0" sldId="289"/>
        </pc:sldMkLst>
      </pc:sldChg>
      <pc:sldChg chg="mod modShow">
        <pc:chgData name="Yussef mohamed Kamel Thabit" userId="S::yussef_thabit@rayacorp.com::345fcbbb-e931-4815-b0fe-d1ab2afb8134" providerId="AD" clId="Web-{1BC8673E-7D54-3953-EFD5-C8ED4A06E8DE}" dt="2026-07-10T21:13:19.141" v="47"/>
        <pc:sldMkLst>
          <pc:docMk/>
          <pc:sldMk cId="0" sldId="290"/>
        </pc:sldMkLst>
      </pc:sldChg>
      <pc:sldChg chg="mod modShow">
        <pc:chgData name="Yussef mohamed Kamel Thabit" userId="S::yussef_thabit@rayacorp.com::345fcbbb-e931-4815-b0fe-d1ab2afb8134" providerId="AD" clId="Web-{1BC8673E-7D54-3953-EFD5-C8ED4A06E8DE}" dt="2026-07-10T21:13:19.437" v="48"/>
        <pc:sldMkLst>
          <pc:docMk/>
          <pc:sldMk cId="0" sldId="291"/>
        </pc:sldMkLst>
      </pc:sldChg>
      <pc:sldChg chg="mod modShow">
        <pc:chgData name="Yussef mohamed Kamel Thabit" userId="S::yussef_thabit@rayacorp.com::345fcbbb-e931-4815-b0fe-d1ab2afb8134" providerId="AD" clId="Web-{1BC8673E-7D54-3953-EFD5-C8ED4A06E8DE}" dt="2026-07-10T21:13:19.672" v="49"/>
        <pc:sldMkLst>
          <pc:docMk/>
          <pc:sldMk cId="0" sldId="292"/>
        </pc:sldMkLst>
      </pc:sldChg>
      <pc:sldChg chg="mod modShow">
        <pc:chgData name="Yussef mohamed Kamel Thabit" userId="S::yussef_thabit@rayacorp.com::345fcbbb-e931-4815-b0fe-d1ab2afb8134" providerId="AD" clId="Web-{1BC8673E-7D54-3953-EFD5-C8ED4A06E8DE}" dt="2026-07-10T21:13:19.906" v="50"/>
        <pc:sldMkLst>
          <pc:docMk/>
          <pc:sldMk cId="0" sldId="293"/>
        </pc:sldMkLst>
      </pc:sldChg>
      <pc:sldChg chg="mod modShow">
        <pc:chgData name="Yussef mohamed Kamel Thabit" userId="S::yussef_thabit@rayacorp.com::345fcbbb-e931-4815-b0fe-d1ab2afb8134" providerId="AD" clId="Web-{1BC8673E-7D54-3953-EFD5-C8ED4A06E8DE}" dt="2026-07-10T21:13:20.109" v="51"/>
        <pc:sldMkLst>
          <pc:docMk/>
          <pc:sldMk cId="0" sldId="294"/>
        </pc:sldMkLst>
      </pc:sldChg>
      <pc:sldChg chg="mod modShow">
        <pc:chgData name="Yussef mohamed Kamel Thabit" userId="S::yussef_thabit@rayacorp.com::345fcbbb-e931-4815-b0fe-d1ab2afb8134" providerId="AD" clId="Web-{1BC8673E-7D54-3953-EFD5-C8ED4A06E8DE}" dt="2026-07-10T21:13:20.312" v="52"/>
        <pc:sldMkLst>
          <pc:docMk/>
          <pc:sldMk cId="0" sldId="295"/>
        </pc:sldMkLst>
      </pc:sldChg>
      <pc:sldChg chg="mod modShow">
        <pc:chgData name="Yussef mohamed Kamel Thabit" userId="S::yussef_thabit@rayacorp.com::345fcbbb-e931-4815-b0fe-d1ab2afb8134" providerId="AD" clId="Web-{1BC8673E-7D54-3953-EFD5-C8ED4A06E8DE}" dt="2026-07-10T21:13:20.562" v="53"/>
        <pc:sldMkLst>
          <pc:docMk/>
          <pc:sldMk cId="0" sldId="296"/>
        </pc:sldMkLst>
      </pc:sldChg>
      <pc:sldChg chg="mod modShow">
        <pc:chgData name="Yussef mohamed Kamel Thabit" userId="S::yussef_thabit@rayacorp.com::345fcbbb-e931-4815-b0fe-d1ab2afb8134" providerId="AD" clId="Web-{1BC8673E-7D54-3953-EFD5-C8ED4A06E8DE}" dt="2026-07-10T21:13:20.812" v="54"/>
        <pc:sldMkLst>
          <pc:docMk/>
          <pc:sldMk cId="0" sldId="29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2"/>
        <p:cNvGrpSpPr/>
        <p:nvPr/>
      </p:nvGrpSpPr>
      <p:grpSpPr>
        <a:xfrm>
          <a:off x="0" y="0"/>
          <a:ext cx="0" cy="0"/>
          <a:chOff x="0" y="0"/>
          <a:chExt cx="0" cy="0"/>
        </a:xfrm>
      </p:grpSpPr>
      <p:sp>
        <p:nvSpPr>
          <p:cNvPr id="103" name="Google Shape;103;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4" name="Google Shape;104;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3"/>
        <p:cNvGrpSpPr/>
        <p:nvPr/>
      </p:nvGrpSpPr>
      <p:grpSpPr>
        <a:xfrm>
          <a:off x="0" y="0"/>
          <a:ext cx="0" cy="0"/>
          <a:chOff x="0" y="0"/>
          <a:chExt cx="0" cy="0"/>
        </a:xfrm>
      </p:grpSpPr>
      <p:sp>
        <p:nvSpPr>
          <p:cNvPr id="114" name="Google Shape;114;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5" name="Google Shape;115;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2" name="Google Shape;132;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74" name="Google Shape;174;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
        <p:cNvGrpSpPr/>
        <p:nvPr/>
      </p:nvGrpSpPr>
      <p:grpSpPr>
        <a:xfrm>
          <a:off x="0" y="0"/>
          <a:ext cx="0" cy="0"/>
          <a:chOff x="0" y="0"/>
          <a:chExt cx="0" cy="0"/>
        </a:xfrm>
      </p:grpSpPr>
      <p:sp>
        <p:nvSpPr>
          <p:cNvPr id="192" name="Google Shape;192;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3" name="Google Shape;193;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0" name="Google Shape;21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0" name="Google Shape;230;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7"/>
        <p:cNvGrpSpPr/>
        <p:nvPr/>
      </p:nvGrpSpPr>
      <p:grpSpPr>
        <a:xfrm>
          <a:off x="0" y="0"/>
          <a:ext cx="0" cy="0"/>
          <a:chOff x="0" y="0"/>
          <a:chExt cx="0" cy="0"/>
        </a:xfrm>
      </p:grpSpPr>
      <p:sp>
        <p:nvSpPr>
          <p:cNvPr id="268" name="Google Shape;268;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9" name="Google Shape;269;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86" name="Google Shape;28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1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7" name="Google Shape;29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p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14" name="Google Shape;314;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1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33" name="Google Shape;333;p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8"/>
        <p:cNvGrpSpPr/>
        <p:nvPr/>
      </p:nvGrpSpPr>
      <p:grpSpPr>
        <a:xfrm>
          <a:off x="0" y="0"/>
          <a:ext cx="0" cy="0"/>
          <a:chOff x="0" y="0"/>
          <a:chExt cx="0" cy="0"/>
        </a:xfrm>
      </p:grpSpPr>
      <p:sp>
        <p:nvSpPr>
          <p:cNvPr id="349" name="Google Shape;349;p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50" name="Google Shape;35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1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7" name="Google Shape;367;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2"/>
        <p:cNvGrpSpPr/>
        <p:nvPr/>
      </p:nvGrpSpPr>
      <p:grpSpPr>
        <a:xfrm>
          <a:off x="0" y="0"/>
          <a:ext cx="0" cy="0"/>
          <a:chOff x="0" y="0"/>
          <a:chExt cx="0" cy="0"/>
        </a:xfrm>
      </p:grpSpPr>
      <p:sp>
        <p:nvSpPr>
          <p:cNvPr id="383" name="Google Shape;383;p1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84" name="Google Shape;384;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5"/>
        <p:cNvGrpSpPr/>
        <p:nvPr/>
      </p:nvGrpSpPr>
      <p:grpSpPr>
        <a:xfrm>
          <a:off x="0" y="0"/>
          <a:ext cx="0" cy="0"/>
          <a:chOff x="0" y="0"/>
          <a:chExt cx="0" cy="0"/>
        </a:xfrm>
      </p:grpSpPr>
      <p:sp>
        <p:nvSpPr>
          <p:cNvPr id="396" name="Google Shape;396;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97" name="Google Shape;397;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2"/>
        <p:cNvGrpSpPr/>
        <p:nvPr/>
      </p:nvGrpSpPr>
      <p:grpSpPr>
        <a:xfrm>
          <a:off x="0" y="0"/>
          <a:ext cx="0" cy="0"/>
          <a:chOff x="0" y="0"/>
          <a:chExt cx="0" cy="0"/>
        </a:xfrm>
      </p:grpSpPr>
      <p:sp>
        <p:nvSpPr>
          <p:cNvPr id="413" name="Google Shape;413;p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14" name="Google Shape;414;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25" name="Google Shape;425;p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0"/>
        <p:cNvGrpSpPr/>
        <p:nvPr/>
      </p:nvGrpSpPr>
      <p:grpSpPr>
        <a:xfrm>
          <a:off x="0" y="0"/>
          <a:ext cx="0" cy="0"/>
          <a:chOff x="0" y="0"/>
          <a:chExt cx="0" cy="0"/>
        </a:xfrm>
      </p:grpSpPr>
      <p:sp>
        <p:nvSpPr>
          <p:cNvPr id="441" name="Google Shape;441;p2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2" name="Google Shape;442;p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59" name="Google Shape;459;p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6"/>
        <p:cNvGrpSpPr/>
        <p:nvPr/>
      </p:nvGrpSpPr>
      <p:grpSpPr>
        <a:xfrm>
          <a:off x="0" y="0"/>
          <a:ext cx="0" cy="0"/>
          <a:chOff x="0" y="0"/>
          <a:chExt cx="0" cy="0"/>
        </a:xfrm>
      </p:grpSpPr>
      <p:sp>
        <p:nvSpPr>
          <p:cNvPr id="497" name="Google Shape;497;p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98" name="Google Shape;49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21" name="Google Shape;521;p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5"/>
        <p:cNvGrpSpPr/>
        <p:nvPr/>
      </p:nvGrpSpPr>
      <p:grpSpPr>
        <a:xfrm>
          <a:off x="0" y="0"/>
          <a:ext cx="0" cy="0"/>
          <a:chOff x="0" y="0"/>
          <a:chExt cx="0" cy="0"/>
        </a:xfrm>
      </p:grpSpPr>
      <p:sp>
        <p:nvSpPr>
          <p:cNvPr id="536" name="Google Shape;536;p2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37" name="Google Shape;537;p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2"/>
        <p:cNvGrpSpPr/>
        <p:nvPr/>
      </p:nvGrpSpPr>
      <p:grpSpPr>
        <a:xfrm>
          <a:off x="0" y="0"/>
          <a:ext cx="0" cy="0"/>
          <a:chOff x="0" y="0"/>
          <a:chExt cx="0" cy="0"/>
        </a:xfrm>
      </p:grpSpPr>
      <p:sp>
        <p:nvSpPr>
          <p:cNvPr id="553" name="Google Shape;553;p2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54" name="Google Shape;554;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1"/>
        <p:cNvGrpSpPr/>
        <p:nvPr/>
      </p:nvGrpSpPr>
      <p:grpSpPr>
        <a:xfrm>
          <a:off x="0" y="0"/>
          <a:ext cx="0" cy="0"/>
          <a:chOff x="0" y="0"/>
          <a:chExt cx="0" cy="0"/>
        </a:xfrm>
      </p:grpSpPr>
      <p:sp>
        <p:nvSpPr>
          <p:cNvPr id="572" name="Google Shape;572;p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73" name="Google Shape;573;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8"/>
        <p:cNvGrpSpPr/>
        <p:nvPr/>
      </p:nvGrpSpPr>
      <p:grpSpPr>
        <a:xfrm>
          <a:off x="0" y="0"/>
          <a:ext cx="0" cy="0"/>
          <a:chOff x="0" y="0"/>
          <a:chExt cx="0" cy="0"/>
        </a:xfrm>
      </p:grpSpPr>
      <p:sp>
        <p:nvSpPr>
          <p:cNvPr id="589" name="Google Shape;589;p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90" name="Google Shape;590;p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7" name="Google Shape;607;p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8"/>
        <p:cNvGrpSpPr/>
        <p:nvPr/>
      </p:nvGrpSpPr>
      <p:grpSpPr>
        <a:xfrm>
          <a:off x="0" y="0"/>
          <a:ext cx="0" cy="0"/>
          <a:chOff x="0" y="0"/>
          <a:chExt cx="0" cy="0"/>
        </a:xfrm>
      </p:grpSpPr>
      <p:sp>
        <p:nvSpPr>
          <p:cNvPr id="619" name="Google Shape;619;p3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20" name="Google Shape;620;p3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31" name="Google Shape;631;p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6"/>
        <p:cNvGrpSpPr/>
        <p:nvPr/>
      </p:nvGrpSpPr>
      <p:grpSpPr>
        <a:xfrm>
          <a:off x="0" y="0"/>
          <a:ext cx="0" cy="0"/>
          <a:chOff x="0" y="0"/>
          <a:chExt cx="0" cy="0"/>
        </a:xfrm>
      </p:grpSpPr>
      <p:sp>
        <p:nvSpPr>
          <p:cNvPr id="647" name="Google Shape;647;p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48" name="Google Shape;648;p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2"/>
        <p:cNvGrpSpPr/>
        <p:nvPr/>
      </p:nvGrpSpPr>
      <p:grpSpPr>
        <a:xfrm>
          <a:off x="0" y="0"/>
          <a:ext cx="0" cy="0"/>
          <a:chOff x="0" y="0"/>
          <a:chExt cx="0" cy="0"/>
        </a:xfrm>
      </p:grpSpPr>
      <p:sp>
        <p:nvSpPr>
          <p:cNvPr id="663" name="Google Shape;663;p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64" name="Google Shape;664;p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1"/>
        <p:cNvGrpSpPr/>
        <p:nvPr/>
      </p:nvGrpSpPr>
      <p:grpSpPr>
        <a:xfrm>
          <a:off x="0" y="0"/>
          <a:ext cx="0" cy="0"/>
          <a:chOff x="0" y="0"/>
          <a:chExt cx="0" cy="0"/>
        </a:xfrm>
      </p:grpSpPr>
      <p:sp>
        <p:nvSpPr>
          <p:cNvPr id="682" name="Google Shape;682;p3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83" name="Google Shape;683;p3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4"/>
        <p:cNvGrpSpPr/>
        <p:nvPr/>
      </p:nvGrpSpPr>
      <p:grpSpPr>
        <a:xfrm>
          <a:off x="0" y="0"/>
          <a:ext cx="0" cy="0"/>
          <a:chOff x="0" y="0"/>
          <a:chExt cx="0" cy="0"/>
        </a:xfrm>
      </p:grpSpPr>
      <p:sp>
        <p:nvSpPr>
          <p:cNvPr id="705" name="Google Shape;705;p3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06" name="Google Shape;706;p3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1"/>
        <p:cNvGrpSpPr/>
        <p:nvPr/>
      </p:nvGrpSpPr>
      <p:grpSpPr>
        <a:xfrm>
          <a:off x="0" y="0"/>
          <a:ext cx="0" cy="0"/>
          <a:chOff x="0" y="0"/>
          <a:chExt cx="0" cy="0"/>
        </a:xfrm>
      </p:grpSpPr>
      <p:sp>
        <p:nvSpPr>
          <p:cNvPr id="722" name="Google Shape;722;p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23" name="Google Shape;723;p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8"/>
        <p:cNvGrpSpPr/>
        <p:nvPr/>
      </p:nvGrpSpPr>
      <p:grpSpPr>
        <a:xfrm>
          <a:off x="0" y="0"/>
          <a:ext cx="0" cy="0"/>
          <a:chOff x="0" y="0"/>
          <a:chExt cx="0" cy="0"/>
        </a:xfrm>
      </p:grpSpPr>
      <p:sp>
        <p:nvSpPr>
          <p:cNvPr id="739" name="Google Shape;739;p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40" name="Google Shape;740;p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2"/>
        <p:cNvGrpSpPr/>
        <p:nvPr/>
      </p:nvGrpSpPr>
      <p:grpSpPr>
        <a:xfrm>
          <a:off x="0" y="0"/>
          <a:ext cx="0" cy="0"/>
          <a:chOff x="0" y="0"/>
          <a:chExt cx="0" cy="0"/>
        </a:xfrm>
      </p:grpSpPr>
      <p:sp>
        <p:nvSpPr>
          <p:cNvPr id="763" name="Google Shape;763;p4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64" name="Google Shape;764;p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5"/>
        <p:cNvGrpSpPr/>
        <p:nvPr/>
      </p:nvGrpSpPr>
      <p:grpSpPr>
        <a:xfrm>
          <a:off x="0" y="0"/>
          <a:ext cx="0" cy="0"/>
          <a:chOff x="0" y="0"/>
          <a:chExt cx="0" cy="0"/>
        </a:xfrm>
      </p:grpSpPr>
      <p:sp>
        <p:nvSpPr>
          <p:cNvPr id="786" name="Google Shape;786;p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787" name="Google Shape;787;p4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5"/>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Calibri"/>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5"/>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6"/>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6"/>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7"/>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7"/>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7"/>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7"/>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0"/>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Calibri"/>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10"/>
          <p:cNvSpPr>
            <a:spLocks noGrp="1"/>
          </p:cNvSpPr>
          <p:nvPr>
            <p:ph type="pic" idx="2"/>
          </p:nvPr>
        </p:nvSpPr>
        <p:spPr>
          <a:xfrm>
            <a:off x="1792288" y="612775"/>
            <a:ext cx="5486400" cy="4114800"/>
          </a:xfrm>
          <a:prstGeom prst="rect">
            <a:avLst/>
          </a:prstGeom>
          <a:noFill/>
          <a:ln>
            <a:noFill/>
          </a:ln>
        </p:spPr>
      </p:sp>
      <p:sp>
        <p:nvSpPr>
          <p:cNvPr id="64" name="Google Shape;64;p10"/>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11"/>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1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1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1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2"/>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12"/>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1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1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1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14.png"/><Relationship Id="rId4" Type="http://schemas.openxmlformats.org/officeDocument/2006/relationships/image" Target="../media/image6.png"/><Relationship Id="rId9" Type="http://schemas.openxmlformats.org/officeDocument/2006/relationships/image" Target="../media/image13.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5.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10"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19.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6.png"/><Relationship Id="rId9"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6.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27.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31.png"/><Relationship Id="rId4" Type="http://schemas.openxmlformats.org/officeDocument/2006/relationships/image" Target="../media/image6.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3.png"/><Relationship Id="rId5" Type="http://schemas.openxmlformats.org/officeDocument/2006/relationships/image" Target="../media/image32.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5.png"/><Relationship Id="rId7" Type="http://schemas.openxmlformats.org/officeDocument/2006/relationships/image" Target="../media/image36.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6.png"/><Relationship Id="rId9" Type="http://schemas.openxmlformats.org/officeDocument/2006/relationships/image" Target="../media/image2.png"/></Relationships>
</file>

<file path=ppt/slides/_rels/slide19.xml.rels><?xml version="1.0" encoding="UTF-8" standalone="yes"?>
<Relationships xmlns="http://schemas.openxmlformats.org/package/2006/relationships"><Relationship Id="rId8" Type="http://schemas.openxmlformats.org/officeDocument/2006/relationships/image" Target="../media/image40.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9.png"/><Relationship Id="rId5" Type="http://schemas.openxmlformats.org/officeDocument/2006/relationships/image" Target="../media/image38.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8" Type="http://schemas.openxmlformats.org/officeDocument/2006/relationships/image" Target="../media/image46.png"/><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6.png"/></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47.png"/></Relationships>
</file>

<file path=ppt/slides/_rels/slide23.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50.png"/><Relationship Id="rId2" Type="http://schemas.openxmlformats.org/officeDocument/2006/relationships/notesSlide" Target="../notesSlides/notesSlide19.xml"/><Relationship Id="rId1" Type="http://schemas.openxmlformats.org/officeDocument/2006/relationships/slideLayout" Target="../slideLayouts/slideLayout1.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6.png"/></Relationships>
</file>

<file path=ppt/slides/_rels/slide2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53.pn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52.png"/><Relationship Id="rId5" Type="http://schemas.openxmlformats.org/officeDocument/2006/relationships/image" Target="../media/image51.png"/><Relationship Id="rId4" Type="http://schemas.openxmlformats.org/officeDocument/2006/relationships/image" Target="../media/image6.png"/></Relationships>
</file>

<file path=ppt/slides/_rels/slide2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54.png"/><Relationship Id="rId4" Type="http://schemas.openxmlformats.org/officeDocument/2006/relationships/image" Target="../media/image6.png"/></Relationships>
</file>

<file path=ppt/slides/_rels/slide2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6.png"/></Relationships>
</file>

<file path=ppt/slides/_rels/slide29.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57.png"/><Relationship Id="rId4" Type="http://schemas.openxmlformats.org/officeDocument/2006/relationships/image" Target="../media/image6.png"/><Relationship Id="rId9" Type="http://schemas.openxmlformats.org/officeDocument/2006/relationships/image" Target="../media/image56.png"/></Relationships>
</file>

<file path=ppt/slides/_rels/slide30.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6" Type="http://schemas.openxmlformats.org/officeDocument/2006/relationships/image" Target="../media/image58.png"/><Relationship Id="rId5" Type="http://schemas.openxmlformats.org/officeDocument/2006/relationships/image" Target="../media/image27.png"/><Relationship Id="rId4" Type="http://schemas.openxmlformats.org/officeDocument/2006/relationships/image" Target="../media/image6.png"/></Relationships>
</file>

<file path=ppt/slides/_rels/slide3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61.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6.png"/></Relationships>
</file>

<file path=ppt/slides/_rels/slide32.xml.rels><?xml version="1.0" encoding="UTF-8" standalone="yes"?>
<Relationships xmlns="http://schemas.openxmlformats.org/package/2006/relationships"><Relationship Id="rId8" Type="http://schemas.openxmlformats.org/officeDocument/2006/relationships/image" Target="../media/image64.png"/><Relationship Id="rId3" Type="http://schemas.openxmlformats.org/officeDocument/2006/relationships/image" Target="../media/image5.png"/><Relationship Id="rId7" Type="http://schemas.openxmlformats.org/officeDocument/2006/relationships/image" Target="../media/image63.png"/><Relationship Id="rId2" Type="http://schemas.openxmlformats.org/officeDocument/2006/relationships/notesSlide" Target="../notesSlides/notesSlide28.xml"/><Relationship Id="rId1" Type="http://schemas.openxmlformats.org/officeDocument/2006/relationships/slideLayout" Target="../slideLayouts/slideLayout1.xml"/><Relationship Id="rId6" Type="http://schemas.openxmlformats.org/officeDocument/2006/relationships/image" Target="../media/image62.png"/><Relationship Id="rId5" Type="http://schemas.openxmlformats.org/officeDocument/2006/relationships/image" Target="../media/image15.png"/><Relationship Id="rId10"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65.png"/></Relationships>
</file>

<file path=ppt/slides/_rels/slide3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6.png"/><Relationship Id="rId4" Type="http://schemas.openxmlformats.org/officeDocument/2006/relationships/image" Target="../media/image6.png"/></Relationships>
</file>

<file path=ppt/slides/_rels/slide34.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69.png"/><Relationship Id="rId2" Type="http://schemas.openxmlformats.org/officeDocument/2006/relationships/notesSlide" Target="../notesSlides/notesSlide30.xml"/><Relationship Id="rId1" Type="http://schemas.openxmlformats.org/officeDocument/2006/relationships/slideLayout" Target="../slideLayouts/slideLayout1.xml"/><Relationship Id="rId6" Type="http://schemas.openxmlformats.org/officeDocument/2006/relationships/image" Target="../media/image68.png"/><Relationship Id="rId5" Type="http://schemas.openxmlformats.org/officeDocument/2006/relationships/image" Target="../media/image67.png"/><Relationship Id="rId4" Type="http://schemas.openxmlformats.org/officeDocument/2006/relationships/image" Target="../media/image6.png"/></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1.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6.png"/><Relationship Id="rId4" Type="http://schemas.openxmlformats.org/officeDocument/2006/relationships/image" Target="../media/image70.png"/></Relationships>
</file>

<file path=ppt/slides/_rels/slide3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7.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6.png"/></Relationships>
</file>

<file path=ppt/slides/_rels/slide38.xml.rels><?xml version="1.0" encoding="UTF-8" standalone="yes"?>
<Relationships xmlns="http://schemas.openxmlformats.org/package/2006/relationships"><Relationship Id="rId3" Type="http://schemas.openxmlformats.org/officeDocument/2006/relationships/image" Target="../media/image5.png"/><Relationship Id="rId7"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6.png"/></Relationships>
</file>

<file path=ppt/slides/_rels/slide39.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5.png"/><Relationship Id="rId7" Type="http://schemas.openxmlformats.org/officeDocument/2006/relationships/image" Target="../media/image74.png"/><Relationship Id="rId2" Type="http://schemas.openxmlformats.org/officeDocument/2006/relationships/notesSlide" Target="../notesSlides/notesSlide35.xml"/><Relationship Id="rId1" Type="http://schemas.openxmlformats.org/officeDocument/2006/relationships/slideLayout" Target="../slideLayouts/slideLayout1.xml"/><Relationship Id="rId6" Type="http://schemas.openxmlformats.org/officeDocument/2006/relationships/image" Target="../media/image73.png"/><Relationship Id="rId5" Type="http://schemas.openxmlformats.org/officeDocument/2006/relationships/image" Target="../media/image15.png"/><Relationship Id="rId10" Type="http://schemas.openxmlformats.org/officeDocument/2006/relationships/image" Target="../media/image2.png"/><Relationship Id="rId4" Type="http://schemas.openxmlformats.org/officeDocument/2006/relationships/image" Target="../media/image6.png"/><Relationship Id="rId9" Type="http://schemas.openxmlformats.org/officeDocument/2006/relationships/image" Target="../media/image76.png"/></Relationships>
</file>

<file path=ppt/slides/_rels/slide40.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5.png"/><Relationship Id="rId7" Type="http://schemas.openxmlformats.org/officeDocument/2006/relationships/image" Target="../media/image11.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10.png"/><Relationship Id="rId11" Type="http://schemas.openxmlformats.org/officeDocument/2006/relationships/image" Target="../media/image2.png"/><Relationship Id="rId5" Type="http://schemas.openxmlformats.org/officeDocument/2006/relationships/image" Target="../media/image9.png"/><Relationship Id="rId10" Type="http://schemas.openxmlformats.org/officeDocument/2006/relationships/image" Target="../media/image79.png"/><Relationship Id="rId4" Type="http://schemas.openxmlformats.org/officeDocument/2006/relationships/image" Target="../media/image6.png"/><Relationship Id="rId9" Type="http://schemas.openxmlformats.org/officeDocument/2006/relationships/image" Target="../media/image78.png"/></Relationships>
</file>

<file path=ppt/slides/_rels/slide4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7.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0.png"/><Relationship Id="rId4" Type="http://schemas.openxmlformats.org/officeDocument/2006/relationships/image" Target="../media/image6.png"/></Relationships>
</file>

<file path=ppt/slides/_rels/slide4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5.png"/><Relationship Id="rId7" Type="http://schemas.openxmlformats.org/officeDocument/2006/relationships/image" Target="../media/image83.png"/><Relationship Id="rId2" Type="http://schemas.openxmlformats.org/officeDocument/2006/relationships/notesSlide" Target="../notesSlides/notesSlide38.xml"/><Relationship Id="rId1" Type="http://schemas.openxmlformats.org/officeDocument/2006/relationships/slideLayout" Target="../slideLayouts/slideLayout1.xml"/><Relationship Id="rId6" Type="http://schemas.openxmlformats.org/officeDocument/2006/relationships/image" Target="../media/image82.png"/><Relationship Id="rId5" Type="http://schemas.openxmlformats.org/officeDocument/2006/relationships/image" Target="../media/image81.png"/><Relationship Id="rId4" Type="http://schemas.openxmlformats.org/officeDocument/2006/relationships/image" Target="../media/image6.png"/></Relationships>
</file>

<file path=ppt/slides/_rels/slide4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84.png"/><Relationship Id="rId4" Type="http://schemas.openxmlformats.org/officeDocument/2006/relationships/image" Target="../media/image6.png"/></Relationships>
</file>

<file path=ppt/slides/_rels/slide44.xml.rels><?xml version="1.0" encoding="UTF-8" standalone="yes"?>
<Relationships xmlns="http://schemas.openxmlformats.org/package/2006/relationships"><Relationship Id="rId8" Type="http://schemas.openxmlformats.org/officeDocument/2006/relationships/image" Target="../media/image88.png"/><Relationship Id="rId3" Type="http://schemas.openxmlformats.org/officeDocument/2006/relationships/image" Target="../media/image5.png"/><Relationship Id="rId7" Type="http://schemas.openxmlformats.org/officeDocument/2006/relationships/image" Target="../media/image87.png"/><Relationship Id="rId2" Type="http://schemas.openxmlformats.org/officeDocument/2006/relationships/notesSlide" Target="../notesSlides/notesSlide40.xml"/><Relationship Id="rId1" Type="http://schemas.openxmlformats.org/officeDocument/2006/relationships/slideLayout" Target="../slideLayouts/slideLayout1.xml"/><Relationship Id="rId6" Type="http://schemas.openxmlformats.org/officeDocument/2006/relationships/image" Target="../media/image86.png"/><Relationship Id="rId11" Type="http://schemas.openxmlformats.org/officeDocument/2006/relationships/image" Target="../media/image2.png"/><Relationship Id="rId5" Type="http://schemas.openxmlformats.org/officeDocument/2006/relationships/image" Target="../media/image85.png"/><Relationship Id="rId10" Type="http://schemas.openxmlformats.org/officeDocument/2006/relationships/image" Target="../media/image90.png"/><Relationship Id="rId4" Type="http://schemas.openxmlformats.org/officeDocument/2006/relationships/image" Target="../media/image6.png"/><Relationship Id="rId9" Type="http://schemas.openxmlformats.org/officeDocument/2006/relationships/image" Target="../media/image89.png"/></Relationships>
</file>

<file path=ppt/slides/_rels/slide45.xml.rels><?xml version="1.0" encoding="UTF-8" standalone="yes"?>
<Relationships xmlns="http://schemas.openxmlformats.org/package/2006/relationships"><Relationship Id="rId8" Type="http://schemas.openxmlformats.org/officeDocument/2006/relationships/image" Target="../media/image94.png"/><Relationship Id="rId3" Type="http://schemas.openxmlformats.org/officeDocument/2006/relationships/image" Target="../media/image5.png"/><Relationship Id="rId7" Type="http://schemas.openxmlformats.org/officeDocument/2006/relationships/image" Target="../media/image93.png"/><Relationship Id="rId2" Type="http://schemas.openxmlformats.org/officeDocument/2006/relationships/notesSlide" Target="../notesSlides/notesSlide41.xml"/><Relationship Id="rId1" Type="http://schemas.openxmlformats.org/officeDocument/2006/relationships/slideLayout" Target="../slideLayouts/slideLayout1.xml"/><Relationship Id="rId6" Type="http://schemas.openxmlformats.org/officeDocument/2006/relationships/image" Target="../media/image92.png"/><Relationship Id="rId11" Type="http://schemas.openxmlformats.org/officeDocument/2006/relationships/image" Target="../media/image2.png"/><Relationship Id="rId5" Type="http://schemas.openxmlformats.org/officeDocument/2006/relationships/image" Target="../media/image91.png"/><Relationship Id="rId10" Type="http://schemas.openxmlformats.org/officeDocument/2006/relationships/image" Target="../media/image96.png"/><Relationship Id="rId4" Type="http://schemas.openxmlformats.org/officeDocument/2006/relationships/image" Target="../media/image6.png"/><Relationship Id="rId9" Type="http://schemas.openxmlformats.org/officeDocument/2006/relationships/image" Target="../media/image9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83"/>
        <p:cNvGrpSpPr/>
        <p:nvPr/>
      </p:nvGrpSpPr>
      <p:grpSpPr>
        <a:xfrm>
          <a:off x="0" y="0"/>
          <a:ext cx="0" cy="0"/>
          <a:chOff x="0" y="0"/>
          <a:chExt cx="0" cy="0"/>
        </a:xfrm>
      </p:grpSpPr>
      <p:pic>
        <p:nvPicPr>
          <p:cNvPr id="85" name="Google Shape;85;p13" descr="image.png"/>
          <p:cNvPicPr preferRelativeResize="0"/>
          <p:nvPr/>
        </p:nvPicPr>
        <p:blipFill rotWithShape="1">
          <a:blip r:embed="rId3">
            <a:alphaModFix/>
          </a:blip>
          <a:srcRect l="1745" r="1748"/>
          <a:stretch/>
        </p:blipFill>
        <p:spPr>
          <a:xfrm>
            <a:off x="762000" y="6296025"/>
            <a:ext cx="10668000" cy="323850"/>
          </a:xfrm>
          <a:prstGeom prst="rect">
            <a:avLst/>
          </a:prstGeom>
          <a:noFill/>
          <a:ln>
            <a:noFill/>
          </a:ln>
        </p:spPr>
      </p:pic>
      <p:sp>
        <p:nvSpPr>
          <p:cNvPr id="86" name="Google Shape;86;p13"/>
          <p:cNvSpPr txBox="1"/>
          <p:nvPr/>
        </p:nvSpPr>
        <p:spPr>
          <a:xfrm>
            <a:off x="4638675" y="2198489"/>
            <a:ext cx="2914650"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RPA ARCHITECTURE &amp; ENGINEERING</a:t>
            </a:r>
            <a:endParaRPr/>
          </a:p>
        </p:txBody>
      </p:sp>
      <p:sp>
        <p:nvSpPr>
          <p:cNvPr id="87" name="Google Shape;87;p13"/>
          <p:cNvSpPr txBox="1"/>
          <p:nvPr/>
        </p:nvSpPr>
        <p:spPr>
          <a:xfrm>
            <a:off x="3065621" y="2474714"/>
            <a:ext cx="6060757" cy="1539652"/>
          </a:xfrm>
          <a:prstGeom prst="rect">
            <a:avLst/>
          </a:prstGeom>
          <a:noFill/>
          <a:ln>
            <a:noFill/>
          </a:ln>
        </p:spPr>
        <p:txBody>
          <a:bodyPr spcFirstLastPara="1" wrap="square" lIns="0" tIns="0" rIns="0" bIns="0" anchor="t" anchorCtr="0">
            <a:spAutoFit/>
          </a:bodyPr>
          <a:lstStyle/>
          <a:p>
            <a:pPr marL="0" marR="0" lvl="0" indent="0" algn="ctr" rtl="0">
              <a:lnSpc>
                <a:spcPct val="114988"/>
              </a:lnSpc>
              <a:spcBef>
                <a:spcPts val="0"/>
              </a:spcBef>
              <a:spcAft>
                <a:spcPts val="0"/>
              </a:spcAft>
              <a:buNone/>
            </a:pPr>
            <a:r>
              <a:rPr lang="en-US" sz="4350" b="1" i="0" u="none" strike="noStrike" cap="none">
                <a:solidFill>
                  <a:srgbClr val="1F3864"/>
                </a:solidFill>
                <a:latin typeface="Urbanist"/>
                <a:ea typeface="Urbanist"/>
                <a:cs typeface="Urbanist"/>
                <a:sym typeface="Urbanist"/>
              </a:rPr>
              <a:t>DataTables, Excel, &amp;</a:t>
            </a:r>
            <a:br>
              <a:rPr lang="en-US" sz="1800" b="0" i="0" u="none" strike="noStrike" cap="none">
                <a:solidFill>
                  <a:schemeClr val="dk1"/>
                </a:solidFill>
                <a:latin typeface="Calibri"/>
                <a:ea typeface="Calibri"/>
                <a:cs typeface="Calibri"/>
                <a:sym typeface="Calibri"/>
              </a:rPr>
            </a:br>
            <a:r>
              <a:rPr lang="en-US" sz="4350" b="1" i="0" u="none" strike="noStrike" cap="none">
                <a:solidFill>
                  <a:srgbClr val="1F3864"/>
                </a:solidFill>
                <a:latin typeface="Urbanist"/>
                <a:ea typeface="Urbanist"/>
                <a:cs typeface="Urbanist"/>
                <a:sym typeface="Urbanist"/>
              </a:rPr>
              <a:t> PDF Automation</a:t>
            </a:r>
            <a:endParaRPr/>
          </a:p>
        </p:txBody>
      </p:sp>
      <p:sp>
        <p:nvSpPr>
          <p:cNvPr id="88" name="Google Shape;88;p13"/>
          <p:cNvSpPr txBox="1"/>
          <p:nvPr/>
        </p:nvSpPr>
        <p:spPr>
          <a:xfrm>
            <a:off x="2047875" y="4030860"/>
            <a:ext cx="8096250" cy="761747"/>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650" b="0" i="0" u="none" strike="noStrike" cap="none">
                <a:solidFill>
                  <a:srgbClr val="475569"/>
                </a:solidFill>
                <a:latin typeface="Urbanist"/>
                <a:ea typeface="Urbanist"/>
                <a:cs typeface="Urbanist"/>
                <a:sym typeface="Urbanist"/>
              </a:rPr>
              <a:t>Session 5: RAM Database Systems, LINQ Advanced Querying, Modern Unified Targets, and Native &amp; OCR Intelligent PDF Processing pipelines.</a:t>
            </a:r>
            <a:endParaRPr/>
          </a:p>
        </p:txBody>
      </p:sp>
      <p:sp>
        <p:nvSpPr>
          <p:cNvPr id="89" name="Google Shape;89;p13"/>
          <p:cNvSpPr txBox="1"/>
          <p:nvPr/>
        </p:nvSpPr>
        <p:spPr>
          <a:xfrm>
            <a:off x="762000" y="6448425"/>
            <a:ext cx="20574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RPA DEVELOPER TRAINING SERIES</a:t>
            </a:r>
            <a:endParaRPr/>
          </a:p>
        </p:txBody>
      </p:sp>
      <p:sp>
        <p:nvSpPr>
          <p:cNvPr id="90" name="Google Shape;90;p13"/>
          <p:cNvSpPr txBox="1"/>
          <p:nvPr/>
        </p:nvSpPr>
        <p:spPr>
          <a:xfrm>
            <a:off x="10610850" y="6448425"/>
            <a:ext cx="8191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SLIDE 1 OF 42</a:t>
            </a:r>
            <a:endParaRPr/>
          </a:p>
        </p:txBody>
      </p:sp>
      <p:pic>
        <p:nvPicPr>
          <p:cNvPr id="9001" name="RAYA Logo"/>
          <p:cNvPicPr>
            <a:picLocks noChangeAspect="1"/>
          </p:cNvPicPr>
          <p:nvPr/>
        </p:nvPicPr>
        <p:blipFill>
          <a:blip r:embed="rId4"/>
          <a:stretch>
            <a:fillRect/>
          </a:stretch>
        </p:blipFill>
        <p:spPr>
          <a:xfrm>
            <a:off x="10242000" y="280000"/>
            <a:ext cx="1700000" cy="716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47A10-A429-82FD-9851-2C3B5B15E94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587724C9-5C62-B8E6-D3D6-468B47A0CD56}"/>
              </a:ext>
            </a:extLst>
          </p:cNvPr>
          <p:cNvSpPr txBox="1"/>
          <p:nvPr/>
        </p:nvSpPr>
        <p:spPr>
          <a:xfrm>
            <a:off x="282285" y="1370848"/>
            <a:ext cx="11484599" cy="2431435"/>
          </a:xfrm>
          <a:prstGeom prst="rect">
            <a:avLst/>
          </a:prstGeom>
          <a:noFill/>
        </p:spPr>
        <p:txBody>
          <a:bodyPr wrap="square" lIns="91440" tIns="45720" rIns="91440" bIns="45720" rtlCol="0" anchor="t">
            <a:spAutoFit/>
          </a:bodyPr>
          <a:lstStyle/>
          <a:p>
            <a:r>
              <a:rPr lang="en-US" sz="3200" b="1"/>
              <a:t>Agenda</a:t>
            </a:r>
          </a:p>
          <a:p>
            <a:pPr marL="342900" indent="-342900">
              <a:buFont typeface="Arial"/>
              <a:buChar char="•"/>
            </a:pPr>
            <a:r>
              <a:rPr lang="en-US" sz="2000" b="1" strike="sngStrike"/>
              <a:t>Introduction &amp; Hands-on</a:t>
            </a:r>
            <a:endParaRPr lang="en-US" sz="2000" b="1" strike="sngStrike">
              <a:ea typeface="Calibri" panose="020F0502020204030204"/>
              <a:cs typeface="Calibri" panose="020F0502020204030204"/>
            </a:endParaRPr>
          </a:p>
          <a:p>
            <a:pPr marL="800100" lvl="1" indent="-342900">
              <a:buFont typeface="Arial" panose="020B0604020202020204" pitchFamily="34" charset="0"/>
              <a:buChar char="•"/>
            </a:pPr>
            <a:r>
              <a:rPr lang="en-US" sz="2000" b="1" strike="sngStrike">
                <a:ea typeface="Calibri" panose="020F0502020204030204"/>
                <a:cs typeface="Calibri" panose="020F0502020204030204"/>
              </a:rPr>
              <a:t>What Is RPA ?</a:t>
            </a:r>
          </a:p>
          <a:p>
            <a:pPr marL="800100" lvl="1" indent="-342900">
              <a:buFont typeface="Arial" panose="020B0604020202020204" pitchFamily="34" charset="0"/>
              <a:buChar char="•"/>
            </a:pPr>
            <a:r>
              <a:rPr lang="en-US" sz="2000" b="1" strike="sngStrike">
                <a:ea typeface="Calibri" panose="020F0502020204030204"/>
                <a:cs typeface="Calibri" panose="020F0502020204030204"/>
              </a:rPr>
              <a:t>RPA Tools</a:t>
            </a:r>
            <a:endParaRPr lang="en-US" strike="sngStrike">
              <a:ea typeface="Calibri"/>
              <a:cs typeface="Calibri"/>
            </a:endParaRPr>
          </a:p>
          <a:p>
            <a:pPr marL="800100" lvl="1" indent="-342900">
              <a:buFont typeface="Arial" panose="020B0604020202020204" pitchFamily="34" charset="0"/>
              <a:buChar char="•"/>
            </a:pPr>
            <a:r>
              <a:rPr lang="en-US" sz="2000" b="1" strike="sngStrike">
                <a:ea typeface="Calibri"/>
                <a:cs typeface="Calibri"/>
              </a:rPr>
              <a:t>Installing UiPath</a:t>
            </a:r>
            <a:endParaRPr lang="en-US" strike="sngStrike">
              <a:ea typeface="Calibri"/>
              <a:cs typeface="Calibri"/>
            </a:endParaRPr>
          </a:p>
          <a:p>
            <a:pPr marL="800100" lvl="1" indent="-342900">
              <a:buFont typeface="Arial" panose="020B0604020202020204" pitchFamily="34" charset="0"/>
              <a:buChar char="•"/>
            </a:pPr>
            <a:r>
              <a:rPr lang="en-US" sz="2000" b="1" strike="sngStrike" err="1">
                <a:ea typeface="Calibri"/>
                <a:cs typeface="Calibri"/>
              </a:rPr>
              <a:t>Uipath</a:t>
            </a:r>
            <a:r>
              <a:rPr lang="en-US" sz="2000" b="1" strike="sngStrike">
                <a:ea typeface="Calibri"/>
                <a:cs typeface="Calibri"/>
              </a:rPr>
              <a:t> Automation Methodology</a:t>
            </a:r>
          </a:p>
          <a:p>
            <a:pPr marL="800100" lvl="1" indent="-342900">
              <a:buFont typeface="Arial" panose="020B0604020202020204" pitchFamily="34" charset="0"/>
              <a:buChar char="•"/>
            </a:pPr>
            <a:r>
              <a:rPr lang="en-US" sz="2000" b="1" strike="sngStrike">
                <a:ea typeface="Calibri"/>
                <a:cs typeface="Calibri"/>
              </a:rPr>
              <a:t>Explore </a:t>
            </a:r>
            <a:r>
              <a:rPr lang="en-US" sz="2000" b="1" strike="sngStrike" err="1">
                <a:ea typeface="Calibri"/>
                <a:cs typeface="Calibri"/>
              </a:rPr>
              <a:t>Uipath</a:t>
            </a:r>
            <a:r>
              <a:rPr lang="en-US" sz="2000" b="1" strike="sngStrike">
                <a:ea typeface="Calibri"/>
                <a:cs typeface="Calibri"/>
              </a:rPr>
              <a:t> Studio </a:t>
            </a:r>
            <a:endParaRPr lang="en-US" strike="sngStrike"/>
          </a:p>
        </p:txBody>
      </p:sp>
      <p:pic>
        <p:nvPicPr>
          <p:cNvPr id="6" name="Picture 5">
            <a:extLst>
              <a:ext uri="{FF2B5EF4-FFF2-40B4-BE49-F238E27FC236}">
                <a16:creationId xmlns:a16="http://schemas.microsoft.com/office/drawing/2014/main" id="{B7884625-077A-C278-8ED1-A45036AF3B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85" y="264647"/>
            <a:ext cx="2627807" cy="1106952"/>
          </a:xfrm>
          <a:prstGeom prst="rect">
            <a:avLst/>
          </a:prstGeom>
        </p:spPr>
      </p:pic>
      <p:sp>
        <p:nvSpPr>
          <p:cNvPr id="5" name="TextBox 4">
            <a:extLst>
              <a:ext uri="{FF2B5EF4-FFF2-40B4-BE49-F238E27FC236}">
                <a16:creationId xmlns:a16="http://schemas.microsoft.com/office/drawing/2014/main" id="{383DCE1F-D77C-0676-3D6B-1622D0282237}"/>
              </a:ext>
            </a:extLst>
          </p:cNvPr>
          <p:cNvSpPr txBox="1"/>
          <p:nvPr/>
        </p:nvSpPr>
        <p:spPr>
          <a:xfrm>
            <a:off x="272125" y="3799105"/>
            <a:ext cx="11484599" cy="2862322"/>
          </a:xfrm>
          <a:prstGeom prst="rect">
            <a:avLst/>
          </a:prstGeom>
          <a:noFill/>
        </p:spPr>
        <p:txBody>
          <a:bodyPr wrap="square" lIns="91440" tIns="45720" rIns="91440" bIns="45720" rtlCol="0" anchor="t">
            <a:spAutoFit/>
          </a:bodyPr>
          <a:lstStyle/>
          <a:p>
            <a:pPr marL="342900" indent="-342900">
              <a:buFont typeface="Arial"/>
              <a:buChar char="•"/>
            </a:pPr>
            <a:r>
              <a:rPr lang="en-US" sz="2000" b="1" strike="sngStrike"/>
              <a:t>Variables, Data Types ,</a:t>
            </a:r>
            <a:r>
              <a:rPr lang="en-US" sz="2000" b="1" strike="sngStrike" err="1"/>
              <a:t>ControlFlows</a:t>
            </a:r>
            <a:r>
              <a:rPr lang="en-US" sz="2000" b="1" strike="sngStrike"/>
              <a:t> &amp;</a:t>
            </a:r>
            <a:r>
              <a:rPr lang="en-US" sz="2000" b="1" strike="sngStrike" err="1"/>
              <a:t>Activites</a:t>
            </a:r>
          </a:p>
          <a:p>
            <a:pPr marL="342900" indent="-342900">
              <a:buFont typeface="Arial"/>
              <a:buChar char="•"/>
            </a:pPr>
            <a:r>
              <a:rPr lang="en-US" sz="2000" b="1" strike="sngStrike"/>
              <a:t>Working with File and Folders, Debugging</a:t>
            </a:r>
          </a:p>
          <a:p>
            <a:pPr marL="342900" indent="-342900">
              <a:buFont typeface="Arial"/>
              <a:buChar char="•"/>
            </a:pPr>
            <a:r>
              <a:rPr lang="en-US" sz="2000" b="1">
                <a:ea typeface="Calibri"/>
                <a:cs typeface="Calibri"/>
              </a:rPr>
              <a:t>Data Manipulation(</a:t>
            </a:r>
            <a:r>
              <a:rPr lang="en-US" sz="2000" b="1" err="1">
                <a:ea typeface="Calibri"/>
                <a:cs typeface="Calibri"/>
              </a:rPr>
              <a:t>string,list,Dictionaries</a:t>
            </a:r>
            <a:r>
              <a:rPr lang="en-US" sz="2000" b="1">
                <a:ea typeface="Calibri"/>
                <a:cs typeface="Calibri"/>
              </a:rPr>
              <a:t>)</a:t>
            </a:r>
          </a:p>
          <a:p>
            <a:pPr marL="342900" indent="-342900">
              <a:buFont typeface="Arial"/>
              <a:buChar char="•"/>
            </a:pPr>
            <a:r>
              <a:rPr lang="en-US" sz="2000" b="1">
                <a:ea typeface="Calibri"/>
                <a:cs typeface="Calibri"/>
              </a:rPr>
              <a:t>Ui Automation</a:t>
            </a:r>
          </a:p>
          <a:p>
            <a:pPr marL="342900" indent="-342900">
              <a:buFont typeface="Arial"/>
              <a:buChar char="•"/>
            </a:pPr>
            <a:r>
              <a:rPr lang="en-US" sz="2000" b="1">
                <a:ea typeface="Calibri"/>
                <a:cs typeface="Calibri"/>
              </a:rPr>
              <a:t>Project 1</a:t>
            </a:r>
          </a:p>
          <a:p>
            <a:pPr marL="342900" indent="-342900">
              <a:buFont typeface="Arial"/>
              <a:buChar char="•"/>
            </a:pPr>
            <a:r>
              <a:rPr lang="en-US" sz="2000" b="1">
                <a:ea typeface="Calibri"/>
                <a:cs typeface="Calibri"/>
              </a:rPr>
              <a:t>Data Manipulation(Data Tables)</a:t>
            </a:r>
          </a:p>
          <a:p>
            <a:pPr marL="342900" indent="-342900">
              <a:buFont typeface="Arial"/>
              <a:buChar char="•"/>
            </a:pPr>
            <a:r>
              <a:rPr lang="en-US" sz="2000" b="1">
                <a:ea typeface="Calibri"/>
                <a:cs typeface="Calibri"/>
              </a:rPr>
              <a:t>Excel &amp; PDF Automation</a:t>
            </a:r>
            <a:endParaRPr lang="en-US" err="1">
              <a:ea typeface="Calibri" panose="020F0502020204030204"/>
              <a:cs typeface="Calibri" panose="020F0502020204030204"/>
            </a:endParaRPr>
          </a:p>
          <a:p>
            <a:pPr marL="342900" indent="-342900">
              <a:buFont typeface="Arial"/>
              <a:buChar char="•"/>
            </a:pPr>
            <a:r>
              <a:rPr lang="en-US" sz="2000" b="1">
                <a:ea typeface="Calibri"/>
                <a:cs typeface="Calibri"/>
              </a:rPr>
              <a:t>Email Automation and integration services</a:t>
            </a:r>
          </a:p>
          <a:p>
            <a:pPr marL="342900" indent="-342900">
              <a:buFont typeface="Arial"/>
              <a:buChar char="•"/>
            </a:pPr>
            <a:r>
              <a:rPr lang="en-US" sz="2000" b="1">
                <a:ea typeface="Calibri"/>
                <a:cs typeface="Calibri"/>
              </a:rPr>
              <a:t>Api Automation + Error handling</a:t>
            </a:r>
          </a:p>
        </p:txBody>
      </p:sp>
      <p:sp>
        <p:nvSpPr>
          <p:cNvPr id="2" name="Right Bracket 1">
            <a:extLst>
              <a:ext uri="{FF2B5EF4-FFF2-40B4-BE49-F238E27FC236}">
                <a16:creationId xmlns:a16="http://schemas.microsoft.com/office/drawing/2014/main" id="{079E1104-F118-6C94-0D88-0B1B195DF434}"/>
              </a:ext>
            </a:extLst>
          </p:cNvPr>
          <p:cNvSpPr/>
          <p:nvPr/>
        </p:nvSpPr>
        <p:spPr>
          <a:xfrm>
            <a:off x="6872928" y="1891899"/>
            <a:ext cx="733926" cy="1825926"/>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3" name="TextBox 2">
            <a:extLst>
              <a:ext uri="{FF2B5EF4-FFF2-40B4-BE49-F238E27FC236}">
                <a16:creationId xmlns:a16="http://schemas.microsoft.com/office/drawing/2014/main" id="{AD6F88D7-9737-77CF-9BFB-BFB325CFDC36}"/>
              </a:ext>
            </a:extLst>
          </p:cNvPr>
          <p:cNvSpPr txBox="1"/>
          <p:nvPr/>
        </p:nvSpPr>
        <p:spPr>
          <a:xfrm>
            <a:off x="7684159" y="2620196"/>
            <a:ext cx="814137" cy="369332"/>
          </a:xfrm>
          <a:prstGeom prst="rect">
            <a:avLst/>
          </a:prstGeom>
          <a:noFill/>
        </p:spPr>
        <p:txBody>
          <a:bodyPr wrap="square" lIns="91440" tIns="45720" rIns="91440" bIns="45720" rtlCol="0" anchor="t">
            <a:spAutoFit/>
          </a:bodyPr>
          <a:lstStyle/>
          <a:p>
            <a:r>
              <a:rPr lang="en-US" b="1" u="sng" strike="sngStrike"/>
              <a:t>Day1</a:t>
            </a:r>
          </a:p>
        </p:txBody>
      </p:sp>
      <p:sp>
        <p:nvSpPr>
          <p:cNvPr id="8" name="Right Bracket 7">
            <a:extLst>
              <a:ext uri="{FF2B5EF4-FFF2-40B4-BE49-F238E27FC236}">
                <a16:creationId xmlns:a16="http://schemas.microsoft.com/office/drawing/2014/main" id="{B627F76C-C511-6338-F1AC-712F2880BED7}"/>
              </a:ext>
            </a:extLst>
          </p:cNvPr>
          <p:cNvSpPr/>
          <p:nvPr/>
        </p:nvSpPr>
        <p:spPr>
          <a:xfrm>
            <a:off x="6850525" y="3934363"/>
            <a:ext cx="762955" cy="377052"/>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9" name="TextBox 8">
            <a:extLst>
              <a:ext uri="{FF2B5EF4-FFF2-40B4-BE49-F238E27FC236}">
                <a16:creationId xmlns:a16="http://schemas.microsoft.com/office/drawing/2014/main" id="{3D8231DF-5DE8-5597-C53A-2B10761751D7}"/>
              </a:ext>
            </a:extLst>
          </p:cNvPr>
          <p:cNvSpPr txBox="1"/>
          <p:nvPr/>
        </p:nvSpPr>
        <p:spPr>
          <a:xfrm>
            <a:off x="7684159" y="3936243"/>
            <a:ext cx="814137" cy="307777"/>
          </a:xfrm>
          <a:prstGeom prst="rect">
            <a:avLst/>
          </a:prstGeom>
          <a:noFill/>
        </p:spPr>
        <p:txBody>
          <a:bodyPr wrap="square" rtlCol="0">
            <a:spAutoFit/>
          </a:bodyPr>
          <a:lstStyle/>
          <a:p>
            <a:r>
              <a:rPr lang="en-US" b="1" u="sng" strike="sngStrike"/>
              <a:t>Day2</a:t>
            </a:r>
          </a:p>
        </p:txBody>
      </p:sp>
      <p:sp>
        <p:nvSpPr>
          <p:cNvPr id="10" name="Right Bracket 9">
            <a:extLst>
              <a:ext uri="{FF2B5EF4-FFF2-40B4-BE49-F238E27FC236}">
                <a16:creationId xmlns:a16="http://schemas.microsoft.com/office/drawing/2014/main" id="{01BC48EF-C6A5-6DC6-5692-2C831F940ABC}"/>
              </a:ext>
            </a:extLst>
          </p:cNvPr>
          <p:cNvSpPr/>
          <p:nvPr/>
        </p:nvSpPr>
        <p:spPr>
          <a:xfrm>
            <a:off x="6858414" y="4605779"/>
            <a:ext cx="748440" cy="319652"/>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1" name="TextBox 10">
            <a:extLst>
              <a:ext uri="{FF2B5EF4-FFF2-40B4-BE49-F238E27FC236}">
                <a16:creationId xmlns:a16="http://schemas.microsoft.com/office/drawing/2014/main" id="{2B0FC097-F83A-0B99-B4EF-7D81B8D00319}"/>
              </a:ext>
            </a:extLst>
          </p:cNvPr>
          <p:cNvSpPr txBox="1"/>
          <p:nvPr/>
        </p:nvSpPr>
        <p:spPr>
          <a:xfrm>
            <a:off x="7684159" y="4938020"/>
            <a:ext cx="814137" cy="369332"/>
          </a:xfrm>
          <a:prstGeom prst="rect">
            <a:avLst/>
          </a:prstGeom>
          <a:noFill/>
        </p:spPr>
        <p:txBody>
          <a:bodyPr wrap="square" rtlCol="0">
            <a:spAutoFit/>
          </a:bodyPr>
          <a:lstStyle/>
          <a:p>
            <a:r>
              <a:rPr lang="en-US" b="1" u="sng"/>
              <a:t>Day4</a:t>
            </a:r>
          </a:p>
        </p:txBody>
      </p:sp>
      <p:sp>
        <p:nvSpPr>
          <p:cNvPr id="12" name="Right Bracket 11">
            <a:extLst>
              <a:ext uri="{FF2B5EF4-FFF2-40B4-BE49-F238E27FC236}">
                <a16:creationId xmlns:a16="http://schemas.microsoft.com/office/drawing/2014/main" id="{C06E414C-92E0-6672-0CFD-561646DB2973}"/>
              </a:ext>
            </a:extLst>
          </p:cNvPr>
          <p:cNvSpPr/>
          <p:nvPr/>
        </p:nvSpPr>
        <p:spPr>
          <a:xfrm>
            <a:off x="6865671" y="4983655"/>
            <a:ext cx="741183" cy="286267"/>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3" name="TextBox 12">
            <a:extLst>
              <a:ext uri="{FF2B5EF4-FFF2-40B4-BE49-F238E27FC236}">
                <a16:creationId xmlns:a16="http://schemas.microsoft.com/office/drawing/2014/main" id="{98185A0F-CC22-3BC6-BBCD-E2C78A06D952}"/>
              </a:ext>
            </a:extLst>
          </p:cNvPr>
          <p:cNvSpPr txBox="1"/>
          <p:nvPr/>
        </p:nvSpPr>
        <p:spPr>
          <a:xfrm>
            <a:off x="7684159" y="4582769"/>
            <a:ext cx="814137" cy="369332"/>
          </a:xfrm>
          <a:prstGeom prst="rect">
            <a:avLst/>
          </a:prstGeom>
          <a:noFill/>
        </p:spPr>
        <p:txBody>
          <a:bodyPr wrap="square" rtlCol="0">
            <a:spAutoFit/>
          </a:bodyPr>
          <a:lstStyle/>
          <a:p>
            <a:r>
              <a:rPr lang="en-US" b="1" u="sng"/>
              <a:t>Day3</a:t>
            </a:r>
          </a:p>
        </p:txBody>
      </p:sp>
      <p:sp>
        <p:nvSpPr>
          <p:cNvPr id="14" name="Right Bracket 13">
            <a:extLst>
              <a:ext uri="{FF2B5EF4-FFF2-40B4-BE49-F238E27FC236}">
                <a16:creationId xmlns:a16="http://schemas.microsoft.com/office/drawing/2014/main" id="{784374F4-D18A-263F-1C1F-0A6DE15ACAF3}"/>
              </a:ext>
            </a:extLst>
          </p:cNvPr>
          <p:cNvSpPr/>
          <p:nvPr/>
        </p:nvSpPr>
        <p:spPr>
          <a:xfrm>
            <a:off x="6872928" y="5382051"/>
            <a:ext cx="733926" cy="425604"/>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B8CF2E5A-DBD4-2F33-C25A-D254195E5045}"/>
              </a:ext>
            </a:extLst>
          </p:cNvPr>
          <p:cNvSpPr txBox="1"/>
          <p:nvPr/>
        </p:nvSpPr>
        <p:spPr>
          <a:xfrm>
            <a:off x="7684159" y="5384472"/>
            <a:ext cx="814137" cy="369332"/>
          </a:xfrm>
          <a:prstGeom prst="rect">
            <a:avLst/>
          </a:prstGeom>
          <a:noFill/>
        </p:spPr>
        <p:txBody>
          <a:bodyPr wrap="square" rtlCol="0">
            <a:spAutoFit/>
          </a:bodyPr>
          <a:lstStyle/>
          <a:p>
            <a:r>
              <a:rPr lang="en-US" b="1" u="sng"/>
              <a:t>Day5</a:t>
            </a:r>
          </a:p>
        </p:txBody>
      </p:sp>
      <p:sp>
        <p:nvSpPr>
          <p:cNvPr id="7" name="Right Bracket 6">
            <a:extLst>
              <a:ext uri="{FF2B5EF4-FFF2-40B4-BE49-F238E27FC236}">
                <a16:creationId xmlns:a16="http://schemas.microsoft.com/office/drawing/2014/main" id="{2B48B8F5-C35F-DD27-030D-60BAECD09E5D}"/>
              </a:ext>
            </a:extLst>
          </p:cNvPr>
          <p:cNvSpPr/>
          <p:nvPr/>
        </p:nvSpPr>
        <p:spPr>
          <a:xfrm>
            <a:off x="6880184" y="6020679"/>
            <a:ext cx="733926" cy="425604"/>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E9EC6117-0739-8E32-3BA8-49C1C2D8F9E2}"/>
              </a:ext>
            </a:extLst>
          </p:cNvPr>
          <p:cNvSpPr txBox="1"/>
          <p:nvPr/>
        </p:nvSpPr>
        <p:spPr>
          <a:xfrm>
            <a:off x="7684158" y="6023100"/>
            <a:ext cx="814137" cy="369332"/>
          </a:xfrm>
          <a:prstGeom prst="rect">
            <a:avLst/>
          </a:prstGeom>
          <a:noFill/>
        </p:spPr>
        <p:txBody>
          <a:bodyPr wrap="square" lIns="91440" tIns="45720" rIns="91440" bIns="45720" rtlCol="0" anchor="t">
            <a:spAutoFit/>
          </a:bodyPr>
          <a:lstStyle/>
          <a:p>
            <a:r>
              <a:rPr lang="en-US" b="1" u="sng"/>
              <a:t>Day6</a:t>
            </a:r>
          </a:p>
        </p:txBody>
      </p:sp>
    </p:spTree>
    <p:extLst>
      <p:ext uri="{BB962C8B-B14F-4D97-AF65-F5344CB8AC3E}">
        <p14:creationId xmlns:p14="http://schemas.microsoft.com/office/powerpoint/2010/main" val="18761017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67331C-B8DA-E078-794A-6A17AF8036A8}"/>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CF08DC16-5570-A9D3-A6C8-8EB5D95073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85" y="264647"/>
            <a:ext cx="2627807" cy="1106952"/>
          </a:xfrm>
          <a:prstGeom prst="rect">
            <a:avLst/>
          </a:prstGeom>
        </p:spPr>
      </p:pic>
      <p:sp>
        <p:nvSpPr>
          <p:cNvPr id="7" name="TextBox 3">
            <a:extLst>
              <a:ext uri="{FF2B5EF4-FFF2-40B4-BE49-F238E27FC236}">
                <a16:creationId xmlns:a16="http://schemas.microsoft.com/office/drawing/2014/main" id="{0113DA87-B257-2778-9A70-23E9056BBDE7}"/>
              </a:ext>
            </a:extLst>
          </p:cNvPr>
          <p:cNvSpPr txBox="1"/>
          <p:nvPr/>
        </p:nvSpPr>
        <p:spPr>
          <a:xfrm>
            <a:off x="282285" y="1370848"/>
            <a:ext cx="11484599" cy="892552"/>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a:lstStyle>
          <a:p>
            <a:r>
              <a:rPr lang="en-US" sz="3200" b="1"/>
              <a:t>Agenda</a:t>
            </a:r>
          </a:p>
          <a:p>
            <a:pPr marL="342900" indent="-342900">
              <a:buFontTx/>
              <a:buChar char="-"/>
            </a:pPr>
            <a:endParaRPr lang="en-US" sz="2000" b="1">
              <a:ea typeface="Calibri" panose="020F0502020204030204"/>
              <a:cs typeface="Calibri" panose="020F0502020204030204"/>
            </a:endParaRPr>
          </a:p>
        </p:txBody>
      </p:sp>
      <p:sp>
        <p:nvSpPr>
          <p:cNvPr id="9" name="TextBox 4">
            <a:extLst>
              <a:ext uri="{FF2B5EF4-FFF2-40B4-BE49-F238E27FC236}">
                <a16:creationId xmlns:a16="http://schemas.microsoft.com/office/drawing/2014/main" id="{18870891-A4E6-1CEA-A1AA-C0CBF5588C81}"/>
              </a:ext>
            </a:extLst>
          </p:cNvPr>
          <p:cNvSpPr txBox="1"/>
          <p:nvPr/>
        </p:nvSpPr>
        <p:spPr>
          <a:xfrm>
            <a:off x="284052" y="1926131"/>
            <a:ext cx="11484599" cy="2554545"/>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pPr marL="342900" indent="-342900">
              <a:buFont typeface="Arial,Sans-Serif"/>
              <a:buChar char="•"/>
            </a:pPr>
            <a:r>
              <a:rPr lang="en-US" sz="2000" b="1">
                <a:ea typeface="Calibri" panose="020F0502020204030204"/>
                <a:cs typeface="Calibri" panose="020F0502020204030204"/>
              </a:rPr>
              <a:t>Project 2</a:t>
            </a:r>
          </a:p>
          <a:p>
            <a:pPr marL="342900" indent="-342900">
              <a:buFont typeface="Arial,Sans-Serif"/>
              <a:buChar char="•"/>
            </a:pPr>
            <a:r>
              <a:rPr lang="en-US" sz="2000" b="1">
                <a:ea typeface="Calibri" panose="020F0502020204030204"/>
                <a:cs typeface="Calibri" panose="020F0502020204030204"/>
              </a:rPr>
              <a:t>UiPath RPA Architecture (Studio, Orchestrator and Robot)</a:t>
            </a:r>
            <a:endParaRPr lang="en-US" sz="2000">
              <a:ea typeface="Calibri" panose="020F0502020204030204"/>
              <a:cs typeface="Calibri" panose="020F0502020204030204"/>
            </a:endParaRPr>
          </a:p>
          <a:p>
            <a:pPr marL="342900" indent="-342900">
              <a:buFont typeface="Arial,Sans-Serif"/>
              <a:buChar char="•"/>
            </a:pPr>
            <a:r>
              <a:rPr lang="en-US" sz="2000" b="1">
                <a:ea typeface="Calibri" panose="020F0502020204030204"/>
                <a:cs typeface="Calibri" panose="020F0502020204030204"/>
              </a:rPr>
              <a:t>State Machines</a:t>
            </a:r>
          </a:p>
          <a:p>
            <a:pPr marL="342900" indent="-342900">
              <a:buFont typeface="Arial,Sans-Serif"/>
              <a:buChar char="•"/>
            </a:pPr>
            <a:r>
              <a:rPr lang="en-US" sz="2000" b="1">
                <a:ea typeface="Calibri" panose="020F0502020204030204"/>
                <a:cs typeface="Calibri" panose="020F0502020204030204"/>
              </a:rPr>
              <a:t>RE - Framework</a:t>
            </a:r>
          </a:p>
          <a:p>
            <a:pPr marL="342900" indent="-342900">
              <a:buFont typeface="Arial" panose="020B0604020202020204"/>
              <a:buChar char="•"/>
            </a:pPr>
            <a:r>
              <a:rPr lang="en-US" sz="2000" b="1">
                <a:ea typeface="Calibri" panose="020F0502020204030204"/>
                <a:cs typeface="Calibri" panose="020F0502020204030204"/>
              </a:rPr>
              <a:t>RPA Final Project</a:t>
            </a:r>
            <a:endParaRPr lang="en-US">
              <a:ea typeface="Calibri" panose="020F0502020204030204"/>
              <a:cs typeface="Calibri" panose="020F0502020204030204"/>
            </a:endParaRPr>
          </a:p>
          <a:p>
            <a:pPr marL="342900" indent="-342900">
              <a:buFont typeface="Arial" panose="020B0604020202020204"/>
              <a:buChar char="•"/>
            </a:pPr>
            <a:endParaRPr lang="en-US" sz="2000" b="1">
              <a:ea typeface="Calibri" panose="020F0502020204030204"/>
              <a:cs typeface="Calibri" panose="020F0502020204030204"/>
            </a:endParaRPr>
          </a:p>
          <a:p>
            <a:pPr marL="342900" indent="-342900">
              <a:buFont typeface="Arial" panose="020B0604020202020204"/>
              <a:buChar char="•"/>
            </a:pPr>
            <a:endParaRPr lang="en-US" sz="2000" b="1">
              <a:ea typeface="Calibri" panose="020F0502020204030204"/>
              <a:cs typeface="Calibri" panose="020F0502020204030204"/>
            </a:endParaRPr>
          </a:p>
          <a:p>
            <a:pPr marL="342900" indent="-342900">
              <a:buFont typeface="Arial" panose="020B0604020202020204"/>
              <a:buChar char="•"/>
            </a:pPr>
            <a:endParaRPr lang="en-US" sz="2000" b="1">
              <a:ea typeface="Calibri" panose="020F0502020204030204"/>
              <a:cs typeface="Calibri" panose="020F0502020204030204"/>
            </a:endParaRPr>
          </a:p>
        </p:txBody>
      </p:sp>
      <p:sp>
        <p:nvSpPr>
          <p:cNvPr id="10" name="Right Bracket 9">
            <a:extLst>
              <a:ext uri="{FF2B5EF4-FFF2-40B4-BE49-F238E27FC236}">
                <a16:creationId xmlns:a16="http://schemas.microsoft.com/office/drawing/2014/main" id="{53F543AD-ACAF-9ADE-1845-93F16A52D80A}"/>
              </a:ext>
            </a:extLst>
          </p:cNvPr>
          <p:cNvSpPr/>
          <p:nvPr/>
        </p:nvSpPr>
        <p:spPr>
          <a:xfrm>
            <a:off x="8027255" y="2321839"/>
            <a:ext cx="741498" cy="423719"/>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pPr algn="ctr"/>
            <a:endParaRPr lang="en-US"/>
          </a:p>
        </p:txBody>
      </p:sp>
      <p:sp>
        <p:nvSpPr>
          <p:cNvPr id="11" name="TextBox 2">
            <a:extLst>
              <a:ext uri="{FF2B5EF4-FFF2-40B4-BE49-F238E27FC236}">
                <a16:creationId xmlns:a16="http://schemas.microsoft.com/office/drawing/2014/main" id="{71CB18E6-7E31-61E9-4F50-6A32FEB77B23}"/>
              </a:ext>
            </a:extLst>
          </p:cNvPr>
          <p:cNvSpPr txBox="1"/>
          <p:nvPr/>
        </p:nvSpPr>
        <p:spPr>
          <a:xfrm>
            <a:off x="8915664" y="1927865"/>
            <a:ext cx="814137" cy="369332"/>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r>
              <a:rPr lang="en-US" b="1" u="sng"/>
              <a:t>Day7</a:t>
            </a:r>
          </a:p>
        </p:txBody>
      </p:sp>
      <p:sp>
        <p:nvSpPr>
          <p:cNvPr id="13" name="Right Bracket 12">
            <a:extLst>
              <a:ext uri="{FF2B5EF4-FFF2-40B4-BE49-F238E27FC236}">
                <a16:creationId xmlns:a16="http://schemas.microsoft.com/office/drawing/2014/main" id="{55837581-26E4-C0B8-7AB0-C56EBEB0AEC2}"/>
              </a:ext>
            </a:extLst>
          </p:cNvPr>
          <p:cNvSpPr/>
          <p:nvPr/>
        </p:nvSpPr>
        <p:spPr>
          <a:xfrm>
            <a:off x="8034512" y="2017036"/>
            <a:ext cx="734241" cy="191494"/>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pPr algn="ctr"/>
            <a:endParaRPr lang="en-US"/>
          </a:p>
        </p:txBody>
      </p:sp>
      <p:sp>
        <p:nvSpPr>
          <p:cNvPr id="15" name="TextBox 13">
            <a:extLst>
              <a:ext uri="{FF2B5EF4-FFF2-40B4-BE49-F238E27FC236}">
                <a16:creationId xmlns:a16="http://schemas.microsoft.com/office/drawing/2014/main" id="{D00A91CB-289B-0EBA-4F17-CF4A089F1B21}"/>
              </a:ext>
            </a:extLst>
          </p:cNvPr>
          <p:cNvSpPr txBox="1"/>
          <p:nvPr/>
        </p:nvSpPr>
        <p:spPr>
          <a:xfrm>
            <a:off x="8915663" y="2341521"/>
            <a:ext cx="814137" cy="369332"/>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r>
              <a:rPr lang="en-US" b="1" u="sng"/>
              <a:t>Day8</a:t>
            </a:r>
          </a:p>
        </p:txBody>
      </p:sp>
      <p:sp>
        <p:nvSpPr>
          <p:cNvPr id="16" name="Right Bracket 15">
            <a:extLst>
              <a:ext uri="{FF2B5EF4-FFF2-40B4-BE49-F238E27FC236}">
                <a16:creationId xmlns:a16="http://schemas.microsoft.com/office/drawing/2014/main" id="{ED23C98D-E430-66DF-2935-92B8EA577F94}"/>
              </a:ext>
            </a:extLst>
          </p:cNvPr>
          <p:cNvSpPr/>
          <p:nvPr/>
        </p:nvSpPr>
        <p:spPr>
          <a:xfrm>
            <a:off x="8027254" y="2866124"/>
            <a:ext cx="741498" cy="423719"/>
          </a:xfrm>
          <a:prstGeom prst="rightBracket">
            <a:avLst/>
          </a:prstGeom>
        </p:spPr>
        <p:style>
          <a:lnRef idx="3">
            <a:schemeClr val="dk1"/>
          </a:lnRef>
          <a:fillRef idx="0">
            <a:schemeClr val="dk1"/>
          </a:fillRef>
          <a:effectRef idx="2">
            <a:schemeClr val="dk1"/>
          </a:effectRef>
          <a:fontRef idx="minor">
            <a:schemeClr val="tx1"/>
          </a:fontRef>
        </p:style>
        <p:txBody>
          <a:bodyPr rtlCol="0" anchor="ct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pPr algn="ctr"/>
            <a:endParaRPr lang="en-US"/>
          </a:p>
        </p:txBody>
      </p:sp>
      <p:sp>
        <p:nvSpPr>
          <p:cNvPr id="17" name="TextBox 9">
            <a:extLst>
              <a:ext uri="{FF2B5EF4-FFF2-40B4-BE49-F238E27FC236}">
                <a16:creationId xmlns:a16="http://schemas.microsoft.com/office/drawing/2014/main" id="{D1C1516E-E7B0-EC2F-0830-C60C23A2E1A3}"/>
              </a:ext>
            </a:extLst>
          </p:cNvPr>
          <p:cNvSpPr txBox="1"/>
          <p:nvPr/>
        </p:nvSpPr>
        <p:spPr>
          <a:xfrm>
            <a:off x="8915662" y="2893063"/>
            <a:ext cx="814137" cy="369332"/>
          </a:xfrm>
          <a:prstGeom prst="rect">
            <a:avLst/>
          </a:prstGeom>
          <a:noFill/>
        </p:spPr>
        <p:txBody>
          <a:bodyPr wrap="square" lIns="91440" tIns="45720" rIns="91440" bIns="45720" rtlCol="0" anchor="t">
            <a:spAutoFit/>
          </a:bodyPr>
          <a:lstStyle>
            <a:defPPr marR="0" lvl="0" algn="l" rtl="0">
              <a:lnSpc>
                <a:spcPct val="100000"/>
              </a:lnSpc>
              <a:spcBef>
                <a:spcPts val="0"/>
              </a:spcBef>
              <a:spcAft>
                <a:spcPts val="0"/>
              </a:spcAft>
              <a:defRPr lang="en-US"/>
            </a:defPPr>
            <a:lvl1pPr marL="0" marR="0" lvl="0"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1pPr>
            <a:lvl2pPr marL="457200" marR="0" lvl="1"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2pPr>
            <a:lvl3pPr marL="914400" marR="0" lvl="2"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3pPr>
            <a:lvl4pPr marL="1371600" marR="0" lvl="3"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4pPr>
            <a:lvl5pPr marL="1828800" marR="0" lvl="4"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5pPr>
            <a:lvl6pPr marL="2286000" marR="0" lvl="5"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6pPr>
            <a:lvl7pPr marL="2743200" marR="0" lvl="6"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7pPr>
            <a:lvl8pPr marL="3200400" marR="0" lvl="7"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8pPr>
            <a:lvl9pPr marL="3657600" marR="0" lvl="8" algn="l" defTabSz="914400" rtl="0" eaLnBrk="1" latinLnBrk="0" hangingPunct="1">
              <a:lnSpc>
                <a:spcPct val="100000"/>
              </a:lnSpc>
              <a:spcBef>
                <a:spcPts val="0"/>
              </a:spcBef>
              <a:spcAft>
                <a:spcPts val="0"/>
              </a:spcAft>
              <a:buClr>
                <a:srgbClr val="000000"/>
              </a:buClr>
              <a:buFont typeface="Arial" panose="020B0604020202020204"/>
              <a:defRPr sz="1800" b="0" i="0" u="none" strike="noStrike" kern="1200" cap="none">
                <a:solidFill>
                  <a:schemeClr val="tx1"/>
                </a:solidFill>
                <a:latin typeface="+mn-lt"/>
                <a:ea typeface="+mn-ea"/>
                <a:cs typeface="+mn-cs"/>
                <a:sym typeface="Arial" panose="020B0604020202020204"/>
              </a:defRPr>
            </a:lvl9pPr>
          </a:lstStyle>
          <a:p>
            <a:r>
              <a:rPr lang="en-US" b="1" u="sng"/>
              <a:t>Day9</a:t>
            </a:r>
          </a:p>
        </p:txBody>
      </p:sp>
    </p:spTree>
    <p:extLst>
      <p:ext uri="{BB962C8B-B14F-4D97-AF65-F5344CB8AC3E}">
        <p14:creationId xmlns:p14="http://schemas.microsoft.com/office/powerpoint/2010/main" val="370457769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95CF086-F14E-D3BA-22FC-B6A2AE5B45CA}"/>
            </a:ext>
          </a:extLst>
        </p:cNvPr>
        <p:cNvGrpSpPr/>
        <p:nvPr/>
      </p:nvGrpSpPr>
      <p:grpSpPr>
        <a:xfrm>
          <a:off x="0" y="0"/>
          <a:ext cx="0" cy="0"/>
          <a:chOff x="0" y="0"/>
          <a:chExt cx="0" cy="0"/>
        </a:xfrm>
      </p:grpSpPr>
      <p:pic>
        <p:nvPicPr>
          <p:cNvPr id="7" name="Picture 6" descr="PPT - Revision PowerPoint Presentation, free download - ID:2567151">
            <a:extLst>
              <a:ext uri="{FF2B5EF4-FFF2-40B4-BE49-F238E27FC236}">
                <a16:creationId xmlns:a16="http://schemas.microsoft.com/office/drawing/2014/main" id="{B463991E-55A6-69E5-2023-722030780222}"/>
              </a:ext>
            </a:extLst>
          </p:cNvPr>
          <p:cNvPicPr>
            <a:picLocks noChangeAspect="1"/>
          </p:cNvPicPr>
          <p:nvPr/>
        </p:nvPicPr>
        <p:blipFill>
          <a:blip r:embed="rId2"/>
          <a:srcRect t="10000" b="28605"/>
          <a:stretch>
            <a:fillRect/>
          </a:stretch>
        </p:blipFill>
        <p:spPr>
          <a:xfrm>
            <a:off x="7484" y="1370693"/>
            <a:ext cx="12206059" cy="5488213"/>
          </a:xfrm>
          <a:prstGeom prst="rect">
            <a:avLst/>
          </a:prstGeom>
        </p:spPr>
      </p:pic>
      <p:pic>
        <p:nvPicPr>
          <p:cNvPr id="6" name="Picture 5">
            <a:extLst>
              <a:ext uri="{FF2B5EF4-FFF2-40B4-BE49-F238E27FC236}">
                <a16:creationId xmlns:a16="http://schemas.microsoft.com/office/drawing/2014/main" id="{D5CD02AB-4AF9-3013-BC3D-05025906D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2285" y="264647"/>
            <a:ext cx="2627807" cy="1106952"/>
          </a:xfrm>
          <a:prstGeom prst="rect">
            <a:avLst/>
          </a:prstGeom>
        </p:spPr>
      </p:pic>
    </p:spTree>
    <p:extLst>
      <p:ext uri="{BB962C8B-B14F-4D97-AF65-F5344CB8AC3E}">
        <p14:creationId xmlns:p14="http://schemas.microsoft.com/office/powerpoint/2010/main" val="40319821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45E3F-83E7-6B5C-5A2F-00A0D234335C}"/>
            </a:ext>
          </a:extLst>
        </p:cNvPr>
        <p:cNvGrpSpPr/>
        <p:nvPr/>
      </p:nvGrpSpPr>
      <p:grpSpPr>
        <a:xfrm>
          <a:off x="0" y="0"/>
          <a:ext cx="0" cy="0"/>
          <a:chOff x="0" y="0"/>
          <a:chExt cx="0" cy="0"/>
        </a:xfrm>
      </p:grpSpPr>
      <p:pic>
        <p:nvPicPr>
          <p:cNvPr id="6" name="Picture 5">
            <a:extLst>
              <a:ext uri="{FF2B5EF4-FFF2-40B4-BE49-F238E27FC236}">
                <a16:creationId xmlns:a16="http://schemas.microsoft.com/office/drawing/2014/main" id="{61009114-2F27-628D-C85F-A556310B0F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2285" y="264647"/>
            <a:ext cx="2627807" cy="1106952"/>
          </a:xfrm>
          <a:prstGeom prst="rect">
            <a:avLst/>
          </a:prstGeom>
        </p:spPr>
      </p:pic>
      <p:pic>
        <p:nvPicPr>
          <p:cNvPr id="2" name="Picture 1" descr="Assignment Solution | Jaipura">
            <a:extLst>
              <a:ext uri="{FF2B5EF4-FFF2-40B4-BE49-F238E27FC236}">
                <a16:creationId xmlns:a16="http://schemas.microsoft.com/office/drawing/2014/main" id="{4C74598D-AB4C-F712-BDF0-7F45103ACFE9}"/>
              </a:ext>
            </a:extLst>
          </p:cNvPr>
          <p:cNvPicPr>
            <a:picLocks noChangeAspect="1"/>
          </p:cNvPicPr>
          <p:nvPr/>
        </p:nvPicPr>
        <p:blipFill>
          <a:blip r:embed="rId3"/>
          <a:stretch>
            <a:fillRect/>
          </a:stretch>
        </p:blipFill>
        <p:spPr>
          <a:xfrm>
            <a:off x="3406321" y="1478643"/>
            <a:ext cx="5379357" cy="5379357"/>
          </a:xfrm>
          <a:prstGeom prst="rect">
            <a:avLst/>
          </a:prstGeom>
        </p:spPr>
      </p:pic>
    </p:spTree>
    <p:extLst>
      <p:ext uri="{BB962C8B-B14F-4D97-AF65-F5344CB8AC3E}">
        <p14:creationId xmlns:p14="http://schemas.microsoft.com/office/powerpoint/2010/main" val="30843400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05"/>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l="1745" r="1748"/>
          <a:stretch/>
        </p:blipFill>
        <p:spPr>
          <a:xfrm>
            <a:off x="762000" y="6296025"/>
            <a:ext cx="10668000" cy="323850"/>
          </a:xfrm>
          <a:prstGeom prst="rect">
            <a:avLst/>
          </a:prstGeom>
          <a:noFill/>
          <a:ln>
            <a:noFill/>
          </a:ln>
        </p:spPr>
      </p:pic>
      <p:sp>
        <p:nvSpPr>
          <p:cNvPr id="108" name="Google Shape;108;p15"/>
          <p:cNvSpPr txBox="1"/>
          <p:nvPr/>
        </p:nvSpPr>
        <p:spPr>
          <a:xfrm>
            <a:off x="5681662" y="2524125"/>
            <a:ext cx="828675"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SECTION I</a:t>
            </a:r>
            <a:endParaRPr/>
          </a:p>
        </p:txBody>
      </p:sp>
      <p:sp>
        <p:nvSpPr>
          <p:cNvPr id="109" name="Google Shape;109;p15"/>
          <p:cNvSpPr txBox="1"/>
          <p:nvPr/>
        </p:nvSpPr>
        <p:spPr>
          <a:xfrm>
            <a:off x="1955482" y="2800350"/>
            <a:ext cx="8281035" cy="6001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1F3864"/>
                </a:solidFill>
                <a:latin typeface="Urbanist"/>
                <a:ea typeface="Urbanist"/>
                <a:cs typeface="Urbanist"/>
                <a:sym typeface="Urbanist"/>
              </a:rPr>
              <a:t>DataTables: The RAM Database</a:t>
            </a:r>
            <a:endParaRPr/>
          </a:p>
        </p:txBody>
      </p:sp>
      <p:sp>
        <p:nvSpPr>
          <p:cNvPr id="110" name="Google Shape;110;p15"/>
          <p:cNvSpPr txBox="1"/>
          <p:nvPr/>
        </p:nvSpPr>
        <p:spPr>
          <a:xfrm>
            <a:off x="1395412" y="4152900"/>
            <a:ext cx="9401175"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475569"/>
                </a:solidFill>
                <a:latin typeface="Urbanist"/>
                <a:ea typeface="Urbanist"/>
                <a:cs typeface="Urbanist"/>
                <a:sym typeface="Urbanist"/>
              </a:rPr>
              <a:t>Deep dive into volatile in-memory structure schema definitions, querying engine performance, standard actions, and custom LINQ orchestration.</a:t>
            </a:r>
            <a:endParaRPr/>
          </a:p>
        </p:txBody>
      </p:sp>
      <p:sp>
        <p:nvSpPr>
          <p:cNvPr id="111" name="Google Shape;111;p15"/>
          <p:cNvSpPr txBox="1"/>
          <p:nvPr/>
        </p:nvSpPr>
        <p:spPr>
          <a:xfrm>
            <a:off x="762000" y="6448425"/>
            <a:ext cx="22098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ADVANCED RPA DATA STRUCTURES</a:t>
            </a:r>
            <a:endParaRPr/>
          </a:p>
        </p:txBody>
      </p:sp>
      <p:sp>
        <p:nvSpPr>
          <p:cNvPr id="112" name="Google Shape;112;p15"/>
          <p:cNvSpPr txBox="1"/>
          <p:nvPr/>
        </p:nvSpPr>
        <p:spPr>
          <a:xfrm>
            <a:off x="10582275" y="6448425"/>
            <a:ext cx="8477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SLIDE 3 OF 42</a:t>
            </a:r>
            <a:endParaRPr/>
          </a:p>
        </p:txBody>
      </p:sp>
      <p:pic>
        <p:nvPicPr>
          <p:cNvPr id="9001" name="RAYA Logo"/>
          <p:cNvPicPr>
            <a:picLocks noChangeAspect="1"/>
          </p:cNvPicPr>
          <p:nvPr/>
        </p:nvPicPr>
        <p:blipFill>
          <a:blip r:embed="rId4"/>
          <a:stretch>
            <a:fillRect/>
          </a:stretch>
        </p:blipFill>
        <p:spPr>
          <a:xfrm>
            <a:off x="10242000" y="280000"/>
            <a:ext cx="1700000" cy="716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16"/>
        <p:cNvGrpSpPr/>
        <p:nvPr/>
      </p:nvGrpSpPr>
      <p:grpSpPr>
        <a:xfrm>
          <a:off x="0" y="0"/>
          <a:ext cx="0" cy="0"/>
          <a:chOff x="0" y="0"/>
          <a:chExt cx="0" cy="0"/>
        </a:xfrm>
      </p:grpSpPr>
      <p:pic>
        <p:nvPicPr>
          <p:cNvPr id="117" name="Google Shape;117;p1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18" name="Google Shape;118;p16"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119" name="Google Shape;119;p16" descr="image.png"/>
          <p:cNvPicPr preferRelativeResize="0"/>
          <p:nvPr/>
        </p:nvPicPr>
        <p:blipFill rotWithShape="1">
          <a:blip r:embed="rId5">
            <a:alphaModFix/>
          </a:blip>
          <a:srcRect/>
          <a:stretch/>
        </p:blipFill>
        <p:spPr>
          <a:xfrm>
            <a:off x="762000" y="2781746"/>
            <a:ext cx="5143500" cy="2290762"/>
          </a:xfrm>
          <a:prstGeom prst="rect">
            <a:avLst/>
          </a:prstGeom>
          <a:noFill/>
          <a:ln>
            <a:noFill/>
          </a:ln>
        </p:spPr>
      </p:pic>
      <p:pic>
        <p:nvPicPr>
          <p:cNvPr id="120" name="Google Shape;120;p16" descr="image.png"/>
          <p:cNvPicPr preferRelativeResize="0"/>
          <p:nvPr/>
        </p:nvPicPr>
        <p:blipFill rotWithShape="1">
          <a:blip r:embed="rId6">
            <a:alphaModFix/>
          </a:blip>
          <a:srcRect/>
          <a:stretch/>
        </p:blipFill>
        <p:spPr>
          <a:xfrm>
            <a:off x="6286500" y="2781746"/>
            <a:ext cx="5143500" cy="2290762"/>
          </a:xfrm>
          <a:prstGeom prst="rect">
            <a:avLst/>
          </a:prstGeom>
          <a:noFill/>
          <a:ln>
            <a:noFill/>
          </a:ln>
        </p:spPr>
      </p:pic>
      <p:sp>
        <p:nvSpPr>
          <p:cNvPr id="121" name="Google Shape;121;p16"/>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RAM DATABASE ENGINE</a:t>
            </a:r>
            <a:endParaRPr/>
          </a:p>
        </p:txBody>
      </p:sp>
      <p:sp>
        <p:nvSpPr>
          <p:cNvPr id="122" name="Google Shape;122;p16"/>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Understanding DataTables</a:t>
            </a:r>
            <a:endParaRPr/>
          </a:p>
        </p:txBody>
      </p:sp>
      <p:sp>
        <p:nvSpPr>
          <p:cNvPr id="123" name="Google Shape;123;p16"/>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24" name="Google Shape;124;p16"/>
          <p:cNvSpPr txBox="1"/>
          <p:nvPr/>
        </p:nvSpPr>
        <p:spPr>
          <a:xfrm>
            <a:off x="762000" y="6448425"/>
            <a:ext cx="14097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DATATABLES IN-DEPTH</a:t>
            </a:r>
            <a:endParaRPr/>
          </a:p>
        </p:txBody>
      </p:sp>
      <p:sp>
        <p:nvSpPr>
          <p:cNvPr id="125" name="Google Shape;125;p16"/>
          <p:cNvSpPr txBox="1"/>
          <p:nvPr/>
        </p:nvSpPr>
        <p:spPr>
          <a:xfrm>
            <a:off x="10572750" y="6448425"/>
            <a:ext cx="857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4 OF 42</a:t>
            </a:r>
            <a:endParaRPr/>
          </a:p>
        </p:txBody>
      </p:sp>
      <p:sp>
        <p:nvSpPr>
          <p:cNvPr id="126" name="Google Shape;126;p16"/>
          <p:cNvSpPr txBox="1"/>
          <p:nvPr/>
        </p:nvSpPr>
        <p:spPr>
          <a:xfrm>
            <a:off x="1057275" y="3077021"/>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Volatile Memory Concept</a:t>
            </a:r>
            <a:endParaRPr/>
          </a:p>
        </p:txBody>
      </p:sp>
      <p:sp>
        <p:nvSpPr>
          <p:cNvPr id="127" name="Google Shape;127;p16"/>
          <p:cNvSpPr txBox="1"/>
          <p:nvPr/>
        </p:nvSpPr>
        <p:spPr>
          <a:xfrm>
            <a:off x="1057275" y="3553271"/>
            <a:ext cx="4552950" cy="1471557"/>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DataTables (prefixed as dt_) are volatile structures hosted completely inside the Robot's Random Access Memory (RAM). Unlike raw disk formats, memory-hosted structures enable near-instantaneous indexing, CRUD iterations, and execution pipeline safety.</a:t>
            </a:r>
            <a:endParaRPr/>
          </a:p>
        </p:txBody>
      </p:sp>
      <p:sp>
        <p:nvSpPr>
          <p:cNvPr id="128" name="Google Shape;128;p16"/>
          <p:cNvSpPr txBox="1"/>
          <p:nvPr/>
        </p:nvSpPr>
        <p:spPr>
          <a:xfrm>
            <a:off x="65817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Enterprise Architecture Role</a:t>
            </a:r>
            <a:endParaRPr/>
          </a:p>
        </p:txBody>
      </p:sp>
      <p:sp>
        <p:nvSpPr>
          <p:cNvPr id="129" name="Google Shape;129;p16"/>
          <p:cNvSpPr txBox="1"/>
          <p:nvPr/>
        </p:nvSpPr>
        <p:spPr>
          <a:xfrm>
            <a:off x="65817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Acting as the temporary transit station, DataTables isolate processing work. Standardized rows and columns safely serialize transactions before executing expensive transactional saves to remote database layers or local legacy spreadsheets.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3"/>
        <p:cNvGrpSpPr/>
        <p:nvPr/>
      </p:nvGrpSpPr>
      <p:grpSpPr>
        <a:xfrm>
          <a:off x="0" y="0"/>
          <a:ext cx="0" cy="0"/>
          <a:chOff x="0" y="0"/>
          <a:chExt cx="0" cy="0"/>
        </a:xfrm>
      </p:grpSpPr>
      <p:pic>
        <p:nvPicPr>
          <p:cNvPr id="134" name="Google Shape;134;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5" name="Google Shape;135;p17"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136" name="Google Shape;136;p17" descr="image.png"/>
          <p:cNvPicPr preferRelativeResize="0"/>
          <p:nvPr/>
        </p:nvPicPr>
        <p:blipFill rotWithShape="1">
          <a:blip r:embed="rId5">
            <a:alphaModFix/>
          </a:blip>
          <a:srcRect/>
          <a:stretch/>
        </p:blipFill>
        <p:spPr>
          <a:xfrm>
            <a:off x="762000" y="2815083"/>
            <a:ext cx="3397299" cy="2224087"/>
          </a:xfrm>
          <a:prstGeom prst="rect">
            <a:avLst/>
          </a:prstGeom>
          <a:noFill/>
          <a:ln>
            <a:noFill/>
          </a:ln>
        </p:spPr>
      </p:pic>
      <p:pic>
        <p:nvPicPr>
          <p:cNvPr id="137" name="Google Shape;137;p17" descr="image.png"/>
          <p:cNvPicPr preferRelativeResize="0"/>
          <p:nvPr/>
        </p:nvPicPr>
        <p:blipFill rotWithShape="1">
          <a:blip r:embed="rId6">
            <a:alphaModFix/>
          </a:blip>
          <a:srcRect/>
          <a:stretch/>
        </p:blipFill>
        <p:spPr>
          <a:xfrm>
            <a:off x="4397424" y="2815083"/>
            <a:ext cx="3397299" cy="2224087"/>
          </a:xfrm>
          <a:prstGeom prst="rect">
            <a:avLst/>
          </a:prstGeom>
          <a:noFill/>
          <a:ln>
            <a:noFill/>
          </a:ln>
        </p:spPr>
      </p:pic>
      <p:pic>
        <p:nvPicPr>
          <p:cNvPr id="138" name="Google Shape;138;p17" descr="image.png"/>
          <p:cNvPicPr preferRelativeResize="0"/>
          <p:nvPr/>
        </p:nvPicPr>
        <p:blipFill rotWithShape="1">
          <a:blip r:embed="rId7">
            <a:alphaModFix/>
          </a:blip>
          <a:srcRect/>
          <a:stretch/>
        </p:blipFill>
        <p:spPr>
          <a:xfrm>
            <a:off x="8032849" y="2815083"/>
            <a:ext cx="3397299" cy="2224087"/>
          </a:xfrm>
          <a:prstGeom prst="rect">
            <a:avLst/>
          </a:prstGeom>
          <a:noFill/>
          <a:ln>
            <a:noFill/>
          </a:ln>
        </p:spPr>
      </p:pic>
      <p:sp>
        <p:nvSpPr>
          <p:cNvPr id="139" name="Google Shape;139;p17"/>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CORE ORCHESTRATION</a:t>
            </a:r>
            <a:endParaRPr/>
          </a:p>
        </p:txBody>
      </p:sp>
      <p:sp>
        <p:nvSpPr>
          <p:cNvPr id="140" name="Google Shape;140;p17"/>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Core Activities</a:t>
            </a:r>
            <a:endParaRPr/>
          </a:p>
        </p:txBody>
      </p:sp>
      <p:sp>
        <p:nvSpPr>
          <p:cNvPr id="141" name="Google Shape;141;p17"/>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42" name="Google Shape;142;p17"/>
          <p:cNvSpPr txBox="1"/>
          <p:nvPr/>
        </p:nvSpPr>
        <p:spPr>
          <a:xfrm>
            <a:off x="762000" y="6448425"/>
            <a:ext cx="13811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ACTIVITY DEFINITIONS</a:t>
            </a:r>
            <a:endParaRPr/>
          </a:p>
        </p:txBody>
      </p:sp>
      <p:sp>
        <p:nvSpPr>
          <p:cNvPr id="143" name="Google Shape;143;p17"/>
          <p:cNvSpPr txBox="1"/>
          <p:nvPr/>
        </p:nvSpPr>
        <p:spPr>
          <a:xfrm>
            <a:off x="10572750" y="6448425"/>
            <a:ext cx="857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5 OF 42</a:t>
            </a:r>
            <a:endParaRPr/>
          </a:p>
        </p:txBody>
      </p:sp>
      <p:sp>
        <p:nvSpPr>
          <p:cNvPr id="144" name="Google Shape;144;p17"/>
          <p:cNvSpPr txBox="1"/>
          <p:nvPr/>
        </p:nvSpPr>
        <p:spPr>
          <a:xfrm>
            <a:off x="1009650" y="3700908"/>
            <a:ext cx="1660207"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Build DataTable</a:t>
            </a:r>
            <a:endParaRPr/>
          </a:p>
        </p:txBody>
      </p:sp>
      <p:sp>
        <p:nvSpPr>
          <p:cNvPr id="145" name="Google Shape;145;p17"/>
          <p:cNvSpPr txBox="1"/>
          <p:nvPr/>
        </p:nvSpPr>
        <p:spPr>
          <a:xfrm>
            <a:off x="1009650"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Constructs specific schema designs inside memory by strictly predefining column names, data-types, and constraints.</a:t>
            </a:r>
            <a:endParaRPr/>
          </a:p>
        </p:txBody>
      </p:sp>
      <p:sp>
        <p:nvSpPr>
          <p:cNvPr id="146" name="Google Shape;146;p17"/>
          <p:cNvSpPr txBox="1"/>
          <p:nvPr/>
        </p:nvSpPr>
        <p:spPr>
          <a:xfrm>
            <a:off x="4645074" y="3700908"/>
            <a:ext cx="1450181"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Add Data Row</a:t>
            </a:r>
            <a:endParaRPr/>
          </a:p>
        </p:txBody>
      </p:sp>
      <p:sp>
        <p:nvSpPr>
          <p:cNvPr id="147" name="Google Shape;147;p17"/>
          <p:cNvSpPr txBox="1"/>
          <p:nvPr/>
        </p:nvSpPr>
        <p:spPr>
          <a:xfrm>
            <a:off x="4645074"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Appends dynamic arrays or predefined structured RowObjects into memory structures in real-time execution steps.</a:t>
            </a:r>
            <a:endParaRPr/>
          </a:p>
        </p:txBody>
      </p:sp>
      <p:sp>
        <p:nvSpPr>
          <p:cNvPr id="148" name="Google Shape;148;p17"/>
          <p:cNvSpPr txBox="1"/>
          <p:nvPr/>
        </p:nvSpPr>
        <p:spPr>
          <a:xfrm>
            <a:off x="8280499" y="3700908"/>
            <a:ext cx="1210151"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Filter &amp; Sort</a:t>
            </a:r>
            <a:endParaRPr/>
          </a:p>
        </p:txBody>
      </p:sp>
      <p:sp>
        <p:nvSpPr>
          <p:cNvPr id="149" name="Google Shape;149;p17"/>
          <p:cNvSpPr txBox="1"/>
          <p:nvPr/>
        </p:nvSpPr>
        <p:spPr>
          <a:xfrm>
            <a:off x="8280499"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Constructs conditional logical statements to isolate and structure matching records cleanly in processing pipelines.</a:t>
            </a:r>
            <a:endParaRPr/>
          </a:p>
        </p:txBody>
      </p:sp>
      <p:pic>
        <p:nvPicPr>
          <p:cNvPr id="150" name="Google Shape;150;p17" descr="image.png"/>
          <p:cNvPicPr preferRelativeResize="0"/>
          <p:nvPr/>
        </p:nvPicPr>
        <p:blipFill rotWithShape="1">
          <a:blip r:embed="rId8">
            <a:alphaModFix/>
          </a:blip>
          <a:srcRect b="2703"/>
          <a:stretch/>
        </p:blipFill>
        <p:spPr>
          <a:xfrm>
            <a:off x="1009650" y="3157983"/>
            <a:ext cx="342900" cy="342900"/>
          </a:xfrm>
          <a:prstGeom prst="rect">
            <a:avLst/>
          </a:prstGeom>
          <a:noFill/>
          <a:ln>
            <a:noFill/>
          </a:ln>
        </p:spPr>
      </p:pic>
      <p:pic>
        <p:nvPicPr>
          <p:cNvPr id="151" name="Google Shape;151;p17" descr="image.png"/>
          <p:cNvPicPr preferRelativeResize="0"/>
          <p:nvPr/>
        </p:nvPicPr>
        <p:blipFill rotWithShape="1">
          <a:blip r:embed="rId9">
            <a:alphaModFix/>
          </a:blip>
          <a:srcRect/>
          <a:stretch/>
        </p:blipFill>
        <p:spPr>
          <a:xfrm>
            <a:off x="4645074" y="3157983"/>
            <a:ext cx="304800" cy="342900"/>
          </a:xfrm>
          <a:prstGeom prst="rect">
            <a:avLst/>
          </a:prstGeom>
          <a:noFill/>
          <a:ln>
            <a:noFill/>
          </a:ln>
        </p:spPr>
      </p:pic>
      <p:pic>
        <p:nvPicPr>
          <p:cNvPr id="152" name="Google Shape;152;p17" descr="image.png"/>
          <p:cNvPicPr preferRelativeResize="0"/>
          <p:nvPr/>
        </p:nvPicPr>
        <p:blipFill rotWithShape="1">
          <a:blip r:embed="rId10">
            <a:alphaModFix/>
          </a:blip>
          <a:srcRect/>
          <a:stretch/>
        </p:blipFill>
        <p:spPr>
          <a:xfrm>
            <a:off x="8280499" y="3157983"/>
            <a:ext cx="342900" cy="342900"/>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1"/>
          <a:stretch>
            <a:fillRect/>
          </a:stretch>
        </p:blipFill>
        <p:spPr>
          <a:xfrm>
            <a:off x="10242000" y="280000"/>
            <a:ext cx="1700000" cy="716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56"/>
        <p:cNvGrpSpPr/>
        <p:nvPr/>
      </p:nvGrpSpPr>
      <p:grpSpPr>
        <a:xfrm>
          <a:off x="0" y="0"/>
          <a:ext cx="0" cy="0"/>
          <a:chOff x="0" y="0"/>
          <a:chExt cx="0" cy="0"/>
        </a:xfrm>
      </p:grpSpPr>
      <p:pic>
        <p:nvPicPr>
          <p:cNvPr id="157" name="Google Shape;157;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58" name="Google Shape;158;p18"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159" name="Google Shape;159;p18" descr="image.png"/>
          <p:cNvPicPr preferRelativeResize="0"/>
          <p:nvPr/>
        </p:nvPicPr>
        <p:blipFill rotWithShape="1">
          <a:blip r:embed="rId5">
            <a:alphaModFix/>
          </a:blip>
          <a:srcRect/>
          <a:stretch/>
        </p:blipFill>
        <p:spPr>
          <a:xfrm>
            <a:off x="6286500" y="2117377"/>
            <a:ext cx="5143500" cy="3619500"/>
          </a:xfrm>
          <a:prstGeom prst="rect">
            <a:avLst/>
          </a:prstGeom>
          <a:noFill/>
          <a:ln>
            <a:noFill/>
          </a:ln>
        </p:spPr>
      </p:pic>
      <p:sp>
        <p:nvSpPr>
          <p:cNvPr id="160" name="Google Shape;160;p18"/>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SCHEMA ENGINEERING</a:t>
            </a:r>
            <a:endParaRPr/>
          </a:p>
        </p:txBody>
      </p:sp>
      <p:sp>
        <p:nvSpPr>
          <p:cNvPr id="161" name="Google Shape;161;p18"/>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Build Data Table Activity</a:t>
            </a:r>
            <a:endParaRPr/>
          </a:p>
        </p:txBody>
      </p:sp>
      <p:sp>
        <p:nvSpPr>
          <p:cNvPr id="162" name="Google Shape;162;p18"/>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63" name="Google Shape;163;p18"/>
          <p:cNvSpPr txBox="1"/>
          <p:nvPr/>
        </p:nvSpPr>
        <p:spPr>
          <a:xfrm>
            <a:off x="762000" y="6448425"/>
            <a:ext cx="1619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DATA SCHEMA DEFINITION</a:t>
            </a:r>
            <a:endParaRPr/>
          </a:p>
        </p:txBody>
      </p:sp>
      <p:sp>
        <p:nvSpPr>
          <p:cNvPr id="164" name="Google Shape;164;p18"/>
          <p:cNvSpPr txBox="1"/>
          <p:nvPr/>
        </p:nvSpPr>
        <p:spPr>
          <a:xfrm>
            <a:off x="10572750" y="6448425"/>
            <a:ext cx="857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6 OF 42</a:t>
            </a:r>
            <a:endParaRPr/>
          </a:p>
        </p:txBody>
      </p:sp>
      <p:pic>
        <p:nvPicPr>
          <p:cNvPr id="165" name="Google Shape;165;p18" descr="image.png"/>
          <p:cNvPicPr preferRelativeResize="0"/>
          <p:nvPr/>
        </p:nvPicPr>
        <p:blipFill rotWithShape="1">
          <a:blip r:embed="rId6">
            <a:alphaModFix/>
          </a:blip>
          <a:srcRect/>
          <a:stretch/>
        </p:blipFill>
        <p:spPr>
          <a:xfrm>
            <a:off x="6296025" y="2126902"/>
            <a:ext cx="5124450" cy="3600450"/>
          </a:xfrm>
          <a:prstGeom prst="rect">
            <a:avLst/>
          </a:prstGeom>
          <a:noFill/>
          <a:ln>
            <a:noFill/>
          </a:ln>
        </p:spPr>
      </p:pic>
      <p:sp>
        <p:nvSpPr>
          <p:cNvPr id="166" name="Google Shape;166;p18"/>
          <p:cNvSpPr txBox="1"/>
          <p:nvPr/>
        </p:nvSpPr>
        <p:spPr>
          <a:xfrm>
            <a:off x="1190625" y="2841277"/>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Schema Strictness:</a:t>
            </a:r>
            <a:r>
              <a:rPr lang="en-US" sz="1350" b="0" i="0" u="none" strike="noStrike" cap="none">
                <a:solidFill>
                  <a:srgbClr val="334155"/>
                </a:solidFill>
                <a:latin typeface="Urbanist"/>
                <a:ea typeface="Urbanist"/>
                <a:cs typeface="Urbanist"/>
                <a:sym typeface="Urbanist"/>
              </a:rPr>
              <a:t> Avoid loose object definitions; explicitly assign system data types (e.g. Double, DateTime).</a:t>
            </a:r>
            <a:endParaRPr/>
          </a:p>
        </p:txBody>
      </p:sp>
      <p:sp>
        <p:nvSpPr>
          <p:cNvPr id="167" name="Google Shape;167;p18"/>
          <p:cNvSpPr txBox="1"/>
          <p:nvPr/>
        </p:nvSpPr>
        <p:spPr>
          <a:xfrm>
            <a:off x="1190625" y="3565177"/>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Volatile Integrity:</a:t>
            </a:r>
            <a:r>
              <a:rPr lang="en-US" sz="1350" b="0" i="0" u="none" strike="noStrike" cap="none">
                <a:solidFill>
                  <a:srgbClr val="334155"/>
                </a:solidFill>
                <a:latin typeface="Urbanist"/>
                <a:ea typeface="Urbanist"/>
                <a:cs typeface="Urbanist"/>
                <a:sym typeface="Urbanist"/>
              </a:rPr>
              <a:t> Prevents system-wide type mismatches during high-frequency API parsing blocks.</a:t>
            </a:r>
            <a:endParaRPr/>
          </a:p>
        </p:txBody>
      </p:sp>
      <p:sp>
        <p:nvSpPr>
          <p:cNvPr id="168" name="Google Shape;168;p18"/>
          <p:cNvSpPr txBox="1"/>
          <p:nvPr/>
        </p:nvSpPr>
        <p:spPr>
          <a:xfrm>
            <a:off x="1190625" y="4289077"/>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Preallocation Optimization:</a:t>
            </a:r>
            <a:r>
              <a:rPr lang="en-US" sz="1350" b="0" i="0" u="none" strike="noStrike" cap="none">
                <a:solidFill>
                  <a:srgbClr val="334155"/>
                </a:solidFill>
                <a:latin typeface="Urbanist"/>
                <a:ea typeface="Urbanist"/>
                <a:cs typeface="Urbanist"/>
                <a:sym typeface="Urbanist"/>
              </a:rPr>
              <a:t> Allocating clear memory boundaries ensures fast robotic compute threads.</a:t>
            </a:r>
            <a:endParaRPr/>
          </a:p>
        </p:txBody>
      </p:sp>
      <p:pic>
        <p:nvPicPr>
          <p:cNvPr id="169" name="Google Shape;169;p18" descr="image.png"/>
          <p:cNvPicPr preferRelativeResize="0"/>
          <p:nvPr/>
        </p:nvPicPr>
        <p:blipFill rotWithShape="1">
          <a:blip r:embed="rId7">
            <a:alphaModFix/>
          </a:blip>
          <a:srcRect/>
          <a:stretch/>
        </p:blipFill>
        <p:spPr>
          <a:xfrm>
            <a:off x="762000" y="2874615"/>
            <a:ext cx="209550" cy="219075"/>
          </a:xfrm>
          <a:prstGeom prst="rect">
            <a:avLst/>
          </a:prstGeom>
          <a:noFill/>
          <a:ln>
            <a:noFill/>
          </a:ln>
        </p:spPr>
      </p:pic>
      <p:pic>
        <p:nvPicPr>
          <p:cNvPr id="170" name="Google Shape;170;p18" descr="image.png"/>
          <p:cNvPicPr preferRelativeResize="0"/>
          <p:nvPr/>
        </p:nvPicPr>
        <p:blipFill rotWithShape="1">
          <a:blip r:embed="rId8">
            <a:alphaModFix/>
          </a:blip>
          <a:srcRect/>
          <a:stretch/>
        </p:blipFill>
        <p:spPr>
          <a:xfrm>
            <a:off x="762000" y="3598515"/>
            <a:ext cx="209550" cy="219075"/>
          </a:xfrm>
          <a:prstGeom prst="rect">
            <a:avLst/>
          </a:prstGeom>
          <a:noFill/>
          <a:ln>
            <a:noFill/>
          </a:ln>
        </p:spPr>
      </p:pic>
      <p:pic>
        <p:nvPicPr>
          <p:cNvPr id="171" name="Google Shape;171;p18" descr="image.png"/>
          <p:cNvPicPr preferRelativeResize="0"/>
          <p:nvPr/>
        </p:nvPicPr>
        <p:blipFill rotWithShape="1">
          <a:blip r:embed="rId9">
            <a:alphaModFix/>
          </a:blip>
          <a:srcRect/>
          <a:stretch/>
        </p:blipFill>
        <p:spPr>
          <a:xfrm>
            <a:off x="762000" y="4322415"/>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0"/>
          <a:stretch>
            <a:fillRect/>
          </a:stretch>
        </p:blipFill>
        <p:spPr>
          <a:xfrm>
            <a:off x="10242000" y="280000"/>
            <a:ext cx="1700000" cy="716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5"/>
        <p:cNvGrpSpPr/>
        <p:nvPr/>
      </p:nvGrpSpPr>
      <p:grpSpPr>
        <a:xfrm>
          <a:off x="0" y="0"/>
          <a:ext cx="0" cy="0"/>
          <a:chOff x="0" y="0"/>
          <a:chExt cx="0" cy="0"/>
        </a:xfrm>
      </p:grpSpPr>
      <p:pic>
        <p:nvPicPr>
          <p:cNvPr id="176" name="Google Shape;176;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77" name="Google Shape;177;p19"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178" name="Google Shape;178;p19"/>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DYNAMIC INSERTION</a:t>
            </a:r>
            <a:endParaRPr/>
          </a:p>
        </p:txBody>
      </p:sp>
      <p:sp>
        <p:nvSpPr>
          <p:cNvPr id="179" name="Google Shape;179;p19"/>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Add Data Row Activity</a:t>
            </a:r>
            <a:endParaRPr/>
          </a:p>
        </p:txBody>
      </p:sp>
      <p:sp>
        <p:nvSpPr>
          <p:cNvPr id="180" name="Google Shape;180;p19"/>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181" name="Google Shape;181;p19"/>
          <p:cNvSpPr txBox="1"/>
          <p:nvPr/>
        </p:nvSpPr>
        <p:spPr>
          <a:xfrm>
            <a:off x="762000" y="6448425"/>
            <a:ext cx="19050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DYNAMIC POPULATION SYSTEM</a:t>
            </a:r>
            <a:endParaRPr/>
          </a:p>
        </p:txBody>
      </p:sp>
      <p:sp>
        <p:nvSpPr>
          <p:cNvPr id="182" name="Google Shape;182;p19"/>
          <p:cNvSpPr txBox="1"/>
          <p:nvPr/>
        </p:nvSpPr>
        <p:spPr>
          <a:xfrm>
            <a:off x="10582275" y="6448425"/>
            <a:ext cx="8477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7 OF 42</a:t>
            </a:r>
            <a:endParaRPr/>
          </a:p>
        </p:txBody>
      </p:sp>
      <p:sp>
        <p:nvSpPr>
          <p:cNvPr id="183" name="Google Shape;183;p19"/>
          <p:cNvSpPr txBox="1"/>
          <p:nvPr/>
        </p:nvSpPr>
        <p:spPr>
          <a:xfrm>
            <a:off x="1524000" y="260791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ArrayRow Input Style:</a:t>
            </a:r>
            <a:r>
              <a:rPr lang="en-US" sz="1350" b="0" i="0" u="none" strike="noStrike" cap="none">
                <a:solidFill>
                  <a:srgbClr val="334155"/>
                </a:solidFill>
                <a:latin typeface="Urbanist"/>
                <a:ea typeface="Urbanist"/>
                <a:cs typeface="Urbanist"/>
                <a:sym typeface="Urbanist"/>
              </a:rPr>
              <a:t> Map elements sequentially using array notation: {VendorName, InvoiceID, Amount}. Order must rigorously mirror target DataTable schemas.</a:t>
            </a:r>
            <a:endParaRPr/>
          </a:p>
        </p:txBody>
      </p:sp>
      <p:sp>
        <p:nvSpPr>
          <p:cNvPr id="184" name="Google Shape;184;p19"/>
          <p:cNvSpPr txBox="1"/>
          <p:nvPr/>
        </p:nvSpPr>
        <p:spPr>
          <a:xfrm>
            <a:off x="1524000" y="333181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RowObject Injection:</a:t>
            </a:r>
            <a:r>
              <a:rPr lang="en-US" sz="1350" b="0" i="0" u="none" strike="noStrike" cap="none">
                <a:solidFill>
                  <a:srgbClr val="334155"/>
                </a:solidFill>
                <a:latin typeface="Urbanist"/>
                <a:ea typeface="Urbanist"/>
                <a:cs typeface="Urbanist"/>
                <a:sym typeface="Urbanist"/>
              </a:rPr>
              <a:t> Pass pre-constructed instance DataRows generated directly from parsing iterations or external API payloads.</a:t>
            </a:r>
            <a:endParaRPr/>
          </a:p>
        </p:txBody>
      </p:sp>
      <p:sp>
        <p:nvSpPr>
          <p:cNvPr id="185" name="Google Shape;185;p19"/>
          <p:cNvSpPr txBox="1"/>
          <p:nvPr/>
        </p:nvSpPr>
        <p:spPr>
          <a:xfrm>
            <a:off x="1524000" y="405571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Concurrency Warning:</a:t>
            </a:r>
            <a:r>
              <a:rPr lang="en-US" sz="1350" b="0" i="0" u="none" strike="noStrike" cap="none">
                <a:solidFill>
                  <a:srgbClr val="334155"/>
                </a:solidFill>
                <a:latin typeface="Urbanist"/>
                <a:ea typeface="Urbanist"/>
                <a:cs typeface="Urbanist"/>
                <a:sym typeface="Urbanist"/>
              </a:rPr>
              <a:t> Ensure thread protection when multiple robot workers access and manipulate shared queues simultaneously.</a:t>
            </a:r>
            <a:endParaRPr/>
          </a:p>
        </p:txBody>
      </p:sp>
      <p:sp>
        <p:nvSpPr>
          <p:cNvPr id="186" name="Google Shape;186;p19"/>
          <p:cNvSpPr txBox="1"/>
          <p:nvPr/>
        </p:nvSpPr>
        <p:spPr>
          <a:xfrm>
            <a:off x="1524000" y="477961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Dynamic Append Speeds:</a:t>
            </a:r>
            <a:r>
              <a:rPr lang="en-US" sz="1350" b="0" i="0" u="none" strike="noStrike" cap="none">
                <a:solidFill>
                  <a:srgbClr val="334155"/>
                </a:solidFill>
                <a:latin typeface="Urbanist"/>
                <a:ea typeface="Urbanist"/>
                <a:cs typeface="Urbanist"/>
                <a:sym typeface="Urbanist"/>
              </a:rPr>
              <a:t> Directly append rows within loops without causing memory leak triggers.</a:t>
            </a:r>
            <a:endParaRPr/>
          </a:p>
        </p:txBody>
      </p:sp>
      <p:pic>
        <p:nvPicPr>
          <p:cNvPr id="187" name="Google Shape;187;p19" descr="image.png"/>
          <p:cNvPicPr preferRelativeResize="0"/>
          <p:nvPr/>
        </p:nvPicPr>
        <p:blipFill rotWithShape="1">
          <a:blip r:embed="rId5">
            <a:alphaModFix/>
          </a:blip>
          <a:srcRect/>
          <a:stretch/>
        </p:blipFill>
        <p:spPr>
          <a:xfrm>
            <a:off x="1095375" y="2641252"/>
            <a:ext cx="209550" cy="219075"/>
          </a:xfrm>
          <a:prstGeom prst="rect">
            <a:avLst/>
          </a:prstGeom>
          <a:noFill/>
          <a:ln>
            <a:noFill/>
          </a:ln>
        </p:spPr>
      </p:pic>
      <p:pic>
        <p:nvPicPr>
          <p:cNvPr id="188" name="Google Shape;188;p19" descr="image.png"/>
          <p:cNvPicPr preferRelativeResize="0"/>
          <p:nvPr/>
        </p:nvPicPr>
        <p:blipFill rotWithShape="1">
          <a:blip r:embed="rId6">
            <a:alphaModFix/>
          </a:blip>
          <a:srcRect/>
          <a:stretch/>
        </p:blipFill>
        <p:spPr>
          <a:xfrm>
            <a:off x="1095375" y="3365152"/>
            <a:ext cx="180975" cy="219075"/>
          </a:xfrm>
          <a:prstGeom prst="rect">
            <a:avLst/>
          </a:prstGeom>
          <a:noFill/>
          <a:ln>
            <a:noFill/>
          </a:ln>
        </p:spPr>
      </p:pic>
      <p:pic>
        <p:nvPicPr>
          <p:cNvPr id="189" name="Google Shape;189;p19" descr="image.png"/>
          <p:cNvPicPr preferRelativeResize="0"/>
          <p:nvPr/>
        </p:nvPicPr>
        <p:blipFill rotWithShape="1">
          <a:blip r:embed="rId7">
            <a:alphaModFix/>
          </a:blip>
          <a:srcRect/>
          <a:stretch/>
        </p:blipFill>
        <p:spPr>
          <a:xfrm>
            <a:off x="1095375" y="4089052"/>
            <a:ext cx="209550" cy="219075"/>
          </a:xfrm>
          <a:prstGeom prst="rect">
            <a:avLst/>
          </a:prstGeom>
          <a:noFill/>
          <a:ln>
            <a:noFill/>
          </a:ln>
        </p:spPr>
      </p:pic>
      <p:pic>
        <p:nvPicPr>
          <p:cNvPr id="190" name="Google Shape;190;p19" descr="image.png"/>
          <p:cNvPicPr preferRelativeResize="0"/>
          <p:nvPr/>
        </p:nvPicPr>
        <p:blipFill rotWithShape="1">
          <a:blip r:embed="rId8">
            <a:alphaModFix/>
          </a:blip>
          <a:srcRect/>
          <a:stretch/>
        </p:blipFill>
        <p:spPr>
          <a:xfrm>
            <a:off x="1095375" y="4812952"/>
            <a:ext cx="180975"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9"/>
          <a:stretch>
            <a:fillRect/>
          </a:stretch>
        </p:blipFill>
        <p:spPr>
          <a:xfrm>
            <a:off x="10242000" y="280000"/>
            <a:ext cx="1700000" cy="716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4"/>
        <p:cNvGrpSpPr/>
        <p:nvPr/>
      </p:nvGrpSpPr>
      <p:grpSpPr>
        <a:xfrm>
          <a:off x="0" y="0"/>
          <a:ext cx="0" cy="0"/>
          <a:chOff x="0" y="0"/>
          <a:chExt cx="0" cy="0"/>
        </a:xfrm>
      </p:grpSpPr>
      <p:pic>
        <p:nvPicPr>
          <p:cNvPr id="195" name="Google Shape;195;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96" name="Google Shape;196;p20"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197" name="Google Shape;197;p20" descr="image.png"/>
          <p:cNvPicPr preferRelativeResize="0"/>
          <p:nvPr/>
        </p:nvPicPr>
        <p:blipFill rotWithShape="1">
          <a:blip r:embed="rId5">
            <a:alphaModFix/>
          </a:blip>
          <a:srcRect/>
          <a:stretch/>
        </p:blipFill>
        <p:spPr>
          <a:xfrm>
            <a:off x="762000" y="2907952"/>
            <a:ext cx="5143500" cy="2038350"/>
          </a:xfrm>
          <a:prstGeom prst="rect">
            <a:avLst/>
          </a:prstGeom>
          <a:noFill/>
          <a:ln>
            <a:noFill/>
          </a:ln>
        </p:spPr>
      </p:pic>
      <p:pic>
        <p:nvPicPr>
          <p:cNvPr id="198" name="Google Shape;198;p20" descr="image.png"/>
          <p:cNvPicPr preferRelativeResize="0"/>
          <p:nvPr/>
        </p:nvPicPr>
        <p:blipFill rotWithShape="1">
          <a:blip r:embed="rId6">
            <a:alphaModFix/>
          </a:blip>
          <a:srcRect/>
          <a:stretch/>
        </p:blipFill>
        <p:spPr>
          <a:xfrm>
            <a:off x="6286500" y="2907952"/>
            <a:ext cx="5143500" cy="2038350"/>
          </a:xfrm>
          <a:prstGeom prst="rect">
            <a:avLst/>
          </a:prstGeom>
          <a:noFill/>
          <a:ln>
            <a:noFill/>
          </a:ln>
        </p:spPr>
      </p:pic>
      <p:sp>
        <p:nvSpPr>
          <p:cNvPr id="199" name="Google Shape;199;p20"/>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DATA OPTIMIZATION</a:t>
            </a:r>
            <a:endParaRPr/>
          </a:p>
        </p:txBody>
      </p:sp>
      <p:sp>
        <p:nvSpPr>
          <p:cNvPr id="200" name="Google Shape;200;p20"/>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Filter &amp; Sort Operations</a:t>
            </a:r>
            <a:endParaRPr/>
          </a:p>
        </p:txBody>
      </p:sp>
      <p:sp>
        <p:nvSpPr>
          <p:cNvPr id="201" name="Google Shape;201;p20"/>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02" name="Google Shape;202;p20"/>
          <p:cNvSpPr txBox="1"/>
          <p:nvPr/>
        </p:nvSpPr>
        <p:spPr>
          <a:xfrm>
            <a:off x="762000" y="6448425"/>
            <a:ext cx="1619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CONDITION OPTIMIZATION</a:t>
            </a:r>
            <a:endParaRPr/>
          </a:p>
        </p:txBody>
      </p:sp>
      <p:sp>
        <p:nvSpPr>
          <p:cNvPr id="203" name="Google Shape;203;p20"/>
          <p:cNvSpPr txBox="1"/>
          <p:nvPr/>
        </p:nvSpPr>
        <p:spPr>
          <a:xfrm>
            <a:off x="10572750" y="6448425"/>
            <a:ext cx="857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8 OF 42</a:t>
            </a:r>
            <a:endParaRPr/>
          </a:p>
        </p:txBody>
      </p:sp>
      <p:sp>
        <p:nvSpPr>
          <p:cNvPr id="204" name="Google Shape;204;p20"/>
          <p:cNvSpPr txBox="1"/>
          <p:nvPr/>
        </p:nvSpPr>
        <p:spPr>
          <a:xfrm>
            <a:off x="10572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Filter Activity Architecture</a:t>
            </a:r>
            <a:endParaRPr/>
          </a:p>
        </p:txBody>
      </p:sp>
      <p:sp>
        <p:nvSpPr>
          <p:cNvPr id="205" name="Google Shape;205;p20"/>
          <p:cNvSpPr txBox="1"/>
          <p:nvPr/>
        </p:nvSpPr>
        <p:spPr>
          <a:xfrm>
            <a:off x="10572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Isolate and process targeted records instantly. By applying conditional evaluation logic within visual Filter Data Table Wizards, you strip unneeded transactional noise, dramatically shrinking transaction runtime.</a:t>
            </a:r>
            <a:endParaRPr/>
          </a:p>
        </p:txBody>
      </p:sp>
      <p:sp>
        <p:nvSpPr>
          <p:cNvPr id="206" name="Google Shape;206;p20"/>
          <p:cNvSpPr txBox="1"/>
          <p:nvPr/>
        </p:nvSpPr>
        <p:spPr>
          <a:xfrm>
            <a:off x="65817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Enterprise Sorting</a:t>
            </a:r>
            <a:endParaRPr/>
          </a:p>
        </p:txBody>
      </p:sp>
      <p:sp>
        <p:nvSpPr>
          <p:cNvPr id="207" name="Google Shape;207;p20"/>
          <p:cNvSpPr txBox="1"/>
          <p:nvPr/>
        </p:nvSpPr>
        <p:spPr>
          <a:xfrm>
            <a:off x="6581775" y="3679477"/>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Organize memory records safely based on structural keys (e.g., chronologically or numerically). Sorting optimizes sequential looping patterns and streamlines robotic business rule evaluations.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11"/>
        <p:cNvGrpSpPr/>
        <p:nvPr/>
      </p:nvGrpSpPr>
      <p:grpSpPr>
        <a:xfrm>
          <a:off x="0" y="0"/>
          <a:ext cx="0" cy="0"/>
          <a:chOff x="0" y="0"/>
          <a:chExt cx="0" cy="0"/>
        </a:xfrm>
      </p:grpSpPr>
      <p:pic>
        <p:nvPicPr>
          <p:cNvPr id="212" name="Google Shape;212;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13" name="Google Shape;213;p21"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214" name="Google Shape;214;p21" descr="image.png"/>
          <p:cNvPicPr preferRelativeResize="0"/>
          <p:nvPr/>
        </p:nvPicPr>
        <p:blipFill rotWithShape="1">
          <a:blip r:embed="rId5">
            <a:alphaModFix/>
          </a:blip>
          <a:srcRect/>
          <a:stretch/>
        </p:blipFill>
        <p:spPr>
          <a:xfrm>
            <a:off x="762000" y="2698402"/>
            <a:ext cx="10668000" cy="2038350"/>
          </a:xfrm>
          <a:prstGeom prst="rect">
            <a:avLst/>
          </a:prstGeom>
          <a:noFill/>
          <a:ln>
            <a:noFill/>
          </a:ln>
        </p:spPr>
      </p:pic>
      <p:sp>
        <p:nvSpPr>
          <p:cNvPr id="215" name="Google Shape;215;p21"/>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DATA MERGING ENGINE</a:t>
            </a:r>
            <a:endParaRPr/>
          </a:p>
        </p:txBody>
      </p:sp>
      <p:sp>
        <p:nvSpPr>
          <p:cNvPr id="216" name="Google Shape;216;p21"/>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Join Data Table Execution</a:t>
            </a:r>
            <a:endParaRPr/>
          </a:p>
        </p:txBody>
      </p:sp>
      <p:sp>
        <p:nvSpPr>
          <p:cNvPr id="217" name="Google Shape;217;p21"/>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18" name="Google Shape;218;p21"/>
          <p:cNvSpPr txBox="1"/>
          <p:nvPr/>
        </p:nvSpPr>
        <p:spPr>
          <a:xfrm>
            <a:off x="762000" y="4974877"/>
            <a:ext cx="1066800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1" u="none" strike="noStrike" cap="none">
                <a:solidFill>
                  <a:srgbClr val="64748B"/>
                </a:solidFill>
                <a:latin typeface="Urbanist"/>
                <a:ea typeface="Urbanist"/>
                <a:cs typeface="Urbanist"/>
                <a:sym typeface="Urbanist"/>
              </a:rPr>
              <a:t>Note: Keep key column datatypes identical across target structures to prevent evaluation exceptions.</a:t>
            </a:r>
            <a:endParaRPr/>
          </a:p>
        </p:txBody>
      </p:sp>
      <p:sp>
        <p:nvSpPr>
          <p:cNvPr id="219" name="Google Shape;219;p21"/>
          <p:cNvSpPr txBox="1"/>
          <p:nvPr/>
        </p:nvSpPr>
        <p:spPr>
          <a:xfrm>
            <a:off x="762000" y="6448425"/>
            <a:ext cx="12573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STRUCTURED JOINS</a:t>
            </a:r>
            <a:endParaRPr/>
          </a:p>
        </p:txBody>
      </p:sp>
      <p:sp>
        <p:nvSpPr>
          <p:cNvPr id="220" name="Google Shape;220;p21"/>
          <p:cNvSpPr txBox="1"/>
          <p:nvPr/>
        </p:nvSpPr>
        <p:spPr>
          <a:xfrm>
            <a:off x="10572750" y="6448425"/>
            <a:ext cx="857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9 OF 42</a:t>
            </a:r>
            <a:endParaRPr/>
          </a:p>
        </p:txBody>
      </p:sp>
      <p:graphicFrame>
        <p:nvGraphicFramePr>
          <p:cNvPr id="221" name="Google Shape;221;p21"/>
          <p:cNvGraphicFramePr/>
          <p:nvPr>
            <p:extLst>
              <p:ext uri="{D42A27DB-BD31-4B8C-83A1-F6EECF244321}">
                <p14:modId xmlns:p14="http://schemas.microsoft.com/office/powerpoint/2010/main" val="489296385"/>
              </p:ext>
            </p:extLst>
          </p:nvPr>
        </p:nvGraphicFramePr>
        <p:xfrm>
          <a:off x="771525" y="2707927"/>
          <a:ext cx="10648950" cy="2019300"/>
        </p:xfrm>
        <a:graphic>
          <a:graphicData uri="http://schemas.openxmlformats.org/drawingml/2006/table">
            <a:tbl>
              <a:tblPr firstRow="1" bandRow="1">
                <a:noFill/>
                <a:tableStyleId>{E1852C3B-A719-4818-B90F-14940A95C7CC}</a:tableStyleId>
              </a:tblPr>
              <a:tblGrid>
                <a:gridCol w="1311775">
                  <a:extLst>
                    <a:ext uri="{9D8B030D-6E8A-4147-A177-3AD203B41FA5}">
                      <a16:colId xmlns:a16="http://schemas.microsoft.com/office/drawing/2014/main" val="20000"/>
                    </a:ext>
                  </a:extLst>
                </a:gridCol>
                <a:gridCol w="5062975">
                  <a:extLst>
                    <a:ext uri="{9D8B030D-6E8A-4147-A177-3AD203B41FA5}">
                      <a16:colId xmlns:a16="http://schemas.microsoft.com/office/drawing/2014/main" val="20001"/>
                    </a:ext>
                  </a:extLst>
                </a:gridCol>
                <a:gridCol w="4274200">
                  <a:extLst>
                    <a:ext uri="{9D8B030D-6E8A-4147-A177-3AD203B41FA5}">
                      <a16:colId xmlns:a16="http://schemas.microsoft.com/office/drawing/2014/main" val="20002"/>
                    </a:ext>
                  </a:extLst>
                </a:gridCol>
              </a:tblGrid>
              <a:tr h="504825">
                <a:tc>
                  <a:txBody>
                    <a:bodyPr/>
                    <a:lstStyle/>
                    <a:p>
                      <a:pPr marL="0" marR="0" lvl="0" indent="0" algn="l" rtl="0">
                        <a:spcBef>
                          <a:spcPts val="0"/>
                        </a:spcBef>
                        <a:spcAft>
                          <a:spcPts val="0"/>
                        </a:spcAft>
                        <a:buNone/>
                      </a:pPr>
                      <a:r>
                        <a:rPr lang="en-US" sz="1200" b="0" i="0" u="none" strike="noStrike" cap="none">
                          <a:solidFill>
                            <a:srgbClr val="1F3864"/>
                          </a:solidFill>
                          <a:latin typeface="Urbanist SemiBold"/>
                          <a:ea typeface="Urbanist SemiBold"/>
                          <a:cs typeface="Urbanist SemiBold"/>
                          <a:sym typeface="Urbanist SemiBold"/>
                        </a:rPr>
                        <a:t>Join Type</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200" b="0" i="0" u="none" strike="noStrike" cap="none">
                          <a:solidFill>
                            <a:srgbClr val="1F3864"/>
                          </a:solidFill>
                          <a:latin typeface="Urbanist SemiBold"/>
                          <a:ea typeface="Urbanist SemiBold"/>
                          <a:cs typeface="Urbanist SemiBold"/>
                          <a:sym typeface="Urbanist SemiBold"/>
                        </a:rPr>
                        <a:t>Target Behavior</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200" b="0" i="0" u="none" strike="noStrike" cap="none">
                          <a:solidFill>
                            <a:srgbClr val="1F3864"/>
                          </a:solidFill>
                          <a:latin typeface="Urbanist SemiBold"/>
                          <a:ea typeface="Urbanist SemiBold"/>
                          <a:cs typeface="Urbanist SemiBold"/>
                          <a:sym typeface="Urbanist SemiBold"/>
                        </a:rPr>
                        <a:t>Standard Primary Use-Case</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504825">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Inner Join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Keep rows only when matching keys exist in both sets.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Matching database User IDs with Excel names.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504825">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Left Join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Preserve all Left items, matching right data where exists.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Auditing master records against volatile logs.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504825">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Full Join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Retain all rows from both tables, populating nulls for mismatches.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Reconciling complete inventories of external datasets.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bl>
          </a:graphicData>
        </a:graphic>
      </p:graphicFrame>
      <p:sp>
        <p:nvSpPr>
          <p:cNvPr id="222" name="Google Shape;222;p21"/>
          <p:cNvSpPr/>
          <p:nvPr/>
        </p:nvSpPr>
        <p:spPr>
          <a:xfrm>
            <a:off x="771525" y="3731865"/>
            <a:ext cx="131177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3" name="Google Shape;223;p21"/>
          <p:cNvSpPr/>
          <p:nvPr/>
        </p:nvSpPr>
        <p:spPr>
          <a:xfrm>
            <a:off x="2083296" y="3731865"/>
            <a:ext cx="506298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4" name="Google Shape;224;p21"/>
          <p:cNvSpPr/>
          <p:nvPr/>
        </p:nvSpPr>
        <p:spPr>
          <a:xfrm>
            <a:off x="7146280" y="3731865"/>
            <a:ext cx="42741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5" name="Google Shape;225;p21"/>
          <p:cNvSpPr/>
          <p:nvPr/>
        </p:nvSpPr>
        <p:spPr>
          <a:xfrm>
            <a:off x="771525" y="4227165"/>
            <a:ext cx="1311771"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6" name="Google Shape;226;p21"/>
          <p:cNvSpPr/>
          <p:nvPr/>
        </p:nvSpPr>
        <p:spPr>
          <a:xfrm>
            <a:off x="2083296" y="4227165"/>
            <a:ext cx="506298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27" name="Google Shape;227;p21"/>
          <p:cNvSpPr/>
          <p:nvPr/>
        </p:nvSpPr>
        <p:spPr>
          <a:xfrm>
            <a:off x="7146280" y="4227165"/>
            <a:ext cx="4274194"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31"/>
        <p:cNvGrpSpPr/>
        <p:nvPr/>
      </p:nvGrpSpPr>
      <p:grpSpPr>
        <a:xfrm>
          <a:off x="0" y="0"/>
          <a:ext cx="0" cy="0"/>
          <a:chOff x="0" y="0"/>
          <a:chExt cx="0" cy="0"/>
        </a:xfrm>
      </p:grpSpPr>
      <p:pic>
        <p:nvPicPr>
          <p:cNvPr id="232" name="Google Shape;232;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33" name="Google Shape;233;p22"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234" name="Google Shape;234;p22" descr="image.png"/>
          <p:cNvPicPr preferRelativeResize="0"/>
          <p:nvPr/>
        </p:nvPicPr>
        <p:blipFill rotWithShape="1">
          <a:blip r:embed="rId5">
            <a:alphaModFix/>
          </a:blip>
          <a:srcRect/>
          <a:stretch/>
        </p:blipFill>
        <p:spPr>
          <a:xfrm>
            <a:off x="762000" y="2822227"/>
            <a:ext cx="4076700" cy="2209800"/>
          </a:xfrm>
          <a:prstGeom prst="rect">
            <a:avLst/>
          </a:prstGeom>
          <a:noFill/>
          <a:ln>
            <a:noFill/>
          </a:ln>
        </p:spPr>
      </p:pic>
      <p:pic>
        <p:nvPicPr>
          <p:cNvPr id="235" name="Google Shape;235;p22" descr="image.png"/>
          <p:cNvPicPr preferRelativeResize="0"/>
          <p:nvPr/>
        </p:nvPicPr>
        <p:blipFill rotWithShape="1">
          <a:blip r:embed="rId6">
            <a:alphaModFix/>
          </a:blip>
          <a:srcRect/>
          <a:stretch/>
        </p:blipFill>
        <p:spPr>
          <a:xfrm>
            <a:off x="1152525" y="3212752"/>
            <a:ext cx="3295650" cy="1047750"/>
          </a:xfrm>
          <a:prstGeom prst="rect">
            <a:avLst/>
          </a:prstGeom>
          <a:noFill/>
          <a:ln>
            <a:noFill/>
          </a:ln>
        </p:spPr>
      </p:pic>
      <p:sp>
        <p:nvSpPr>
          <p:cNvPr id="236" name="Google Shape;236;p22"/>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EXECUTION METRICS</a:t>
            </a:r>
            <a:endParaRPr/>
          </a:p>
        </p:txBody>
      </p:sp>
      <p:sp>
        <p:nvSpPr>
          <p:cNvPr id="237" name="Google Shape;237;p22"/>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RAM Performance Metrics</a:t>
            </a:r>
            <a:endParaRPr/>
          </a:p>
        </p:txBody>
      </p:sp>
      <p:sp>
        <p:nvSpPr>
          <p:cNvPr id="238" name="Google Shape;238;p22"/>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39" name="Google Shape;239;p22"/>
          <p:cNvSpPr txBox="1"/>
          <p:nvPr/>
        </p:nvSpPr>
        <p:spPr>
          <a:xfrm>
            <a:off x="762000" y="6448425"/>
            <a:ext cx="9810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RAM VS DISK IO</a:t>
            </a:r>
            <a:endParaRPr/>
          </a:p>
        </p:txBody>
      </p:sp>
      <p:sp>
        <p:nvSpPr>
          <p:cNvPr id="240" name="Google Shape;240;p22"/>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10 OF 42</a:t>
            </a:r>
            <a:endParaRPr/>
          </a:p>
        </p:txBody>
      </p:sp>
      <p:sp>
        <p:nvSpPr>
          <p:cNvPr id="241" name="Google Shape;241;p22"/>
          <p:cNvSpPr txBox="1"/>
          <p:nvPr/>
        </p:nvSpPr>
        <p:spPr>
          <a:xfrm>
            <a:off x="1152525" y="4355752"/>
            <a:ext cx="3295650"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94A3B8"/>
                </a:solidFill>
                <a:latin typeface="Urbanist SemiBold"/>
                <a:ea typeface="Urbanist SemiBold"/>
                <a:cs typeface="Urbanist SemiBold"/>
                <a:sym typeface="Urbanist SemiBold"/>
              </a:rPr>
              <a:t>EXECUTION SPEEDUP</a:t>
            </a:r>
            <a:endParaRPr/>
          </a:p>
        </p:txBody>
      </p:sp>
      <p:sp>
        <p:nvSpPr>
          <p:cNvPr id="242" name="Google Shape;242;p22"/>
          <p:cNvSpPr txBox="1"/>
          <p:nvPr/>
        </p:nvSpPr>
        <p:spPr>
          <a:xfrm>
            <a:off x="5314950" y="3550890"/>
            <a:ext cx="6420802"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334155"/>
                </a:solidFill>
                <a:latin typeface="Urbanist"/>
                <a:ea typeface="Urbanist"/>
                <a:cs typeface="Urbanist"/>
                <a:sym typeface="Urbanist"/>
              </a:rPr>
              <a:t>Volatile Memory Processing Efficiency</a:t>
            </a:r>
            <a:endParaRPr/>
          </a:p>
        </p:txBody>
      </p:sp>
      <p:sp>
        <p:nvSpPr>
          <p:cNvPr id="243" name="Google Shape;243;p22"/>
          <p:cNvSpPr txBox="1"/>
          <p:nvPr/>
        </p:nvSpPr>
        <p:spPr>
          <a:xfrm>
            <a:off x="5314950" y="3760440"/>
            <a:ext cx="61150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4155"/>
                </a:solidFill>
                <a:latin typeface="Urbanist"/>
                <a:ea typeface="Urbanist"/>
                <a:cs typeface="Urbanist"/>
                <a:sym typeface="Urbanist"/>
              </a:rPr>
              <a:t>Manipulating business objects straight inside host RAM completely bypasses expensive Disk I/O bottlenecks. Read/Write loops directly to disk can easily throttle worker nodes, whereas pure RAM structures complete critical transaction evaluations within milliseconds.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7"/>
        <p:cNvGrpSpPr/>
        <p:nvPr/>
      </p:nvGrpSpPr>
      <p:grpSpPr>
        <a:xfrm>
          <a:off x="0" y="0"/>
          <a:ext cx="0" cy="0"/>
          <a:chOff x="0" y="0"/>
          <a:chExt cx="0" cy="0"/>
        </a:xfrm>
      </p:grpSpPr>
      <p:pic>
        <p:nvPicPr>
          <p:cNvPr id="248" name="Google Shape;248;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49" name="Google Shape;249;p23"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250" name="Google Shape;250;p23" descr="image.png"/>
          <p:cNvPicPr preferRelativeResize="0"/>
          <p:nvPr/>
        </p:nvPicPr>
        <p:blipFill rotWithShape="1">
          <a:blip r:embed="rId5">
            <a:alphaModFix/>
          </a:blip>
          <a:srcRect/>
          <a:stretch/>
        </p:blipFill>
        <p:spPr>
          <a:xfrm>
            <a:off x="762000" y="2815083"/>
            <a:ext cx="3397299" cy="2224087"/>
          </a:xfrm>
          <a:prstGeom prst="rect">
            <a:avLst/>
          </a:prstGeom>
          <a:noFill/>
          <a:ln>
            <a:noFill/>
          </a:ln>
        </p:spPr>
      </p:pic>
      <p:pic>
        <p:nvPicPr>
          <p:cNvPr id="251" name="Google Shape;251;p23" descr="image.png"/>
          <p:cNvPicPr preferRelativeResize="0"/>
          <p:nvPr/>
        </p:nvPicPr>
        <p:blipFill rotWithShape="1">
          <a:blip r:embed="rId6">
            <a:alphaModFix/>
          </a:blip>
          <a:srcRect/>
          <a:stretch/>
        </p:blipFill>
        <p:spPr>
          <a:xfrm>
            <a:off x="4397424" y="2815083"/>
            <a:ext cx="3397299" cy="2224087"/>
          </a:xfrm>
          <a:prstGeom prst="rect">
            <a:avLst/>
          </a:prstGeom>
          <a:noFill/>
          <a:ln>
            <a:noFill/>
          </a:ln>
        </p:spPr>
      </p:pic>
      <p:pic>
        <p:nvPicPr>
          <p:cNvPr id="252" name="Google Shape;252;p23" descr="image.png"/>
          <p:cNvPicPr preferRelativeResize="0"/>
          <p:nvPr/>
        </p:nvPicPr>
        <p:blipFill rotWithShape="1">
          <a:blip r:embed="rId7">
            <a:alphaModFix/>
          </a:blip>
          <a:srcRect/>
          <a:stretch/>
        </p:blipFill>
        <p:spPr>
          <a:xfrm>
            <a:off x="8032849" y="2815083"/>
            <a:ext cx="3397299" cy="2224087"/>
          </a:xfrm>
          <a:prstGeom prst="rect">
            <a:avLst/>
          </a:prstGeom>
          <a:noFill/>
          <a:ln>
            <a:noFill/>
          </a:ln>
        </p:spPr>
      </p:pic>
      <p:sp>
        <p:nvSpPr>
          <p:cNvPr id="253" name="Google Shape;253;p23"/>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PRODUCTION USE CASES</a:t>
            </a:r>
            <a:endParaRPr/>
          </a:p>
        </p:txBody>
      </p:sp>
      <p:sp>
        <p:nvSpPr>
          <p:cNvPr id="254" name="Google Shape;254;p23"/>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Common DataTable Scenarios</a:t>
            </a:r>
            <a:endParaRPr/>
          </a:p>
        </p:txBody>
      </p:sp>
      <p:sp>
        <p:nvSpPr>
          <p:cNvPr id="255" name="Google Shape;255;p23"/>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56" name="Google Shape;256;p23"/>
          <p:cNvSpPr txBox="1"/>
          <p:nvPr/>
        </p:nvSpPr>
        <p:spPr>
          <a:xfrm>
            <a:off x="762000" y="6448425"/>
            <a:ext cx="16287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FUNCTIONAL WORKFLOWS</a:t>
            </a:r>
            <a:endParaRPr/>
          </a:p>
        </p:txBody>
      </p:sp>
      <p:sp>
        <p:nvSpPr>
          <p:cNvPr id="257" name="Google Shape;257;p23"/>
          <p:cNvSpPr txBox="1"/>
          <p:nvPr/>
        </p:nvSpPr>
        <p:spPr>
          <a:xfrm>
            <a:off x="10563225" y="6448425"/>
            <a:ext cx="8667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11 OF 42</a:t>
            </a:r>
            <a:endParaRPr/>
          </a:p>
        </p:txBody>
      </p:sp>
      <p:sp>
        <p:nvSpPr>
          <p:cNvPr id="258" name="Google Shape;258;p23"/>
          <p:cNvSpPr txBox="1"/>
          <p:nvPr/>
        </p:nvSpPr>
        <p:spPr>
          <a:xfrm>
            <a:off x="1009650" y="3700908"/>
            <a:ext cx="1190148"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E-Invoicing</a:t>
            </a:r>
            <a:endParaRPr/>
          </a:p>
        </p:txBody>
      </p:sp>
      <p:sp>
        <p:nvSpPr>
          <p:cNvPr id="259" name="Google Shape;259;p23"/>
          <p:cNvSpPr txBox="1"/>
          <p:nvPr/>
        </p:nvSpPr>
        <p:spPr>
          <a:xfrm>
            <a:off x="1009650"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Consolidating hundreds of raw metadata elements from dynamic PDF structures prior to pushing data down stream.</a:t>
            </a:r>
            <a:endParaRPr/>
          </a:p>
        </p:txBody>
      </p:sp>
      <p:sp>
        <p:nvSpPr>
          <p:cNvPr id="260" name="Google Shape;260;p23"/>
          <p:cNvSpPr txBox="1"/>
          <p:nvPr/>
        </p:nvSpPr>
        <p:spPr>
          <a:xfrm>
            <a:off x="4645074" y="3700908"/>
            <a:ext cx="1650206"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Ledger Auditing</a:t>
            </a:r>
            <a:endParaRPr/>
          </a:p>
        </p:txBody>
      </p:sp>
      <p:sp>
        <p:nvSpPr>
          <p:cNvPr id="261" name="Google Shape;261;p23"/>
          <p:cNvSpPr txBox="1"/>
          <p:nvPr/>
        </p:nvSpPr>
        <p:spPr>
          <a:xfrm>
            <a:off x="4645074"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Merging volatile dynamic database logs against physical master system spreadsheets for continuous validation.</a:t>
            </a:r>
            <a:endParaRPr/>
          </a:p>
        </p:txBody>
      </p:sp>
      <p:sp>
        <p:nvSpPr>
          <p:cNvPr id="262" name="Google Shape;262;p23"/>
          <p:cNvSpPr txBox="1"/>
          <p:nvPr/>
        </p:nvSpPr>
        <p:spPr>
          <a:xfrm>
            <a:off x="8280499" y="3700908"/>
            <a:ext cx="208026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Active Work Queues</a:t>
            </a:r>
            <a:endParaRPr/>
          </a:p>
        </p:txBody>
      </p:sp>
      <p:sp>
        <p:nvSpPr>
          <p:cNvPr id="263" name="Google Shape;263;p23"/>
          <p:cNvSpPr txBox="1"/>
          <p:nvPr/>
        </p:nvSpPr>
        <p:spPr>
          <a:xfrm>
            <a:off x="8280499"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Temporarily holding structured work payloads locally inside worker nodes during high-volume runtimes.</a:t>
            </a:r>
            <a:endParaRPr/>
          </a:p>
        </p:txBody>
      </p:sp>
      <p:pic>
        <p:nvPicPr>
          <p:cNvPr id="264" name="Google Shape;264;p23" descr="image.png"/>
          <p:cNvPicPr preferRelativeResize="0"/>
          <p:nvPr/>
        </p:nvPicPr>
        <p:blipFill rotWithShape="1">
          <a:blip r:embed="rId8">
            <a:alphaModFix/>
          </a:blip>
          <a:srcRect b="2703"/>
          <a:stretch/>
        </p:blipFill>
        <p:spPr>
          <a:xfrm>
            <a:off x="1009650" y="3157983"/>
            <a:ext cx="257175" cy="342900"/>
          </a:xfrm>
          <a:prstGeom prst="rect">
            <a:avLst/>
          </a:prstGeom>
          <a:noFill/>
          <a:ln>
            <a:noFill/>
          </a:ln>
        </p:spPr>
      </p:pic>
      <p:pic>
        <p:nvPicPr>
          <p:cNvPr id="265" name="Google Shape;265;p23" descr="image.png"/>
          <p:cNvPicPr preferRelativeResize="0"/>
          <p:nvPr/>
        </p:nvPicPr>
        <p:blipFill rotWithShape="1">
          <a:blip r:embed="rId9">
            <a:alphaModFix/>
          </a:blip>
          <a:srcRect/>
          <a:stretch/>
        </p:blipFill>
        <p:spPr>
          <a:xfrm>
            <a:off x="4645074" y="3157983"/>
            <a:ext cx="257175" cy="342900"/>
          </a:xfrm>
          <a:prstGeom prst="rect">
            <a:avLst/>
          </a:prstGeom>
          <a:noFill/>
          <a:ln>
            <a:noFill/>
          </a:ln>
        </p:spPr>
      </p:pic>
      <p:pic>
        <p:nvPicPr>
          <p:cNvPr id="266" name="Google Shape;266;p23" descr="image.png"/>
          <p:cNvPicPr preferRelativeResize="0"/>
          <p:nvPr/>
        </p:nvPicPr>
        <p:blipFill rotWithShape="1">
          <a:blip r:embed="rId10">
            <a:alphaModFix/>
          </a:blip>
          <a:srcRect/>
          <a:stretch/>
        </p:blipFill>
        <p:spPr>
          <a:xfrm>
            <a:off x="8280499" y="3157983"/>
            <a:ext cx="342900" cy="342900"/>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1"/>
          <a:stretch>
            <a:fillRect/>
          </a:stretch>
        </p:blipFill>
        <p:spPr>
          <a:xfrm>
            <a:off x="10242000" y="280000"/>
            <a:ext cx="1700000" cy="716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0"/>
        <p:cNvGrpSpPr/>
        <p:nvPr/>
      </p:nvGrpSpPr>
      <p:grpSpPr>
        <a:xfrm>
          <a:off x="0" y="0"/>
          <a:ext cx="0" cy="0"/>
          <a:chOff x="0" y="0"/>
          <a:chExt cx="0" cy="0"/>
        </a:xfrm>
      </p:grpSpPr>
      <p:pic>
        <p:nvPicPr>
          <p:cNvPr id="271" name="Google Shape;271;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272" name="Google Shape;272;p24"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273" name="Google Shape;273;p24"/>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ARCHITECTURAL STANDARDS</a:t>
            </a:r>
            <a:endParaRPr/>
          </a:p>
        </p:txBody>
      </p:sp>
      <p:sp>
        <p:nvSpPr>
          <p:cNvPr id="274" name="Google Shape;274;p24"/>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Best Practices in Memory</a:t>
            </a:r>
            <a:endParaRPr/>
          </a:p>
        </p:txBody>
      </p:sp>
      <p:sp>
        <p:nvSpPr>
          <p:cNvPr id="275" name="Google Shape;275;p24"/>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276" name="Google Shape;276;p24"/>
          <p:cNvSpPr txBox="1"/>
          <p:nvPr/>
        </p:nvSpPr>
        <p:spPr>
          <a:xfrm>
            <a:off x="762000" y="6448425"/>
            <a:ext cx="15525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RPA ENGINEERING RIGOR</a:t>
            </a:r>
            <a:endParaRPr/>
          </a:p>
        </p:txBody>
      </p:sp>
      <p:sp>
        <p:nvSpPr>
          <p:cNvPr id="277" name="Google Shape;277;p24"/>
          <p:cNvSpPr txBox="1"/>
          <p:nvPr/>
        </p:nvSpPr>
        <p:spPr>
          <a:xfrm>
            <a:off x="10534650" y="6448425"/>
            <a:ext cx="8953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12 OF 42</a:t>
            </a:r>
            <a:endParaRPr/>
          </a:p>
        </p:txBody>
      </p:sp>
      <p:sp>
        <p:nvSpPr>
          <p:cNvPr id="278" name="Google Shape;278;p24"/>
          <p:cNvSpPr txBox="1"/>
          <p:nvPr/>
        </p:nvSpPr>
        <p:spPr>
          <a:xfrm>
            <a:off x="1524000" y="29698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Continuous Garbage Collection:</a:t>
            </a:r>
            <a:r>
              <a:rPr lang="en-US" sz="1350" b="0" i="0" u="none" strike="noStrike" cap="none">
                <a:solidFill>
                  <a:srgbClr val="334155"/>
                </a:solidFill>
                <a:latin typeface="Urbanist"/>
                <a:ea typeface="Urbanist"/>
                <a:cs typeface="Urbanist"/>
                <a:sym typeface="Urbanist"/>
              </a:rPr>
              <a:t> Ensure memory is cleaned up. Use dt_MyTable.Dispose() or clear collections during large, high-capacity processing loops to prevent memory leaks.</a:t>
            </a:r>
            <a:endParaRPr/>
          </a:p>
        </p:txBody>
      </p:sp>
      <p:sp>
        <p:nvSpPr>
          <p:cNvPr id="279" name="Google Shape;279;p24"/>
          <p:cNvSpPr txBox="1"/>
          <p:nvPr/>
        </p:nvSpPr>
        <p:spPr>
          <a:xfrm>
            <a:off x="1524000" y="36937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Explicit Column Access:</a:t>
            </a:r>
            <a:r>
              <a:rPr lang="en-US" sz="1350" b="0" i="0" u="none" strike="noStrike" cap="none">
                <a:solidFill>
                  <a:srgbClr val="334155"/>
                </a:solidFill>
                <a:latin typeface="Urbanist"/>
                <a:ea typeface="Urbanist"/>
                <a:cs typeface="Urbanist"/>
                <a:sym typeface="Urbanist"/>
              </a:rPr>
              <a:t> Reference row values strictly via Column Name (row("InvoiceTotal")) rather than unstable array indexes (row(4)).</a:t>
            </a:r>
            <a:endParaRPr/>
          </a:p>
        </p:txBody>
      </p:sp>
      <p:sp>
        <p:nvSpPr>
          <p:cNvPr id="280" name="Google Shape;280;p24"/>
          <p:cNvSpPr txBox="1"/>
          <p:nvPr/>
        </p:nvSpPr>
        <p:spPr>
          <a:xfrm>
            <a:off x="1524000" y="44176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Null Checks:</a:t>
            </a:r>
            <a:r>
              <a:rPr lang="en-US" sz="1350" b="0" i="0" u="none" strike="noStrike" cap="none">
                <a:solidFill>
                  <a:srgbClr val="334155"/>
                </a:solidFill>
                <a:latin typeface="Urbanist"/>
                <a:ea typeface="Urbanist"/>
                <a:cs typeface="Urbanist"/>
                <a:sym typeface="Urbanist"/>
              </a:rPr>
              <a:t> Always protect evaluation logic with explicit null validations (IsDBNull()) to prevent robot processing crashes.</a:t>
            </a:r>
            <a:endParaRPr/>
          </a:p>
        </p:txBody>
      </p:sp>
      <p:pic>
        <p:nvPicPr>
          <p:cNvPr id="281" name="Google Shape;281;p24" descr="image.png"/>
          <p:cNvPicPr preferRelativeResize="0"/>
          <p:nvPr/>
        </p:nvPicPr>
        <p:blipFill rotWithShape="1">
          <a:blip r:embed="rId5">
            <a:alphaModFix/>
          </a:blip>
          <a:srcRect/>
          <a:stretch/>
        </p:blipFill>
        <p:spPr>
          <a:xfrm>
            <a:off x="1095375" y="3003202"/>
            <a:ext cx="238125" cy="219075"/>
          </a:xfrm>
          <a:prstGeom prst="rect">
            <a:avLst/>
          </a:prstGeom>
          <a:noFill/>
          <a:ln>
            <a:noFill/>
          </a:ln>
        </p:spPr>
      </p:pic>
      <p:pic>
        <p:nvPicPr>
          <p:cNvPr id="282" name="Google Shape;282;p24" descr="image.png"/>
          <p:cNvPicPr preferRelativeResize="0"/>
          <p:nvPr/>
        </p:nvPicPr>
        <p:blipFill rotWithShape="1">
          <a:blip r:embed="rId6">
            <a:alphaModFix/>
          </a:blip>
          <a:srcRect/>
          <a:stretch/>
        </p:blipFill>
        <p:spPr>
          <a:xfrm>
            <a:off x="1095375" y="3727102"/>
            <a:ext cx="161925" cy="219075"/>
          </a:xfrm>
          <a:prstGeom prst="rect">
            <a:avLst/>
          </a:prstGeom>
          <a:noFill/>
          <a:ln>
            <a:noFill/>
          </a:ln>
        </p:spPr>
      </p:pic>
      <p:pic>
        <p:nvPicPr>
          <p:cNvPr id="283" name="Google Shape;283;p24" descr="image.png"/>
          <p:cNvPicPr preferRelativeResize="0"/>
          <p:nvPr/>
        </p:nvPicPr>
        <p:blipFill rotWithShape="1">
          <a:blip r:embed="rId7">
            <a:alphaModFix/>
          </a:blip>
          <a:srcRect/>
          <a:stretch/>
        </p:blipFill>
        <p:spPr>
          <a:xfrm>
            <a:off x="1095375" y="4451002"/>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8"/>
          <a:stretch>
            <a:fillRect/>
          </a:stretch>
        </p:blipFill>
        <p:spPr>
          <a:xfrm>
            <a:off x="10242000" y="280000"/>
            <a:ext cx="1700000" cy="716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87"/>
        <p:cNvGrpSpPr/>
        <p:nvPr/>
      </p:nvGrpSpPr>
      <p:grpSpPr>
        <a:xfrm>
          <a:off x="0" y="0"/>
          <a:ext cx="0" cy="0"/>
          <a:chOff x="0" y="0"/>
          <a:chExt cx="0" cy="0"/>
        </a:xfrm>
      </p:grpSpPr>
      <p:pic>
        <p:nvPicPr>
          <p:cNvPr id="289" name="Google Shape;289;p25" descr="image.png"/>
          <p:cNvPicPr preferRelativeResize="0"/>
          <p:nvPr/>
        </p:nvPicPr>
        <p:blipFill rotWithShape="1">
          <a:blip r:embed="rId3">
            <a:alphaModFix/>
          </a:blip>
          <a:srcRect l="1745" r="1748"/>
          <a:stretch/>
        </p:blipFill>
        <p:spPr>
          <a:xfrm>
            <a:off x="762000" y="6296025"/>
            <a:ext cx="10668000" cy="323850"/>
          </a:xfrm>
          <a:prstGeom prst="rect">
            <a:avLst/>
          </a:prstGeom>
          <a:noFill/>
          <a:ln>
            <a:noFill/>
          </a:ln>
        </p:spPr>
      </p:pic>
      <p:sp>
        <p:nvSpPr>
          <p:cNvPr id="290" name="Google Shape;290;p25"/>
          <p:cNvSpPr txBox="1"/>
          <p:nvPr/>
        </p:nvSpPr>
        <p:spPr>
          <a:xfrm>
            <a:off x="5595937" y="2524125"/>
            <a:ext cx="1000125"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SECTION I.II</a:t>
            </a:r>
            <a:endParaRPr/>
          </a:p>
        </p:txBody>
      </p:sp>
      <p:sp>
        <p:nvSpPr>
          <p:cNvPr id="291" name="Google Shape;291;p25"/>
          <p:cNvSpPr txBox="1"/>
          <p:nvPr/>
        </p:nvSpPr>
        <p:spPr>
          <a:xfrm>
            <a:off x="2160508" y="2800350"/>
            <a:ext cx="7870983" cy="6001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1F3864"/>
                </a:solidFill>
                <a:latin typeface="Urbanist"/>
                <a:ea typeface="Urbanist"/>
                <a:cs typeface="Urbanist"/>
                <a:sym typeface="Urbanist"/>
              </a:rPr>
              <a:t>Advanced Manipulation: LINQ</a:t>
            </a:r>
            <a:endParaRPr/>
          </a:p>
        </p:txBody>
      </p:sp>
      <p:sp>
        <p:nvSpPr>
          <p:cNvPr id="292" name="Google Shape;292;p25"/>
          <p:cNvSpPr txBox="1"/>
          <p:nvPr/>
        </p:nvSpPr>
        <p:spPr>
          <a:xfrm>
            <a:off x="2038350" y="4152900"/>
            <a:ext cx="811530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475569"/>
                </a:solidFill>
                <a:latin typeface="Urbanist"/>
                <a:ea typeface="Urbanist"/>
                <a:cs typeface="Urbanist"/>
                <a:sym typeface="Urbanist"/>
              </a:rPr>
              <a:t>Unlocking powerful VB.NET and C# database structures and query engine integrations inside the Invoke Code Activity block.</a:t>
            </a:r>
            <a:endParaRPr/>
          </a:p>
        </p:txBody>
      </p:sp>
      <p:sp>
        <p:nvSpPr>
          <p:cNvPr id="293" name="Google Shape;293;p25"/>
          <p:cNvSpPr txBox="1"/>
          <p:nvPr/>
        </p:nvSpPr>
        <p:spPr>
          <a:xfrm>
            <a:off x="762000" y="6448425"/>
            <a:ext cx="21240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HIGH PERFORMANCE PROCESSING</a:t>
            </a:r>
            <a:endParaRPr/>
          </a:p>
        </p:txBody>
      </p:sp>
      <p:sp>
        <p:nvSpPr>
          <p:cNvPr id="294" name="Google Shape;294;p25"/>
          <p:cNvSpPr txBox="1"/>
          <p:nvPr/>
        </p:nvSpPr>
        <p:spPr>
          <a:xfrm>
            <a:off x="10534650" y="6448425"/>
            <a:ext cx="8953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SLIDE 13 OF 42</a:t>
            </a:r>
            <a:endParaRPr/>
          </a:p>
        </p:txBody>
      </p:sp>
      <p:pic>
        <p:nvPicPr>
          <p:cNvPr id="9001" name="RAYA Logo"/>
          <p:cNvPicPr>
            <a:picLocks noChangeAspect="1"/>
          </p:cNvPicPr>
          <p:nvPr/>
        </p:nvPicPr>
        <p:blipFill>
          <a:blip r:embed="rId4"/>
          <a:stretch>
            <a:fillRect/>
          </a:stretch>
        </p:blipFill>
        <p:spPr>
          <a:xfrm>
            <a:off x="10242000" y="280000"/>
            <a:ext cx="1700000" cy="716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8"/>
        <p:cNvGrpSpPr/>
        <p:nvPr/>
      </p:nvGrpSpPr>
      <p:grpSpPr>
        <a:xfrm>
          <a:off x="0" y="0"/>
          <a:ext cx="0" cy="0"/>
          <a:chOff x="0" y="0"/>
          <a:chExt cx="0" cy="0"/>
        </a:xfrm>
      </p:grpSpPr>
      <p:pic>
        <p:nvPicPr>
          <p:cNvPr id="299" name="Google Shape;299;p2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00" name="Google Shape;300;p26"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301" name="Google Shape;301;p26" descr="image.png"/>
          <p:cNvPicPr preferRelativeResize="0"/>
          <p:nvPr/>
        </p:nvPicPr>
        <p:blipFill rotWithShape="1">
          <a:blip r:embed="rId5">
            <a:alphaModFix/>
          </a:blip>
          <a:srcRect/>
          <a:stretch/>
        </p:blipFill>
        <p:spPr>
          <a:xfrm>
            <a:off x="762000" y="2907952"/>
            <a:ext cx="5143500" cy="2038350"/>
          </a:xfrm>
          <a:prstGeom prst="rect">
            <a:avLst/>
          </a:prstGeom>
          <a:noFill/>
          <a:ln>
            <a:noFill/>
          </a:ln>
        </p:spPr>
      </p:pic>
      <p:pic>
        <p:nvPicPr>
          <p:cNvPr id="302" name="Google Shape;302;p26" descr="image.png"/>
          <p:cNvPicPr preferRelativeResize="0"/>
          <p:nvPr/>
        </p:nvPicPr>
        <p:blipFill rotWithShape="1">
          <a:blip r:embed="rId6">
            <a:alphaModFix/>
          </a:blip>
          <a:srcRect/>
          <a:stretch/>
        </p:blipFill>
        <p:spPr>
          <a:xfrm>
            <a:off x="6286500" y="2907952"/>
            <a:ext cx="5143500" cy="2038350"/>
          </a:xfrm>
          <a:prstGeom prst="rect">
            <a:avLst/>
          </a:prstGeom>
          <a:noFill/>
          <a:ln>
            <a:noFill/>
          </a:ln>
        </p:spPr>
      </p:pic>
      <p:sp>
        <p:nvSpPr>
          <p:cNvPr id="303" name="Google Shape;303;p26"/>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ADVANCED OPTIMIZATION</a:t>
            </a:r>
            <a:endParaRPr/>
          </a:p>
        </p:txBody>
      </p:sp>
      <p:sp>
        <p:nvSpPr>
          <p:cNvPr id="304" name="Google Shape;304;p26"/>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Why Use LINQ in RPA?</a:t>
            </a:r>
            <a:endParaRPr/>
          </a:p>
        </p:txBody>
      </p:sp>
      <p:sp>
        <p:nvSpPr>
          <p:cNvPr id="305" name="Google Shape;305;p26"/>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06" name="Google Shape;306;p26"/>
          <p:cNvSpPr txBox="1"/>
          <p:nvPr/>
        </p:nvSpPr>
        <p:spPr>
          <a:xfrm>
            <a:off x="762000" y="6448425"/>
            <a:ext cx="17811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VISUAL &amp; ENGINE EVOLUTION</a:t>
            </a:r>
            <a:endParaRPr/>
          </a:p>
        </p:txBody>
      </p:sp>
      <p:sp>
        <p:nvSpPr>
          <p:cNvPr id="307" name="Google Shape;307;p26"/>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14 OF 42</a:t>
            </a:r>
            <a:endParaRPr/>
          </a:p>
        </p:txBody>
      </p:sp>
      <p:sp>
        <p:nvSpPr>
          <p:cNvPr id="308" name="Google Shape;308;p26"/>
          <p:cNvSpPr txBox="1"/>
          <p:nvPr/>
        </p:nvSpPr>
        <p:spPr>
          <a:xfrm>
            <a:off x="10572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Visual Simplicity</a:t>
            </a:r>
            <a:endParaRPr/>
          </a:p>
        </p:txBody>
      </p:sp>
      <p:sp>
        <p:nvSpPr>
          <p:cNvPr id="309" name="Google Shape;309;p26"/>
          <p:cNvSpPr txBox="1"/>
          <p:nvPr/>
        </p:nvSpPr>
        <p:spPr>
          <a:xfrm>
            <a:off x="10572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Standard visual loops (For Each Row) create highly cluttered workflows ("Arrowhead" anti-patterns). A single query line removes deep nested activity boxes, making automation steps dramatically cleaner and easier to maintain.</a:t>
            </a:r>
            <a:endParaRPr/>
          </a:p>
        </p:txBody>
      </p:sp>
      <p:sp>
        <p:nvSpPr>
          <p:cNvPr id="310" name="Google Shape;310;p26"/>
          <p:cNvSpPr txBox="1"/>
          <p:nvPr/>
        </p:nvSpPr>
        <p:spPr>
          <a:xfrm>
            <a:off x="65817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Processing Velocity</a:t>
            </a:r>
            <a:endParaRPr/>
          </a:p>
        </p:txBody>
      </p:sp>
      <p:sp>
        <p:nvSpPr>
          <p:cNvPr id="311" name="Google Shape;311;p26"/>
          <p:cNvSpPr txBox="1"/>
          <p:nvPr/>
        </p:nvSpPr>
        <p:spPr>
          <a:xfrm>
            <a:off x="65817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When dataset scales cross thousands of complex rows, basic robot loops degrade significantly in performance. LINQ processes memory queries close to the core architecture level, returning filtered outputs in milliseconds.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5"/>
        <p:cNvGrpSpPr/>
        <p:nvPr/>
      </p:nvGrpSpPr>
      <p:grpSpPr>
        <a:xfrm>
          <a:off x="0" y="0"/>
          <a:ext cx="0" cy="0"/>
          <a:chOff x="0" y="0"/>
          <a:chExt cx="0" cy="0"/>
        </a:xfrm>
      </p:grpSpPr>
      <p:pic>
        <p:nvPicPr>
          <p:cNvPr id="316" name="Google Shape;316;p2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17" name="Google Shape;317;p27"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318" name="Google Shape;318;p27"/>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CUSTOM DEVELOPMENT</a:t>
            </a:r>
            <a:endParaRPr/>
          </a:p>
        </p:txBody>
      </p:sp>
      <p:sp>
        <p:nvSpPr>
          <p:cNvPr id="319" name="Google Shape;319;p27"/>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Invoke Code Activity</a:t>
            </a:r>
            <a:endParaRPr/>
          </a:p>
        </p:txBody>
      </p:sp>
      <p:sp>
        <p:nvSpPr>
          <p:cNvPr id="320" name="Google Shape;320;p27"/>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21" name="Google Shape;321;p27"/>
          <p:cNvSpPr txBox="1"/>
          <p:nvPr/>
        </p:nvSpPr>
        <p:spPr>
          <a:xfrm>
            <a:off x="762000" y="6448425"/>
            <a:ext cx="16478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NATIVE CODE OPERATIONS</a:t>
            </a:r>
            <a:endParaRPr/>
          </a:p>
        </p:txBody>
      </p:sp>
      <p:sp>
        <p:nvSpPr>
          <p:cNvPr id="322" name="Google Shape;322;p27"/>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15 OF 42</a:t>
            </a:r>
            <a:endParaRPr/>
          </a:p>
        </p:txBody>
      </p:sp>
      <p:sp>
        <p:nvSpPr>
          <p:cNvPr id="323" name="Google Shape;323;p27"/>
          <p:cNvSpPr txBox="1"/>
          <p:nvPr/>
        </p:nvSpPr>
        <p:spPr>
          <a:xfrm>
            <a:off x="1524000" y="2993677"/>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Dynamic Compilation:</a:t>
            </a:r>
            <a:r>
              <a:rPr lang="en-US" sz="1350" b="0" i="0" u="none" strike="noStrike" cap="none">
                <a:solidFill>
                  <a:srgbClr val="334155"/>
                </a:solidFill>
                <a:latin typeface="Urbanist"/>
                <a:ea typeface="Urbanist"/>
                <a:cs typeface="Urbanist"/>
                <a:sym typeface="Urbanist"/>
              </a:rPr>
              <a:t> Execute native custom .NET languages (VB.NET or C#) within compile blocks inside the workflow.</a:t>
            </a:r>
            <a:endParaRPr/>
          </a:p>
        </p:txBody>
      </p:sp>
      <p:sp>
        <p:nvSpPr>
          <p:cNvPr id="324" name="Google Shape;324;p27"/>
          <p:cNvSpPr txBox="1"/>
          <p:nvPr/>
        </p:nvSpPr>
        <p:spPr>
          <a:xfrm>
            <a:off x="1524000" y="3717577"/>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Input/Output Binding:</a:t>
            </a:r>
            <a:r>
              <a:rPr lang="en-US" sz="1350" b="0" i="0" u="none" strike="noStrike" cap="none">
                <a:solidFill>
                  <a:srgbClr val="334155"/>
                </a:solidFill>
                <a:latin typeface="Urbanist"/>
                <a:ea typeface="Urbanist"/>
                <a:cs typeface="Urbanist"/>
                <a:sym typeface="Urbanist"/>
              </a:rPr>
              <a:t> Seamlessly pass complex local workspace objects into code scopes using strict In/Out arguments.</a:t>
            </a:r>
            <a:endParaRPr/>
          </a:p>
        </p:txBody>
      </p:sp>
      <p:sp>
        <p:nvSpPr>
          <p:cNvPr id="325" name="Google Shape;325;p27"/>
          <p:cNvSpPr txBox="1"/>
          <p:nvPr/>
        </p:nvSpPr>
        <p:spPr>
          <a:xfrm>
            <a:off x="1524000" y="4441477"/>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Pre-Execution Validation:</a:t>
            </a:r>
            <a:r>
              <a:rPr lang="en-US" sz="1350" b="0" i="0" u="none" strike="noStrike" cap="none">
                <a:solidFill>
                  <a:srgbClr val="334155"/>
                </a:solidFill>
                <a:latin typeface="Urbanist"/>
                <a:ea typeface="Urbanist"/>
                <a:cs typeface="Urbanist"/>
                <a:sym typeface="Urbanist"/>
              </a:rPr>
              <a:t> Invoke Code undergoes validation at build time, preventing runtime engine execution crashes.</a:t>
            </a:r>
            <a:endParaRPr/>
          </a:p>
        </p:txBody>
      </p:sp>
      <p:sp>
        <p:nvSpPr>
          <p:cNvPr id="326" name="Google Shape;326;p27"/>
          <p:cNvSpPr txBox="1"/>
          <p:nvPr/>
        </p:nvSpPr>
        <p:spPr>
          <a:xfrm>
            <a:off x="1524000" y="5165377"/>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Code Control:</a:t>
            </a:r>
            <a:r>
              <a:rPr lang="en-US" sz="1350" b="0" i="0" u="none" strike="noStrike" cap="none">
                <a:solidFill>
                  <a:srgbClr val="334155"/>
                </a:solidFill>
                <a:latin typeface="Urbanist"/>
                <a:ea typeface="Urbanist"/>
                <a:cs typeface="Urbanist"/>
                <a:sym typeface="Urbanist"/>
              </a:rPr>
              <a:t> Consolidate long, complex multi-step data cleaning sequences into clean, reusable structural components.</a:t>
            </a:r>
            <a:endParaRPr/>
          </a:p>
        </p:txBody>
      </p:sp>
      <p:pic>
        <p:nvPicPr>
          <p:cNvPr id="327" name="Google Shape;327;p27" descr="image.png"/>
          <p:cNvPicPr preferRelativeResize="0"/>
          <p:nvPr/>
        </p:nvPicPr>
        <p:blipFill rotWithShape="1">
          <a:blip r:embed="rId5">
            <a:alphaModFix/>
          </a:blip>
          <a:srcRect/>
          <a:stretch/>
        </p:blipFill>
        <p:spPr>
          <a:xfrm>
            <a:off x="1095375" y="3027015"/>
            <a:ext cx="238125" cy="219075"/>
          </a:xfrm>
          <a:prstGeom prst="rect">
            <a:avLst/>
          </a:prstGeom>
          <a:noFill/>
          <a:ln>
            <a:noFill/>
          </a:ln>
        </p:spPr>
      </p:pic>
      <p:pic>
        <p:nvPicPr>
          <p:cNvPr id="328" name="Google Shape;328;p27" descr="image.png"/>
          <p:cNvPicPr preferRelativeResize="0"/>
          <p:nvPr/>
        </p:nvPicPr>
        <p:blipFill rotWithShape="1">
          <a:blip r:embed="rId6">
            <a:alphaModFix/>
          </a:blip>
          <a:srcRect/>
          <a:stretch/>
        </p:blipFill>
        <p:spPr>
          <a:xfrm>
            <a:off x="1095375" y="3750914"/>
            <a:ext cx="209550" cy="219075"/>
          </a:xfrm>
          <a:prstGeom prst="rect">
            <a:avLst/>
          </a:prstGeom>
          <a:noFill/>
          <a:ln>
            <a:noFill/>
          </a:ln>
        </p:spPr>
      </p:pic>
      <p:pic>
        <p:nvPicPr>
          <p:cNvPr id="329" name="Google Shape;329;p27" descr="image.png"/>
          <p:cNvPicPr preferRelativeResize="0"/>
          <p:nvPr/>
        </p:nvPicPr>
        <p:blipFill rotWithShape="1">
          <a:blip r:embed="rId7">
            <a:alphaModFix/>
          </a:blip>
          <a:srcRect/>
          <a:stretch/>
        </p:blipFill>
        <p:spPr>
          <a:xfrm>
            <a:off x="1095375" y="4474814"/>
            <a:ext cx="266700" cy="219075"/>
          </a:xfrm>
          <a:prstGeom prst="rect">
            <a:avLst/>
          </a:prstGeom>
          <a:noFill/>
          <a:ln>
            <a:noFill/>
          </a:ln>
        </p:spPr>
      </p:pic>
      <p:pic>
        <p:nvPicPr>
          <p:cNvPr id="330" name="Google Shape;330;p27" descr="image.png"/>
          <p:cNvPicPr preferRelativeResize="0"/>
          <p:nvPr/>
        </p:nvPicPr>
        <p:blipFill rotWithShape="1">
          <a:blip r:embed="rId8">
            <a:alphaModFix/>
          </a:blip>
          <a:srcRect/>
          <a:stretch/>
        </p:blipFill>
        <p:spPr>
          <a:xfrm>
            <a:off x="1095375" y="5198714"/>
            <a:ext cx="180975"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9"/>
          <a:stretch>
            <a:fillRect/>
          </a:stretch>
        </p:blipFill>
        <p:spPr>
          <a:xfrm>
            <a:off x="10242000" y="280000"/>
            <a:ext cx="1700000" cy="716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34"/>
        <p:cNvGrpSpPr/>
        <p:nvPr/>
      </p:nvGrpSpPr>
      <p:grpSpPr>
        <a:xfrm>
          <a:off x="0" y="0"/>
          <a:ext cx="0" cy="0"/>
          <a:chOff x="0" y="0"/>
          <a:chExt cx="0" cy="0"/>
        </a:xfrm>
      </p:grpSpPr>
      <p:pic>
        <p:nvPicPr>
          <p:cNvPr id="335" name="Google Shape;335;p2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36" name="Google Shape;336;p28"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338" name="Google Shape;338;p28"/>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LINQ EXPRESSIONS</a:t>
            </a:r>
            <a:endParaRPr/>
          </a:p>
        </p:txBody>
      </p:sp>
      <p:sp>
        <p:nvSpPr>
          <p:cNvPr id="339" name="Google Shape;339;p28"/>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LINQ Filtering Methods</a:t>
            </a:r>
            <a:endParaRPr/>
          </a:p>
        </p:txBody>
      </p:sp>
      <p:sp>
        <p:nvSpPr>
          <p:cNvPr id="340" name="Google Shape;340;p28"/>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41" name="Google Shape;341;p28"/>
          <p:cNvSpPr txBox="1"/>
          <p:nvPr/>
        </p:nvSpPr>
        <p:spPr>
          <a:xfrm>
            <a:off x="762000" y="6448425"/>
            <a:ext cx="19621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HIGH-PERFORMANCE FILTERING</a:t>
            </a:r>
            <a:endParaRPr/>
          </a:p>
        </p:txBody>
      </p:sp>
      <p:sp>
        <p:nvSpPr>
          <p:cNvPr id="342" name="Google Shape;342;p28"/>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16 OF 42</a:t>
            </a:r>
            <a:endParaRPr/>
          </a:p>
        </p:txBody>
      </p:sp>
      <p:sp>
        <p:nvSpPr>
          <p:cNvPr id="343" name="Google Shape;343;p28"/>
          <p:cNvSpPr txBox="1"/>
          <p:nvPr/>
        </p:nvSpPr>
        <p:spPr>
          <a:xfrm>
            <a:off x="762000" y="2814637"/>
            <a:ext cx="51435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Urbanist"/>
                <a:ea typeface="Urbanist"/>
                <a:cs typeface="Urbanist"/>
                <a:sym typeface="Urbanist"/>
              </a:rPr>
              <a:t>Use the .AsEnumerable() method to query raw data rows directly within a native LINQ filter statement:</a:t>
            </a:r>
            <a:endParaRPr/>
          </a:p>
        </p:txBody>
      </p:sp>
      <p:sp>
        <p:nvSpPr>
          <p:cNvPr id="344" name="Google Shape;344;p28"/>
          <p:cNvSpPr txBox="1"/>
          <p:nvPr/>
        </p:nvSpPr>
        <p:spPr>
          <a:xfrm>
            <a:off x="6715125" y="2957512"/>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Field Extraction:</a:t>
            </a:r>
            <a:r>
              <a:rPr lang="en-US" sz="1350" b="0" i="0" u="none" strike="noStrike" cap="none">
                <a:solidFill>
                  <a:srgbClr val="334155"/>
                </a:solidFill>
                <a:latin typeface="Urbanist"/>
                <a:ea typeface="Urbanist"/>
                <a:cs typeface="Urbanist"/>
                <a:sym typeface="Urbanist"/>
              </a:rPr>
              <a:t> The Field(Of T) accessor provides strongly typed schema extractions directly to variables.</a:t>
            </a:r>
            <a:endParaRPr/>
          </a:p>
        </p:txBody>
      </p:sp>
      <p:sp>
        <p:nvSpPr>
          <p:cNvPr id="345" name="Google Shape;345;p28"/>
          <p:cNvSpPr txBox="1"/>
          <p:nvPr/>
        </p:nvSpPr>
        <p:spPr>
          <a:xfrm>
            <a:off x="6715125" y="3681412"/>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Handling Empty Sets:</a:t>
            </a:r>
            <a:r>
              <a:rPr lang="en-US" sz="1350" b="0" i="0" u="none" strike="noStrike" cap="none">
                <a:solidFill>
                  <a:srgbClr val="334155"/>
                </a:solidFill>
                <a:latin typeface="Urbanist"/>
                <a:ea typeface="Urbanist"/>
                <a:cs typeface="Urbanist"/>
                <a:sym typeface="Urbanist"/>
              </a:rPr>
              <a:t> Protect execution with safe logic if the filter returns zero matching records.</a:t>
            </a:r>
            <a:endParaRPr/>
          </a:p>
        </p:txBody>
      </p:sp>
      <p:pic>
        <p:nvPicPr>
          <p:cNvPr id="346" name="Google Shape;346;p28" descr="image.png"/>
          <p:cNvPicPr preferRelativeResize="0"/>
          <p:nvPr/>
        </p:nvPicPr>
        <p:blipFill rotWithShape="1">
          <a:blip r:embed="rId5">
            <a:alphaModFix/>
          </a:blip>
          <a:srcRect/>
          <a:stretch/>
        </p:blipFill>
        <p:spPr>
          <a:xfrm>
            <a:off x="6286500" y="2990850"/>
            <a:ext cx="209550" cy="219075"/>
          </a:xfrm>
          <a:prstGeom prst="rect">
            <a:avLst/>
          </a:prstGeom>
          <a:noFill/>
          <a:ln>
            <a:noFill/>
          </a:ln>
        </p:spPr>
      </p:pic>
      <p:pic>
        <p:nvPicPr>
          <p:cNvPr id="347" name="Google Shape;347;p28" descr="image.png"/>
          <p:cNvPicPr preferRelativeResize="0"/>
          <p:nvPr/>
        </p:nvPicPr>
        <p:blipFill rotWithShape="1">
          <a:blip r:embed="rId6">
            <a:alphaModFix/>
          </a:blip>
          <a:srcRect/>
          <a:stretch/>
        </p:blipFill>
        <p:spPr>
          <a:xfrm>
            <a:off x="6286500" y="3714750"/>
            <a:ext cx="238125"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pic>
        <p:nvPicPr>
          <p:cNvPr id="2" name="Picture 1" descr="A screenshot of a computer code&#10;&#10;AI-generated content may be incorrect.">
            <a:extLst>
              <a:ext uri="{FF2B5EF4-FFF2-40B4-BE49-F238E27FC236}">
                <a16:creationId xmlns:a16="http://schemas.microsoft.com/office/drawing/2014/main" id="{4BAAA28F-68CE-0E2F-D2CC-FFEEBEC43F6D}"/>
              </a:ext>
            </a:extLst>
          </p:cNvPr>
          <p:cNvPicPr>
            <a:picLocks noChangeAspect="1"/>
          </p:cNvPicPr>
          <p:nvPr/>
        </p:nvPicPr>
        <p:blipFill>
          <a:blip r:embed="rId8"/>
          <a:stretch>
            <a:fillRect/>
          </a:stretch>
        </p:blipFill>
        <p:spPr>
          <a:xfrm>
            <a:off x="764268" y="3680959"/>
            <a:ext cx="4894036" cy="1593396"/>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51"/>
        <p:cNvGrpSpPr/>
        <p:nvPr/>
      </p:nvGrpSpPr>
      <p:grpSpPr>
        <a:xfrm>
          <a:off x="0" y="0"/>
          <a:ext cx="0" cy="0"/>
          <a:chOff x="0" y="0"/>
          <a:chExt cx="0" cy="0"/>
        </a:xfrm>
      </p:grpSpPr>
      <p:pic>
        <p:nvPicPr>
          <p:cNvPr id="352" name="Google Shape;352;p2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53" name="Google Shape;353;p29"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355" name="Google Shape;355;p29"/>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ADVANCED STRUCTURING</a:t>
            </a:r>
            <a:endParaRPr/>
          </a:p>
        </p:txBody>
      </p:sp>
      <p:sp>
        <p:nvSpPr>
          <p:cNvPr id="356" name="Google Shape;356;p29"/>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LINQ Aggregations</a:t>
            </a:r>
            <a:endParaRPr/>
          </a:p>
        </p:txBody>
      </p:sp>
      <p:sp>
        <p:nvSpPr>
          <p:cNvPr id="357" name="Google Shape;357;p29"/>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58" name="Google Shape;358;p29"/>
          <p:cNvSpPr txBox="1"/>
          <p:nvPr/>
        </p:nvSpPr>
        <p:spPr>
          <a:xfrm>
            <a:off x="762000" y="6448425"/>
            <a:ext cx="17621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AGGREGATION FRAMEWORK</a:t>
            </a:r>
            <a:endParaRPr/>
          </a:p>
        </p:txBody>
      </p:sp>
      <p:sp>
        <p:nvSpPr>
          <p:cNvPr id="359" name="Google Shape;359;p29"/>
          <p:cNvSpPr txBox="1"/>
          <p:nvPr/>
        </p:nvSpPr>
        <p:spPr>
          <a:xfrm>
            <a:off x="10534650" y="6448425"/>
            <a:ext cx="8953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17 OF 42</a:t>
            </a:r>
            <a:endParaRPr/>
          </a:p>
        </p:txBody>
      </p:sp>
      <p:sp>
        <p:nvSpPr>
          <p:cNvPr id="360" name="Google Shape;360;p29"/>
          <p:cNvSpPr txBox="1"/>
          <p:nvPr/>
        </p:nvSpPr>
        <p:spPr>
          <a:xfrm>
            <a:off x="762000" y="2724150"/>
            <a:ext cx="51435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Urbanist"/>
                <a:ea typeface="Urbanist"/>
                <a:cs typeface="Urbanist"/>
                <a:sym typeface="Urbanist"/>
              </a:rPr>
              <a:t>Perform lightning-fast aggregations on invoices grouped by specific corporate vendors:</a:t>
            </a:r>
            <a:endParaRPr/>
          </a:p>
        </p:txBody>
      </p:sp>
      <p:sp>
        <p:nvSpPr>
          <p:cNvPr id="361" name="Google Shape;361;p29"/>
          <p:cNvSpPr txBox="1"/>
          <p:nvPr/>
        </p:nvSpPr>
        <p:spPr>
          <a:xfrm>
            <a:off x="6715125" y="2867025"/>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Group By Logic:</a:t>
            </a:r>
            <a:r>
              <a:rPr lang="en-US" sz="1350" b="0" i="0" u="none" strike="noStrike" cap="none">
                <a:solidFill>
                  <a:srgbClr val="334155"/>
                </a:solidFill>
                <a:latin typeface="Urbanist"/>
                <a:ea typeface="Urbanist"/>
                <a:cs typeface="Urbanist"/>
                <a:sym typeface="Urbanist"/>
              </a:rPr>
              <a:t> Safely group rows based on complex multi-column keys in memory.</a:t>
            </a:r>
            <a:endParaRPr/>
          </a:p>
        </p:txBody>
      </p:sp>
      <p:sp>
        <p:nvSpPr>
          <p:cNvPr id="362" name="Google Shape;362;p29"/>
          <p:cNvSpPr txBox="1"/>
          <p:nvPr/>
        </p:nvSpPr>
        <p:spPr>
          <a:xfrm>
            <a:off x="6715125" y="3590925"/>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Instant Reductions:</a:t>
            </a:r>
            <a:r>
              <a:rPr lang="en-US" sz="1350" b="0" i="0" u="none" strike="noStrike" cap="none">
                <a:solidFill>
                  <a:srgbClr val="334155"/>
                </a:solidFill>
                <a:latin typeface="Urbanist"/>
                <a:ea typeface="Urbanist"/>
                <a:cs typeface="Urbanist"/>
                <a:sym typeface="Urbanist"/>
              </a:rPr>
              <a:t> Calculate sums, averages, and counts directly during key grouping actions.</a:t>
            </a:r>
            <a:endParaRPr/>
          </a:p>
        </p:txBody>
      </p:sp>
      <p:pic>
        <p:nvPicPr>
          <p:cNvPr id="363" name="Google Shape;363;p29" descr="image.png"/>
          <p:cNvPicPr preferRelativeResize="0"/>
          <p:nvPr/>
        </p:nvPicPr>
        <p:blipFill rotWithShape="1">
          <a:blip r:embed="rId5">
            <a:alphaModFix/>
          </a:blip>
          <a:srcRect/>
          <a:stretch/>
        </p:blipFill>
        <p:spPr>
          <a:xfrm>
            <a:off x="6286500" y="2900362"/>
            <a:ext cx="161925" cy="219075"/>
          </a:xfrm>
          <a:prstGeom prst="rect">
            <a:avLst/>
          </a:prstGeom>
          <a:noFill/>
          <a:ln>
            <a:noFill/>
          </a:ln>
        </p:spPr>
      </p:pic>
      <p:pic>
        <p:nvPicPr>
          <p:cNvPr id="364" name="Google Shape;364;p29" descr="image.png"/>
          <p:cNvPicPr preferRelativeResize="0"/>
          <p:nvPr/>
        </p:nvPicPr>
        <p:blipFill rotWithShape="1">
          <a:blip r:embed="rId6">
            <a:alphaModFix/>
          </a:blip>
          <a:srcRect/>
          <a:stretch/>
        </p:blipFill>
        <p:spPr>
          <a:xfrm>
            <a:off x="6286500" y="3624262"/>
            <a:ext cx="161925"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pic>
        <p:nvPicPr>
          <p:cNvPr id="2" name="Picture 1" descr="A computer screen shot of a program code&#10;&#10;AI-generated content may be incorrect.">
            <a:extLst>
              <a:ext uri="{FF2B5EF4-FFF2-40B4-BE49-F238E27FC236}">
                <a16:creationId xmlns:a16="http://schemas.microsoft.com/office/drawing/2014/main" id="{3E24146D-32C4-FFC5-CAAB-B19680653D21}"/>
              </a:ext>
            </a:extLst>
          </p:cNvPr>
          <p:cNvPicPr>
            <a:picLocks noChangeAspect="1"/>
          </p:cNvPicPr>
          <p:nvPr/>
        </p:nvPicPr>
        <p:blipFill>
          <a:blip r:embed="rId8"/>
          <a:stretch>
            <a:fillRect/>
          </a:stretch>
        </p:blipFill>
        <p:spPr>
          <a:xfrm>
            <a:off x="407761" y="3427867"/>
            <a:ext cx="5853793" cy="262209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68"/>
        <p:cNvGrpSpPr/>
        <p:nvPr/>
      </p:nvGrpSpPr>
      <p:grpSpPr>
        <a:xfrm>
          <a:off x="0" y="0"/>
          <a:ext cx="0" cy="0"/>
          <a:chOff x="0" y="0"/>
          <a:chExt cx="0" cy="0"/>
        </a:xfrm>
      </p:grpSpPr>
      <p:pic>
        <p:nvPicPr>
          <p:cNvPr id="369" name="Google Shape;369;p3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70" name="Google Shape;370;p30"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372" name="Google Shape;372;p30"/>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SCHEMA MAPPING</a:t>
            </a:r>
            <a:endParaRPr/>
          </a:p>
        </p:txBody>
      </p:sp>
      <p:sp>
        <p:nvSpPr>
          <p:cNvPr id="373" name="Google Shape;373;p30"/>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LINQ Transformations</a:t>
            </a:r>
            <a:endParaRPr/>
          </a:p>
        </p:txBody>
      </p:sp>
      <p:sp>
        <p:nvSpPr>
          <p:cNvPr id="374" name="Google Shape;374;p30"/>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75" name="Google Shape;375;p30"/>
          <p:cNvSpPr txBox="1"/>
          <p:nvPr/>
        </p:nvSpPr>
        <p:spPr>
          <a:xfrm>
            <a:off x="762000" y="6448425"/>
            <a:ext cx="14097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DYNAMIC PROJECTION</a:t>
            </a:r>
            <a:endParaRPr/>
          </a:p>
        </p:txBody>
      </p:sp>
      <p:sp>
        <p:nvSpPr>
          <p:cNvPr id="376" name="Google Shape;376;p30"/>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18 OF 42</a:t>
            </a:r>
            <a:endParaRPr/>
          </a:p>
        </p:txBody>
      </p:sp>
      <p:sp>
        <p:nvSpPr>
          <p:cNvPr id="377" name="Google Shape;377;p30"/>
          <p:cNvSpPr txBox="1"/>
          <p:nvPr/>
        </p:nvSpPr>
        <p:spPr>
          <a:xfrm>
            <a:off x="762000" y="2724150"/>
            <a:ext cx="5143500" cy="664797"/>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350" b="0" i="0" u="none" strike="noStrike" cap="none">
                <a:solidFill>
                  <a:srgbClr val="334155"/>
                </a:solidFill>
                <a:latin typeface="Urbanist"/>
                <a:ea typeface="Urbanist"/>
                <a:cs typeface="Urbanist"/>
                <a:sym typeface="Urbanist"/>
              </a:rPr>
              <a:t>Instantly transform and restructure table schemas by extracting specific column arrays:</a:t>
            </a:r>
            <a:endParaRPr/>
          </a:p>
        </p:txBody>
      </p:sp>
      <p:sp>
        <p:nvSpPr>
          <p:cNvPr id="378" name="Google Shape;378;p30"/>
          <p:cNvSpPr txBox="1"/>
          <p:nvPr/>
        </p:nvSpPr>
        <p:spPr>
          <a:xfrm>
            <a:off x="6715125" y="2867025"/>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Data Normalization:</a:t>
            </a:r>
            <a:r>
              <a:rPr lang="en-US" sz="1350" b="0" i="0" u="none" strike="noStrike" cap="none">
                <a:solidFill>
                  <a:srgbClr val="334155"/>
                </a:solidFill>
                <a:latin typeface="Urbanist"/>
                <a:ea typeface="Urbanist"/>
                <a:cs typeface="Urbanist"/>
                <a:sym typeface="Urbanist"/>
              </a:rPr>
              <a:t> Trim strings and standardize casing instantly across thousands of records.</a:t>
            </a:r>
            <a:endParaRPr/>
          </a:p>
        </p:txBody>
      </p:sp>
      <p:sp>
        <p:nvSpPr>
          <p:cNvPr id="379" name="Google Shape;379;p30"/>
          <p:cNvSpPr txBox="1"/>
          <p:nvPr/>
        </p:nvSpPr>
        <p:spPr>
          <a:xfrm>
            <a:off x="6715125" y="3590925"/>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Instant Schema Mapping:</a:t>
            </a:r>
            <a:r>
              <a:rPr lang="en-US" sz="1350" b="0" i="0" u="none" strike="noStrike" cap="none">
                <a:solidFill>
                  <a:srgbClr val="334155"/>
                </a:solidFill>
                <a:latin typeface="Urbanist"/>
                <a:ea typeface="Urbanist"/>
                <a:cs typeface="Urbanist"/>
                <a:sym typeface="Urbanist"/>
              </a:rPr>
              <a:t> Projects dynamic columns from massive source files into lightweight target structures.</a:t>
            </a:r>
            <a:endParaRPr/>
          </a:p>
        </p:txBody>
      </p:sp>
      <p:pic>
        <p:nvPicPr>
          <p:cNvPr id="380" name="Google Shape;380;p30" descr="image.png"/>
          <p:cNvPicPr preferRelativeResize="0"/>
          <p:nvPr/>
        </p:nvPicPr>
        <p:blipFill rotWithShape="1">
          <a:blip r:embed="rId5">
            <a:alphaModFix/>
          </a:blip>
          <a:srcRect/>
          <a:stretch/>
        </p:blipFill>
        <p:spPr>
          <a:xfrm>
            <a:off x="6286500" y="2900362"/>
            <a:ext cx="238125" cy="219075"/>
          </a:xfrm>
          <a:prstGeom prst="rect">
            <a:avLst/>
          </a:prstGeom>
          <a:noFill/>
          <a:ln>
            <a:noFill/>
          </a:ln>
        </p:spPr>
      </p:pic>
      <p:pic>
        <p:nvPicPr>
          <p:cNvPr id="381" name="Google Shape;381;p30" descr="image.png"/>
          <p:cNvPicPr preferRelativeResize="0"/>
          <p:nvPr/>
        </p:nvPicPr>
        <p:blipFill rotWithShape="1">
          <a:blip r:embed="rId6">
            <a:alphaModFix/>
          </a:blip>
          <a:srcRect/>
          <a:stretch/>
        </p:blipFill>
        <p:spPr>
          <a:xfrm>
            <a:off x="6286500" y="3624262"/>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pic>
        <p:nvPicPr>
          <p:cNvPr id="2" name="Picture 1" descr="A computer screen with white text&#10;&#10;AI-generated content may be incorrect.">
            <a:extLst>
              <a:ext uri="{FF2B5EF4-FFF2-40B4-BE49-F238E27FC236}">
                <a16:creationId xmlns:a16="http://schemas.microsoft.com/office/drawing/2014/main" id="{95118B5D-BF8C-8A22-61B1-9A0407477846}"/>
              </a:ext>
            </a:extLst>
          </p:cNvPr>
          <p:cNvPicPr>
            <a:picLocks noChangeAspect="1"/>
          </p:cNvPicPr>
          <p:nvPr/>
        </p:nvPicPr>
        <p:blipFill>
          <a:blip r:embed="rId8"/>
          <a:srcRect t="16084" r="-141" b="-350"/>
          <a:stretch>
            <a:fillRect/>
          </a:stretch>
        </p:blipFill>
        <p:spPr>
          <a:xfrm>
            <a:off x="757917" y="3448279"/>
            <a:ext cx="5146226" cy="258049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85"/>
        <p:cNvGrpSpPr/>
        <p:nvPr/>
      </p:nvGrpSpPr>
      <p:grpSpPr>
        <a:xfrm>
          <a:off x="0" y="0"/>
          <a:ext cx="0" cy="0"/>
          <a:chOff x="0" y="0"/>
          <a:chExt cx="0" cy="0"/>
        </a:xfrm>
      </p:grpSpPr>
      <p:pic>
        <p:nvPicPr>
          <p:cNvPr id="386" name="Google Shape;386;p3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387" name="Google Shape;387;p31" descr="image.png"/>
          <p:cNvPicPr preferRelativeResize="0"/>
          <p:nvPr/>
        </p:nvPicPr>
        <p:blipFill rotWithShape="1">
          <a:blip r:embed="rId4">
            <a:alphaModFix/>
          </a:blip>
          <a:srcRect/>
          <a:stretch/>
        </p:blipFill>
        <p:spPr>
          <a:xfrm>
            <a:off x="762000" y="1567755"/>
            <a:ext cx="10668000" cy="4718744"/>
          </a:xfrm>
          <a:prstGeom prst="rect">
            <a:avLst/>
          </a:prstGeom>
          <a:noFill/>
          <a:ln>
            <a:noFill/>
          </a:ln>
        </p:spPr>
      </p:pic>
      <p:pic>
        <p:nvPicPr>
          <p:cNvPr id="388" name="Google Shape;388;p31" descr="image.png"/>
          <p:cNvPicPr preferRelativeResize="0"/>
          <p:nvPr/>
        </p:nvPicPr>
        <p:blipFill rotWithShape="1">
          <a:blip r:embed="rId5">
            <a:alphaModFix/>
          </a:blip>
          <a:srcRect l="1746" r="1747"/>
          <a:stretch/>
        </p:blipFill>
        <p:spPr>
          <a:xfrm>
            <a:off x="762000" y="6296025"/>
            <a:ext cx="10668000" cy="323850"/>
          </a:xfrm>
          <a:prstGeom prst="rect">
            <a:avLst/>
          </a:prstGeom>
          <a:noFill/>
          <a:ln>
            <a:noFill/>
          </a:ln>
        </p:spPr>
      </p:pic>
      <p:sp>
        <p:nvSpPr>
          <p:cNvPr id="389" name="Google Shape;389;p31"/>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BENCHMARKING</a:t>
            </a:r>
            <a:endParaRPr/>
          </a:p>
        </p:txBody>
      </p:sp>
      <p:sp>
        <p:nvSpPr>
          <p:cNvPr id="390" name="Google Shape;390;p31"/>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Performance Comparison</a:t>
            </a:r>
            <a:endParaRPr/>
          </a:p>
        </p:txBody>
      </p:sp>
      <p:sp>
        <p:nvSpPr>
          <p:cNvPr id="391" name="Google Shape;391;p31"/>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392" name="Google Shape;392;p31"/>
          <p:cNvSpPr txBox="1"/>
          <p:nvPr/>
        </p:nvSpPr>
        <p:spPr>
          <a:xfrm>
            <a:off x="762000" y="4803427"/>
            <a:ext cx="10668000" cy="3693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1" u="none" strike="noStrike" cap="none">
                <a:solidFill>
                  <a:srgbClr val="64748B"/>
                </a:solidFill>
                <a:latin typeface="Urbanist"/>
                <a:ea typeface="Urbanist"/>
                <a:cs typeface="Urbanist"/>
                <a:sym typeface="Urbanist"/>
              </a:rPr>
              <a:t>Benchmarked across 10,000 multi-column corporate records. High-frequency loops benefit significantly from switching to pre-compiled LINQ queries, saving valuable machine run-time.</a:t>
            </a:r>
            <a:endParaRPr/>
          </a:p>
        </p:txBody>
      </p:sp>
      <p:sp>
        <p:nvSpPr>
          <p:cNvPr id="393" name="Google Shape;393;p31"/>
          <p:cNvSpPr txBox="1"/>
          <p:nvPr/>
        </p:nvSpPr>
        <p:spPr>
          <a:xfrm>
            <a:off x="762000" y="6448425"/>
            <a:ext cx="15144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PERFORMANCE METRICS</a:t>
            </a:r>
            <a:endParaRPr/>
          </a:p>
        </p:txBody>
      </p:sp>
      <p:sp>
        <p:nvSpPr>
          <p:cNvPr id="394" name="Google Shape;394;p31"/>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19 OF 42</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98"/>
        <p:cNvGrpSpPr/>
        <p:nvPr/>
      </p:nvGrpSpPr>
      <p:grpSpPr>
        <a:xfrm>
          <a:off x="0" y="0"/>
          <a:ext cx="0" cy="0"/>
          <a:chOff x="0" y="0"/>
          <a:chExt cx="0" cy="0"/>
        </a:xfrm>
      </p:grpSpPr>
      <p:pic>
        <p:nvPicPr>
          <p:cNvPr id="399" name="Google Shape;399;p3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00" name="Google Shape;400;p32"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401" name="Google Shape;401;p32"/>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OPERATIONAL DEBUGGING</a:t>
            </a:r>
            <a:endParaRPr/>
          </a:p>
        </p:txBody>
      </p:sp>
      <p:sp>
        <p:nvSpPr>
          <p:cNvPr id="402" name="Google Shape;402;p32"/>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LINQ Troubleshooting</a:t>
            </a:r>
            <a:endParaRPr/>
          </a:p>
        </p:txBody>
      </p:sp>
      <p:sp>
        <p:nvSpPr>
          <p:cNvPr id="403" name="Google Shape;403;p32"/>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04" name="Google Shape;404;p32"/>
          <p:cNvSpPr txBox="1"/>
          <p:nvPr/>
        </p:nvSpPr>
        <p:spPr>
          <a:xfrm>
            <a:off x="762000" y="6448425"/>
            <a:ext cx="10953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DEVELOPER GUIDE</a:t>
            </a:r>
            <a:endParaRPr/>
          </a:p>
        </p:txBody>
      </p:sp>
      <p:sp>
        <p:nvSpPr>
          <p:cNvPr id="405" name="Google Shape;405;p32"/>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20 OF 42</a:t>
            </a:r>
            <a:endParaRPr/>
          </a:p>
        </p:txBody>
      </p:sp>
      <p:sp>
        <p:nvSpPr>
          <p:cNvPr id="406" name="Google Shape;406;p32"/>
          <p:cNvSpPr txBox="1"/>
          <p:nvPr/>
        </p:nvSpPr>
        <p:spPr>
          <a:xfrm>
            <a:off x="1524000" y="2841277"/>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Source Row Exceptions:</a:t>
            </a:r>
            <a:r>
              <a:rPr lang="en-US" sz="1350" b="0" i="0" u="none" strike="noStrike" cap="none">
                <a:solidFill>
                  <a:srgbClr val="334155"/>
                </a:solidFill>
                <a:latin typeface="Urbanist"/>
                <a:ea typeface="Urbanist"/>
                <a:cs typeface="Urbanist"/>
                <a:sym typeface="Urbanist"/>
              </a:rPr>
              <a:t> The CopyToDataTable() method throws a fatal runtime exception if the source collection contains zero items. Handle this cleanly by verifying Rows.Count &gt; 0 first.</a:t>
            </a:r>
            <a:endParaRPr/>
          </a:p>
        </p:txBody>
      </p:sp>
      <p:sp>
        <p:nvSpPr>
          <p:cNvPr id="407" name="Google Shape;407;p32"/>
          <p:cNvSpPr txBox="1"/>
          <p:nvPr/>
        </p:nvSpPr>
        <p:spPr>
          <a:xfrm>
            <a:off x="1524000" y="3565177"/>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Strict Cast Protections:</a:t>
            </a:r>
            <a:r>
              <a:rPr lang="en-US" sz="1350" b="0" i="0" u="none" strike="noStrike" cap="none">
                <a:solidFill>
                  <a:srgbClr val="334155"/>
                </a:solidFill>
                <a:latin typeface="Urbanist"/>
                <a:ea typeface="Urbanist"/>
                <a:cs typeface="Urbanist"/>
                <a:sym typeface="Urbanist"/>
              </a:rPr>
              <a:t> Convert potential null values using null-coalescing operators (e.g., If(r("Field"), "")) before applying string operations.</a:t>
            </a:r>
            <a:endParaRPr/>
          </a:p>
        </p:txBody>
      </p:sp>
      <p:sp>
        <p:nvSpPr>
          <p:cNvPr id="408" name="Google Shape;408;p32"/>
          <p:cNvSpPr txBox="1"/>
          <p:nvPr/>
        </p:nvSpPr>
        <p:spPr>
          <a:xfrm>
            <a:off x="1524000" y="4289077"/>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Immediate Window Testing:</a:t>
            </a:r>
            <a:r>
              <a:rPr lang="en-US" sz="1350" b="0" i="0" u="none" strike="noStrike" cap="none">
                <a:solidFill>
                  <a:srgbClr val="334155"/>
                </a:solidFill>
                <a:latin typeface="Urbanist"/>
                <a:ea typeface="Urbanist"/>
                <a:cs typeface="Urbanist"/>
                <a:sym typeface="Urbanist"/>
              </a:rPr>
              <a:t> Test complex, multi-line LINQ statements within the UiPath Studio Immediate window before writing them into production scripts.</a:t>
            </a:r>
            <a:endParaRPr/>
          </a:p>
        </p:txBody>
      </p:sp>
      <p:pic>
        <p:nvPicPr>
          <p:cNvPr id="409" name="Google Shape;409;p32" descr="image.png"/>
          <p:cNvPicPr preferRelativeResize="0"/>
          <p:nvPr/>
        </p:nvPicPr>
        <p:blipFill rotWithShape="1">
          <a:blip r:embed="rId5">
            <a:alphaModFix/>
          </a:blip>
          <a:srcRect/>
          <a:stretch/>
        </p:blipFill>
        <p:spPr>
          <a:xfrm>
            <a:off x="1095375" y="2874615"/>
            <a:ext cx="209550" cy="219075"/>
          </a:xfrm>
          <a:prstGeom prst="rect">
            <a:avLst/>
          </a:prstGeom>
          <a:noFill/>
          <a:ln>
            <a:noFill/>
          </a:ln>
        </p:spPr>
      </p:pic>
      <p:pic>
        <p:nvPicPr>
          <p:cNvPr id="410" name="Google Shape;410;p32" descr="image.png"/>
          <p:cNvPicPr preferRelativeResize="0"/>
          <p:nvPr/>
        </p:nvPicPr>
        <p:blipFill rotWithShape="1">
          <a:blip r:embed="rId6">
            <a:alphaModFix/>
          </a:blip>
          <a:srcRect/>
          <a:stretch/>
        </p:blipFill>
        <p:spPr>
          <a:xfrm>
            <a:off x="1095375" y="3598515"/>
            <a:ext cx="266700" cy="219075"/>
          </a:xfrm>
          <a:prstGeom prst="rect">
            <a:avLst/>
          </a:prstGeom>
          <a:noFill/>
          <a:ln>
            <a:noFill/>
          </a:ln>
        </p:spPr>
      </p:pic>
      <p:pic>
        <p:nvPicPr>
          <p:cNvPr id="411" name="Google Shape;411;p32" descr="image.png"/>
          <p:cNvPicPr preferRelativeResize="0"/>
          <p:nvPr/>
        </p:nvPicPr>
        <p:blipFill rotWithShape="1">
          <a:blip r:embed="rId7">
            <a:alphaModFix/>
          </a:blip>
          <a:srcRect/>
          <a:stretch/>
        </p:blipFill>
        <p:spPr>
          <a:xfrm>
            <a:off x="1095375" y="4322415"/>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8"/>
          <a:stretch>
            <a:fillRect/>
          </a:stretch>
        </p:blipFill>
        <p:spPr>
          <a:xfrm>
            <a:off x="10242000" y="280000"/>
            <a:ext cx="1700000" cy="716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15"/>
        <p:cNvGrpSpPr/>
        <p:nvPr/>
      </p:nvGrpSpPr>
      <p:grpSpPr>
        <a:xfrm>
          <a:off x="0" y="0"/>
          <a:ext cx="0" cy="0"/>
          <a:chOff x="0" y="0"/>
          <a:chExt cx="0" cy="0"/>
        </a:xfrm>
      </p:grpSpPr>
      <p:pic>
        <p:nvPicPr>
          <p:cNvPr id="417" name="Google Shape;417;p33" descr="image.png"/>
          <p:cNvPicPr preferRelativeResize="0"/>
          <p:nvPr/>
        </p:nvPicPr>
        <p:blipFill rotWithShape="1">
          <a:blip r:embed="rId3">
            <a:alphaModFix/>
          </a:blip>
          <a:srcRect l="1745" r="1748"/>
          <a:stretch/>
        </p:blipFill>
        <p:spPr>
          <a:xfrm>
            <a:off x="762000" y="6296025"/>
            <a:ext cx="10668000" cy="323850"/>
          </a:xfrm>
          <a:prstGeom prst="rect">
            <a:avLst/>
          </a:prstGeom>
          <a:noFill/>
          <a:ln>
            <a:noFill/>
          </a:ln>
        </p:spPr>
      </p:pic>
      <p:sp>
        <p:nvSpPr>
          <p:cNvPr id="418" name="Google Shape;418;p33"/>
          <p:cNvSpPr txBox="1"/>
          <p:nvPr/>
        </p:nvSpPr>
        <p:spPr>
          <a:xfrm>
            <a:off x="5653087" y="2524125"/>
            <a:ext cx="885825"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SECTION II</a:t>
            </a:r>
            <a:endParaRPr/>
          </a:p>
        </p:txBody>
      </p:sp>
      <p:sp>
        <p:nvSpPr>
          <p:cNvPr id="419" name="Google Shape;419;p33"/>
          <p:cNvSpPr txBox="1"/>
          <p:nvPr/>
        </p:nvSpPr>
        <p:spPr>
          <a:xfrm>
            <a:off x="1050369" y="2800350"/>
            <a:ext cx="10091261" cy="6001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1F3864"/>
                </a:solidFill>
                <a:latin typeface="Urbanist"/>
                <a:ea typeface="Urbanist"/>
                <a:cs typeface="Urbanist"/>
                <a:sym typeface="Urbanist"/>
              </a:rPr>
              <a:t>Excel Automation: Modern Integration</a:t>
            </a:r>
            <a:endParaRPr/>
          </a:p>
        </p:txBody>
      </p:sp>
      <p:sp>
        <p:nvSpPr>
          <p:cNvPr id="420" name="Google Shape;420;p33"/>
          <p:cNvSpPr txBox="1"/>
          <p:nvPr/>
        </p:nvSpPr>
        <p:spPr>
          <a:xfrm>
            <a:off x="2043112" y="4152900"/>
            <a:ext cx="8105775"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475569"/>
                </a:solidFill>
                <a:latin typeface="Urbanist"/>
                <a:ea typeface="Urbanist"/>
                <a:cs typeface="Urbanist"/>
                <a:sym typeface="Urbanist"/>
              </a:rPr>
              <a:t>Adopting Modern Unified Targets, background execution models, Workbook integrations, and advanced formatting controls.</a:t>
            </a:r>
            <a:endParaRPr/>
          </a:p>
        </p:txBody>
      </p:sp>
      <p:sp>
        <p:nvSpPr>
          <p:cNvPr id="421" name="Google Shape;421;p33"/>
          <p:cNvSpPr txBox="1"/>
          <p:nvPr/>
        </p:nvSpPr>
        <p:spPr>
          <a:xfrm>
            <a:off x="762000" y="6448425"/>
            <a:ext cx="22860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MODERN ENTERPRISE ARCHITECTURE</a:t>
            </a:r>
            <a:endParaRPr/>
          </a:p>
        </p:txBody>
      </p:sp>
      <p:sp>
        <p:nvSpPr>
          <p:cNvPr id="422" name="Google Shape;422;p33"/>
          <p:cNvSpPr txBox="1"/>
          <p:nvPr/>
        </p:nvSpPr>
        <p:spPr>
          <a:xfrm>
            <a:off x="10534650" y="6448425"/>
            <a:ext cx="8953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SLIDE 21 OF 42</a:t>
            </a:r>
            <a:endParaRPr/>
          </a:p>
        </p:txBody>
      </p:sp>
      <p:pic>
        <p:nvPicPr>
          <p:cNvPr id="9001" name="RAYA Logo"/>
          <p:cNvPicPr>
            <a:picLocks noChangeAspect="1"/>
          </p:cNvPicPr>
          <p:nvPr/>
        </p:nvPicPr>
        <p:blipFill>
          <a:blip r:embed="rId4"/>
          <a:stretch>
            <a:fillRect/>
          </a:stretch>
        </p:blipFill>
        <p:spPr>
          <a:xfrm>
            <a:off x="10242000" y="280000"/>
            <a:ext cx="1700000" cy="716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26"/>
        <p:cNvGrpSpPr/>
        <p:nvPr/>
      </p:nvGrpSpPr>
      <p:grpSpPr>
        <a:xfrm>
          <a:off x="0" y="0"/>
          <a:ext cx="0" cy="0"/>
          <a:chOff x="0" y="0"/>
          <a:chExt cx="0" cy="0"/>
        </a:xfrm>
      </p:grpSpPr>
      <p:pic>
        <p:nvPicPr>
          <p:cNvPr id="427" name="Google Shape;427;p3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28" name="Google Shape;428;p34"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429" name="Google Shape;429;p34" descr="image.png"/>
          <p:cNvPicPr preferRelativeResize="0"/>
          <p:nvPr/>
        </p:nvPicPr>
        <p:blipFill rotWithShape="1">
          <a:blip r:embed="rId5">
            <a:alphaModFix/>
          </a:blip>
          <a:srcRect/>
          <a:stretch/>
        </p:blipFill>
        <p:spPr>
          <a:xfrm>
            <a:off x="762000" y="2907952"/>
            <a:ext cx="5143500" cy="2038350"/>
          </a:xfrm>
          <a:prstGeom prst="rect">
            <a:avLst/>
          </a:prstGeom>
          <a:noFill/>
          <a:ln>
            <a:noFill/>
          </a:ln>
        </p:spPr>
      </p:pic>
      <p:pic>
        <p:nvPicPr>
          <p:cNvPr id="430" name="Google Shape;430;p34" descr="image.png"/>
          <p:cNvPicPr preferRelativeResize="0"/>
          <p:nvPr/>
        </p:nvPicPr>
        <p:blipFill rotWithShape="1">
          <a:blip r:embed="rId6">
            <a:alphaModFix/>
          </a:blip>
          <a:srcRect/>
          <a:stretch/>
        </p:blipFill>
        <p:spPr>
          <a:xfrm>
            <a:off x="6286500" y="2907952"/>
            <a:ext cx="5143500" cy="2038350"/>
          </a:xfrm>
          <a:prstGeom prst="rect">
            <a:avLst/>
          </a:prstGeom>
          <a:noFill/>
          <a:ln>
            <a:noFill/>
          </a:ln>
        </p:spPr>
      </p:pic>
      <p:sp>
        <p:nvSpPr>
          <p:cNvPr id="431" name="Google Shape;431;p34"/>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PARADIGM SHIFT</a:t>
            </a:r>
            <a:endParaRPr/>
          </a:p>
        </p:txBody>
      </p:sp>
      <p:sp>
        <p:nvSpPr>
          <p:cNvPr id="432" name="Google Shape;432;p34"/>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Modern vs Classic Excel</a:t>
            </a:r>
            <a:endParaRPr/>
          </a:p>
        </p:txBody>
      </p:sp>
      <p:sp>
        <p:nvSpPr>
          <p:cNvPr id="433" name="Google Shape;433;p34"/>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34" name="Google Shape;434;p34"/>
          <p:cNvSpPr txBox="1"/>
          <p:nvPr/>
        </p:nvSpPr>
        <p:spPr>
          <a:xfrm>
            <a:off x="762000" y="6448425"/>
            <a:ext cx="21621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UIPATH ARCHITECTURE EVOLUTION</a:t>
            </a:r>
            <a:endParaRPr/>
          </a:p>
        </p:txBody>
      </p:sp>
      <p:sp>
        <p:nvSpPr>
          <p:cNvPr id="435" name="Google Shape;435;p34"/>
          <p:cNvSpPr txBox="1"/>
          <p:nvPr/>
        </p:nvSpPr>
        <p:spPr>
          <a:xfrm>
            <a:off x="10506075" y="6448425"/>
            <a:ext cx="923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22 OF 42</a:t>
            </a:r>
            <a:endParaRPr/>
          </a:p>
        </p:txBody>
      </p:sp>
      <p:sp>
        <p:nvSpPr>
          <p:cNvPr id="436" name="Google Shape;436;p34"/>
          <p:cNvSpPr txBox="1"/>
          <p:nvPr/>
        </p:nvSpPr>
        <p:spPr>
          <a:xfrm>
            <a:off x="10572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Classic Design Model</a:t>
            </a:r>
            <a:endParaRPr/>
          </a:p>
        </p:txBody>
      </p:sp>
      <p:sp>
        <p:nvSpPr>
          <p:cNvPr id="437" name="Google Shape;437;p34"/>
          <p:cNvSpPr txBox="1"/>
          <p:nvPr/>
        </p:nvSpPr>
        <p:spPr>
          <a:xfrm>
            <a:off x="10572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Classic automation relied heavily on delicate application selectors, UI interactions, and virtual keyboard events. This setup was highly susceptible to unexpected UI changes, active user mouse moves, and screen scale issues.</a:t>
            </a:r>
            <a:endParaRPr/>
          </a:p>
        </p:txBody>
      </p:sp>
      <p:sp>
        <p:nvSpPr>
          <p:cNvPr id="438" name="Google Shape;438;p34"/>
          <p:cNvSpPr txBox="1"/>
          <p:nvPr/>
        </p:nvSpPr>
        <p:spPr>
          <a:xfrm>
            <a:off x="65817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Modern Unified Paradigm</a:t>
            </a:r>
            <a:endParaRPr/>
          </a:p>
        </p:txBody>
      </p:sp>
      <p:sp>
        <p:nvSpPr>
          <p:cNvPr id="439" name="Google Shape;439;p34"/>
          <p:cNvSpPr txBox="1"/>
          <p:nvPr/>
        </p:nvSpPr>
        <p:spPr>
          <a:xfrm>
            <a:off x="6581775" y="3679477"/>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Modern card setups leverage direct Excel API integration. Unified Targets utilize a multi-layered identification strategy, blending raw application hooks with modern selectors for exceptional stability.</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43"/>
        <p:cNvGrpSpPr/>
        <p:nvPr/>
      </p:nvGrpSpPr>
      <p:grpSpPr>
        <a:xfrm>
          <a:off x="0" y="0"/>
          <a:ext cx="0" cy="0"/>
          <a:chOff x="0" y="0"/>
          <a:chExt cx="0" cy="0"/>
        </a:xfrm>
      </p:grpSpPr>
      <p:pic>
        <p:nvPicPr>
          <p:cNvPr id="444" name="Google Shape;444;p3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45" name="Google Shape;445;p35"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446" name="Google Shape;446;p35"/>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INTEGRATION MODEL</a:t>
            </a:r>
            <a:endParaRPr/>
          </a:p>
        </p:txBody>
      </p:sp>
      <p:sp>
        <p:nvSpPr>
          <p:cNvPr id="447" name="Google Shape;447;p35"/>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Unified Targets &amp; Scopes</a:t>
            </a:r>
            <a:endParaRPr/>
          </a:p>
        </p:txBody>
      </p:sp>
      <p:sp>
        <p:nvSpPr>
          <p:cNvPr id="448" name="Google Shape;448;p35"/>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49" name="Google Shape;449;p35"/>
          <p:cNvSpPr txBox="1"/>
          <p:nvPr/>
        </p:nvSpPr>
        <p:spPr>
          <a:xfrm>
            <a:off x="762000" y="6448425"/>
            <a:ext cx="19812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TARGET FRAMEWORK STABILITY</a:t>
            </a:r>
            <a:endParaRPr/>
          </a:p>
        </p:txBody>
      </p:sp>
      <p:sp>
        <p:nvSpPr>
          <p:cNvPr id="450" name="Google Shape;450;p35"/>
          <p:cNvSpPr txBox="1"/>
          <p:nvPr/>
        </p:nvSpPr>
        <p:spPr>
          <a:xfrm>
            <a:off x="10506075" y="6448425"/>
            <a:ext cx="923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23 OF 42</a:t>
            </a:r>
            <a:endParaRPr/>
          </a:p>
        </p:txBody>
      </p:sp>
      <p:sp>
        <p:nvSpPr>
          <p:cNvPr id="451" name="Google Shape;451;p35"/>
          <p:cNvSpPr txBox="1"/>
          <p:nvPr/>
        </p:nvSpPr>
        <p:spPr>
          <a:xfrm>
            <a:off x="1524000" y="29698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Unified Target Strategy:</a:t>
            </a:r>
            <a:r>
              <a:rPr lang="en-US" sz="1350" b="0" i="0" u="none" strike="noStrike" cap="none">
                <a:solidFill>
                  <a:srgbClr val="334155"/>
                </a:solidFill>
                <a:latin typeface="Urbanist"/>
                <a:ea typeface="Urbanist"/>
                <a:cs typeface="Urbanist"/>
                <a:sym typeface="Urbanist"/>
              </a:rPr>
              <a:t> Fuses fuzzy selectors, structural UI path coordinates, and image anchors into a unified target definition.</a:t>
            </a:r>
            <a:endParaRPr/>
          </a:p>
        </p:txBody>
      </p:sp>
      <p:sp>
        <p:nvSpPr>
          <p:cNvPr id="452" name="Google Shape;452;p35"/>
          <p:cNvSpPr txBox="1"/>
          <p:nvPr/>
        </p:nvSpPr>
        <p:spPr>
          <a:xfrm>
            <a:off x="1524000" y="36937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Excel Process Scope:</a:t>
            </a:r>
            <a:r>
              <a:rPr lang="en-US" sz="1350" b="0" i="0" u="none" strike="noStrike" cap="none">
                <a:solidFill>
                  <a:srgbClr val="334155"/>
                </a:solidFill>
                <a:latin typeface="Urbanist"/>
                <a:ea typeface="Urbanist"/>
                <a:cs typeface="Urbanist"/>
                <a:sym typeface="Urbanist"/>
              </a:rPr>
              <a:t> Orchestrates container processes natively. Manages hidden background runs, access privileges, and error recovery policies.</a:t>
            </a:r>
            <a:endParaRPr/>
          </a:p>
        </p:txBody>
      </p:sp>
      <p:sp>
        <p:nvSpPr>
          <p:cNvPr id="453" name="Google Shape;453;p35"/>
          <p:cNvSpPr txBox="1"/>
          <p:nvPr/>
        </p:nvSpPr>
        <p:spPr>
          <a:xfrm>
            <a:off x="1524000" y="44176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Self-Healing Selectors:</a:t>
            </a:r>
            <a:r>
              <a:rPr lang="en-US" sz="1350" b="0" i="0" u="none" strike="noStrike" cap="none">
                <a:solidFill>
                  <a:srgbClr val="334155"/>
                </a:solidFill>
                <a:latin typeface="Urbanist"/>
                <a:ea typeface="Urbanist"/>
                <a:cs typeface="Urbanist"/>
                <a:sym typeface="Urbanist"/>
              </a:rPr>
              <a:t> If an exact UI match fails, the target heals itself on-the-fly using backup visual anchors, preventing fatal workflow crashes.</a:t>
            </a:r>
            <a:endParaRPr/>
          </a:p>
        </p:txBody>
      </p:sp>
      <p:pic>
        <p:nvPicPr>
          <p:cNvPr id="454" name="Google Shape;454;p35" descr="image.png"/>
          <p:cNvPicPr preferRelativeResize="0"/>
          <p:nvPr/>
        </p:nvPicPr>
        <p:blipFill rotWithShape="1">
          <a:blip r:embed="rId5">
            <a:alphaModFix/>
          </a:blip>
          <a:srcRect/>
          <a:stretch/>
        </p:blipFill>
        <p:spPr>
          <a:xfrm>
            <a:off x="1095375" y="3003202"/>
            <a:ext cx="209550" cy="219075"/>
          </a:xfrm>
          <a:prstGeom prst="rect">
            <a:avLst/>
          </a:prstGeom>
          <a:noFill/>
          <a:ln>
            <a:noFill/>
          </a:ln>
        </p:spPr>
      </p:pic>
      <p:pic>
        <p:nvPicPr>
          <p:cNvPr id="455" name="Google Shape;455;p35" descr="image.png"/>
          <p:cNvPicPr preferRelativeResize="0"/>
          <p:nvPr/>
        </p:nvPicPr>
        <p:blipFill rotWithShape="1">
          <a:blip r:embed="rId6">
            <a:alphaModFix/>
          </a:blip>
          <a:srcRect/>
          <a:stretch/>
        </p:blipFill>
        <p:spPr>
          <a:xfrm>
            <a:off x="1095375" y="3727102"/>
            <a:ext cx="238125" cy="219075"/>
          </a:xfrm>
          <a:prstGeom prst="rect">
            <a:avLst/>
          </a:prstGeom>
          <a:noFill/>
          <a:ln>
            <a:noFill/>
          </a:ln>
        </p:spPr>
      </p:pic>
      <p:pic>
        <p:nvPicPr>
          <p:cNvPr id="456" name="Google Shape;456;p35" descr="image.png"/>
          <p:cNvPicPr preferRelativeResize="0"/>
          <p:nvPr/>
        </p:nvPicPr>
        <p:blipFill rotWithShape="1">
          <a:blip r:embed="rId7">
            <a:alphaModFix/>
          </a:blip>
          <a:srcRect/>
          <a:stretch/>
        </p:blipFill>
        <p:spPr>
          <a:xfrm>
            <a:off x="1095375" y="4451002"/>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8"/>
          <a:stretch>
            <a:fillRect/>
          </a:stretch>
        </p:blipFill>
        <p:spPr>
          <a:xfrm>
            <a:off x="10242000" y="280000"/>
            <a:ext cx="1700000" cy="716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60"/>
        <p:cNvGrpSpPr/>
        <p:nvPr/>
      </p:nvGrpSpPr>
      <p:grpSpPr>
        <a:xfrm>
          <a:off x="0" y="0"/>
          <a:ext cx="0" cy="0"/>
          <a:chOff x="0" y="0"/>
          <a:chExt cx="0" cy="0"/>
        </a:xfrm>
      </p:grpSpPr>
      <p:pic>
        <p:nvPicPr>
          <p:cNvPr id="461" name="Google Shape;461;p3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62" name="Google Shape;462;p36"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463" name="Google Shape;463;p36" descr="image.png"/>
          <p:cNvPicPr preferRelativeResize="0"/>
          <p:nvPr/>
        </p:nvPicPr>
        <p:blipFill rotWithShape="1">
          <a:blip r:embed="rId5">
            <a:alphaModFix/>
          </a:blip>
          <a:srcRect/>
          <a:stretch/>
        </p:blipFill>
        <p:spPr>
          <a:xfrm>
            <a:off x="762000" y="2388840"/>
            <a:ext cx="10668000" cy="3076575"/>
          </a:xfrm>
          <a:prstGeom prst="rect">
            <a:avLst/>
          </a:prstGeom>
          <a:noFill/>
          <a:ln>
            <a:noFill/>
          </a:ln>
        </p:spPr>
      </p:pic>
      <p:sp>
        <p:nvSpPr>
          <p:cNvPr id="464" name="Google Shape;464;p36"/>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INTEGRATION MATRIX</a:t>
            </a:r>
            <a:endParaRPr/>
          </a:p>
        </p:txBody>
      </p:sp>
      <p:sp>
        <p:nvSpPr>
          <p:cNvPr id="465" name="Google Shape;465;p36"/>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Workbook vs App Integration</a:t>
            </a:r>
            <a:endParaRPr/>
          </a:p>
        </p:txBody>
      </p:sp>
      <p:sp>
        <p:nvSpPr>
          <p:cNvPr id="466" name="Google Shape;466;p36"/>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67" name="Google Shape;467;p36"/>
          <p:cNvSpPr txBox="1"/>
          <p:nvPr/>
        </p:nvSpPr>
        <p:spPr>
          <a:xfrm>
            <a:off x="762000" y="6448425"/>
            <a:ext cx="13620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SELECTION BLUEPRINT</a:t>
            </a:r>
            <a:endParaRPr/>
          </a:p>
        </p:txBody>
      </p:sp>
      <p:sp>
        <p:nvSpPr>
          <p:cNvPr id="468" name="Google Shape;468;p36"/>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24 OF 42</a:t>
            </a:r>
            <a:endParaRPr/>
          </a:p>
        </p:txBody>
      </p:sp>
      <p:graphicFrame>
        <p:nvGraphicFramePr>
          <p:cNvPr id="469" name="Google Shape;469;p36"/>
          <p:cNvGraphicFramePr/>
          <p:nvPr>
            <p:extLst>
              <p:ext uri="{D42A27DB-BD31-4B8C-83A1-F6EECF244321}">
                <p14:modId xmlns:p14="http://schemas.microsoft.com/office/powerpoint/2010/main" val="1947404390"/>
              </p:ext>
            </p:extLst>
          </p:nvPr>
        </p:nvGraphicFramePr>
        <p:xfrm>
          <a:off x="771525" y="2398365"/>
          <a:ext cx="10648950" cy="3057500"/>
        </p:xfrm>
        <a:graphic>
          <a:graphicData uri="http://schemas.openxmlformats.org/drawingml/2006/table">
            <a:tbl>
              <a:tblPr firstRow="1" bandRow="1">
                <a:noFill/>
                <a:tableStyleId>{E1852C3B-A719-4818-B90F-14940A95C7CC}</a:tableStyleId>
              </a:tblPr>
              <a:tblGrid>
                <a:gridCol w="1917200">
                  <a:extLst>
                    <a:ext uri="{9D8B030D-6E8A-4147-A177-3AD203B41FA5}">
                      <a16:colId xmlns:a16="http://schemas.microsoft.com/office/drawing/2014/main" val="20000"/>
                    </a:ext>
                  </a:extLst>
                </a:gridCol>
                <a:gridCol w="3979375">
                  <a:extLst>
                    <a:ext uri="{9D8B030D-6E8A-4147-A177-3AD203B41FA5}">
                      <a16:colId xmlns:a16="http://schemas.microsoft.com/office/drawing/2014/main" val="20001"/>
                    </a:ext>
                  </a:extLst>
                </a:gridCol>
                <a:gridCol w="4752375">
                  <a:extLst>
                    <a:ext uri="{9D8B030D-6E8A-4147-A177-3AD203B41FA5}">
                      <a16:colId xmlns:a16="http://schemas.microsoft.com/office/drawing/2014/main" val="20002"/>
                    </a:ext>
                  </a:extLst>
                </a:gridCol>
              </a:tblGrid>
              <a:tr h="611500">
                <a:tc>
                  <a:txBody>
                    <a:bodyPr/>
                    <a:lstStyle/>
                    <a:p>
                      <a:pPr marL="0" marR="0" lvl="0" indent="0" algn="l" rtl="0">
                        <a:spcBef>
                          <a:spcPts val="0"/>
                        </a:spcBef>
                        <a:spcAft>
                          <a:spcPts val="0"/>
                        </a:spcAft>
                        <a:buNone/>
                      </a:pPr>
                      <a:r>
                        <a:rPr lang="en-US" sz="1200" b="0" i="0" u="none" strike="noStrike" cap="none">
                          <a:solidFill>
                            <a:srgbClr val="1F3864"/>
                          </a:solidFill>
                          <a:latin typeface="Urbanist SemiBold"/>
                          <a:ea typeface="Urbanist SemiBold"/>
                          <a:cs typeface="Urbanist SemiBold"/>
                          <a:sym typeface="Urbanist SemiBold"/>
                        </a:rPr>
                        <a:t>Metric Dimension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200" b="0" i="0" u="none" strike="noStrike" cap="none">
                          <a:solidFill>
                            <a:srgbClr val="1F3864"/>
                          </a:solidFill>
                          <a:latin typeface="Urbanist SemiBold"/>
                          <a:ea typeface="Urbanist SemiBold"/>
                          <a:cs typeface="Urbanist SemiBold"/>
                          <a:sym typeface="Urbanist SemiBold"/>
                        </a:rPr>
                        <a:t>Workbook Activities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tc>
                  <a:txBody>
                    <a:bodyPr/>
                    <a:lstStyle/>
                    <a:p>
                      <a:pPr marL="0" marR="0" lvl="0" indent="0" algn="l" rtl="0">
                        <a:spcBef>
                          <a:spcPts val="0"/>
                        </a:spcBef>
                        <a:spcAft>
                          <a:spcPts val="0"/>
                        </a:spcAft>
                        <a:buNone/>
                      </a:pPr>
                      <a:r>
                        <a:rPr lang="en-US" sz="1200" b="0" i="0" u="none" strike="noStrike" cap="none">
                          <a:solidFill>
                            <a:srgbClr val="1F3864"/>
                          </a:solidFill>
                          <a:latin typeface="Urbanist SemiBold"/>
                          <a:ea typeface="Urbanist SemiBold"/>
                          <a:cs typeface="Urbanist SemiBold"/>
                          <a:sym typeface="Urbanist SemiBold"/>
                        </a:rPr>
                        <a:t>Excel Modern Integration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1F5F9"/>
                    </a:solidFill>
                  </a:tcPr>
                </a:tc>
                <a:extLst>
                  <a:ext uri="{0D108BD9-81ED-4DB2-BD59-A6C34878D82A}">
                    <a16:rowId xmlns:a16="http://schemas.microsoft.com/office/drawing/2014/main" val="10000"/>
                  </a:ext>
                </a:extLst>
              </a:tr>
              <a:tr h="611500">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Local Installation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None required. Run-time handles parsing natively.</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Requires Microsoft Excel installed locally on the worker machine.</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611500">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Execution Type</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Runs completely in the background via direct system I/O.</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Fires real processes (can run visibly or in hidden scopes).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611500">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Advanced Capabilities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Basic read/write operations on spreadsheets.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Supports pivot tables, charts, complex formulas, and macro execution.</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611500">
                <a:tc>
                  <a:txBody>
                    <a:bodyPr/>
                    <a:lstStyle/>
                    <a:p>
                      <a:pPr marL="0" marR="0" lvl="0" indent="0" algn="l" rtl="0">
                        <a:spcBef>
                          <a:spcPts val="0"/>
                        </a:spcBef>
                        <a:spcAft>
                          <a:spcPts val="0"/>
                        </a:spcAft>
                        <a:buNone/>
                      </a:pPr>
                      <a:r>
                        <a:rPr lang="en-US" sz="1200" b="1" i="0" u="none" strike="noStrike" cap="none">
                          <a:solidFill>
                            <a:srgbClr val="475569"/>
                          </a:solidFill>
                          <a:latin typeface="Urbanist"/>
                          <a:ea typeface="Urbanist"/>
                          <a:cs typeface="Urbanist"/>
                          <a:sym typeface="Urbanist"/>
                        </a:rPr>
                        <a:t>Throughput Speed</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Extremely fast for basic, high-volume processing tasks.</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None/>
                      </a:pPr>
                      <a:r>
                        <a:rPr lang="en-US" sz="1200" b="0" i="0" u="none" strike="noStrike" cap="none">
                          <a:solidFill>
                            <a:srgbClr val="475569"/>
                          </a:solidFill>
                          <a:latin typeface="Urbanist"/>
                          <a:ea typeface="Urbanist"/>
                          <a:cs typeface="Urbanist"/>
                          <a:sym typeface="Urbanist"/>
                        </a:rPr>
                        <a:t>Moderately slower due to the application launch overhead.</a:t>
                      </a:r>
                      <a:endParaRPr lang="en-US"/>
                    </a:p>
                  </a:txBody>
                  <a:tcPr marL="63500" marR="63500" marT="25400" marB="25400"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bl>
          </a:graphicData>
        </a:graphic>
      </p:graphicFrame>
      <p:sp>
        <p:nvSpPr>
          <p:cNvPr id="470" name="Google Shape;470;p36"/>
          <p:cNvSpPr/>
          <p:nvPr/>
        </p:nvSpPr>
        <p:spPr>
          <a:xfrm>
            <a:off x="771525" y="3422302"/>
            <a:ext cx="191720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1" name="Google Shape;471;p36"/>
          <p:cNvSpPr/>
          <p:nvPr/>
        </p:nvSpPr>
        <p:spPr>
          <a:xfrm>
            <a:off x="2688728" y="3422302"/>
            <a:ext cx="3979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2" name="Google Shape;472;p36"/>
          <p:cNvSpPr/>
          <p:nvPr/>
        </p:nvSpPr>
        <p:spPr>
          <a:xfrm>
            <a:off x="6668095" y="3422302"/>
            <a:ext cx="47523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3" name="Google Shape;473;p36"/>
          <p:cNvSpPr/>
          <p:nvPr/>
        </p:nvSpPr>
        <p:spPr>
          <a:xfrm>
            <a:off x="771525" y="4098577"/>
            <a:ext cx="191720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4" name="Google Shape;474;p36"/>
          <p:cNvSpPr/>
          <p:nvPr/>
        </p:nvSpPr>
        <p:spPr>
          <a:xfrm>
            <a:off x="2688728" y="4098577"/>
            <a:ext cx="3979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5" name="Google Shape;475;p36"/>
          <p:cNvSpPr/>
          <p:nvPr/>
        </p:nvSpPr>
        <p:spPr>
          <a:xfrm>
            <a:off x="6668095" y="4098577"/>
            <a:ext cx="47523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6" name="Google Shape;476;p36"/>
          <p:cNvSpPr/>
          <p:nvPr/>
        </p:nvSpPr>
        <p:spPr>
          <a:xfrm>
            <a:off x="771525" y="4774852"/>
            <a:ext cx="1917203"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7" name="Google Shape;477;p36"/>
          <p:cNvSpPr/>
          <p:nvPr/>
        </p:nvSpPr>
        <p:spPr>
          <a:xfrm>
            <a:off x="2688728" y="4774852"/>
            <a:ext cx="3979366"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78" name="Google Shape;478;p36"/>
          <p:cNvSpPr/>
          <p:nvPr/>
        </p:nvSpPr>
        <p:spPr>
          <a:xfrm>
            <a:off x="6668095" y="4774852"/>
            <a:ext cx="4752379" cy="9525"/>
          </a:xfrm>
          <a:prstGeom prst="rect">
            <a:avLst/>
          </a:prstGeom>
          <a:solidFill>
            <a:srgbClr val="E2E8F0"/>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2"/>
        <p:cNvGrpSpPr/>
        <p:nvPr/>
      </p:nvGrpSpPr>
      <p:grpSpPr>
        <a:xfrm>
          <a:off x="0" y="0"/>
          <a:ext cx="0" cy="0"/>
          <a:chOff x="0" y="0"/>
          <a:chExt cx="0" cy="0"/>
        </a:xfrm>
      </p:grpSpPr>
      <p:pic>
        <p:nvPicPr>
          <p:cNvPr id="483" name="Google Shape;483;p3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484" name="Google Shape;484;p37"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485" name="Google Shape;485;p37" descr="image.png"/>
          <p:cNvPicPr preferRelativeResize="0"/>
          <p:nvPr/>
        </p:nvPicPr>
        <p:blipFill rotWithShape="1">
          <a:blip r:embed="rId5">
            <a:alphaModFix/>
          </a:blip>
          <a:srcRect/>
          <a:stretch/>
        </p:blipFill>
        <p:spPr>
          <a:xfrm>
            <a:off x="762000" y="2907952"/>
            <a:ext cx="5143500" cy="2038350"/>
          </a:xfrm>
          <a:prstGeom prst="rect">
            <a:avLst/>
          </a:prstGeom>
          <a:noFill/>
          <a:ln>
            <a:noFill/>
          </a:ln>
        </p:spPr>
      </p:pic>
      <p:pic>
        <p:nvPicPr>
          <p:cNvPr id="486" name="Google Shape;486;p37" descr="image.png"/>
          <p:cNvPicPr preferRelativeResize="0"/>
          <p:nvPr/>
        </p:nvPicPr>
        <p:blipFill rotWithShape="1">
          <a:blip r:embed="rId6">
            <a:alphaModFix/>
          </a:blip>
          <a:srcRect/>
          <a:stretch/>
        </p:blipFill>
        <p:spPr>
          <a:xfrm>
            <a:off x="6286500" y="2907952"/>
            <a:ext cx="5143500" cy="2038350"/>
          </a:xfrm>
          <a:prstGeom prst="rect">
            <a:avLst/>
          </a:prstGeom>
          <a:noFill/>
          <a:ln>
            <a:noFill/>
          </a:ln>
        </p:spPr>
      </p:pic>
      <p:sp>
        <p:nvSpPr>
          <p:cNvPr id="487" name="Google Shape;487;p37"/>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BACKGROUND TASKS</a:t>
            </a:r>
            <a:endParaRPr/>
          </a:p>
        </p:txBody>
      </p:sp>
      <p:sp>
        <p:nvSpPr>
          <p:cNvPr id="488" name="Google Shape;488;p37"/>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Workbook Activities</a:t>
            </a:r>
            <a:endParaRPr/>
          </a:p>
        </p:txBody>
      </p:sp>
      <p:sp>
        <p:nvSpPr>
          <p:cNvPr id="489" name="Google Shape;489;p37"/>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490" name="Google Shape;490;p37"/>
          <p:cNvSpPr txBox="1"/>
          <p:nvPr/>
        </p:nvSpPr>
        <p:spPr>
          <a:xfrm>
            <a:off x="762000" y="6448425"/>
            <a:ext cx="15430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DIRECT FILE OPERATIONS</a:t>
            </a:r>
            <a:endParaRPr/>
          </a:p>
        </p:txBody>
      </p:sp>
      <p:sp>
        <p:nvSpPr>
          <p:cNvPr id="491" name="Google Shape;491;p37"/>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25 OF 42</a:t>
            </a:r>
            <a:endParaRPr/>
          </a:p>
        </p:txBody>
      </p:sp>
      <p:sp>
        <p:nvSpPr>
          <p:cNvPr id="492" name="Google Shape;492;p37"/>
          <p:cNvSpPr txBox="1"/>
          <p:nvPr/>
        </p:nvSpPr>
        <p:spPr>
          <a:xfrm>
            <a:off x="10572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No-Install Deployments</a:t>
            </a:r>
            <a:endParaRPr/>
          </a:p>
        </p:txBody>
      </p:sp>
      <p:sp>
        <p:nvSpPr>
          <p:cNvPr id="493" name="Google Shape;493;p37"/>
          <p:cNvSpPr txBox="1"/>
          <p:nvPr/>
        </p:nvSpPr>
        <p:spPr>
          <a:xfrm>
            <a:off x="10572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Workbook operations process directly through low-level system APIs. Because they operate independent of Excel licenses, they are the ideal choice for server environments and virtual machine clusters lacking office software.</a:t>
            </a:r>
            <a:endParaRPr/>
          </a:p>
        </p:txBody>
      </p:sp>
      <p:sp>
        <p:nvSpPr>
          <p:cNvPr id="494" name="Google Shape;494;p37"/>
          <p:cNvSpPr txBox="1"/>
          <p:nvPr/>
        </p:nvSpPr>
        <p:spPr>
          <a:xfrm>
            <a:off x="65817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Thread Isolation Safety</a:t>
            </a:r>
            <a:endParaRPr/>
          </a:p>
        </p:txBody>
      </p:sp>
      <p:sp>
        <p:nvSpPr>
          <p:cNvPr id="495" name="Google Shape;495;p37"/>
          <p:cNvSpPr txBox="1"/>
          <p:nvPr/>
        </p:nvSpPr>
        <p:spPr>
          <a:xfrm>
            <a:off x="65817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Since no actual application process launches on the desktop, workbook activities avoid user interaction collisions. This allows seamless multitasking, even when run on active human workstations.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99"/>
        <p:cNvGrpSpPr/>
        <p:nvPr/>
      </p:nvGrpSpPr>
      <p:grpSpPr>
        <a:xfrm>
          <a:off x="0" y="0"/>
          <a:ext cx="0" cy="0"/>
          <a:chOff x="0" y="0"/>
          <a:chExt cx="0" cy="0"/>
        </a:xfrm>
      </p:grpSpPr>
      <p:pic>
        <p:nvPicPr>
          <p:cNvPr id="500" name="Google Shape;500;p3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01" name="Google Shape;501;p38"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502" name="Google Shape;502;p38" descr="image.png"/>
          <p:cNvPicPr preferRelativeResize="0"/>
          <p:nvPr/>
        </p:nvPicPr>
        <p:blipFill rotWithShape="1">
          <a:blip r:embed="rId5">
            <a:alphaModFix/>
          </a:blip>
          <a:srcRect/>
          <a:stretch/>
        </p:blipFill>
        <p:spPr>
          <a:xfrm>
            <a:off x="762000" y="2815083"/>
            <a:ext cx="3397299" cy="2224087"/>
          </a:xfrm>
          <a:prstGeom prst="rect">
            <a:avLst/>
          </a:prstGeom>
          <a:noFill/>
          <a:ln>
            <a:noFill/>
          </a:ln>
        </p:spPr>
      </p:pic>
      <p:pic>
        <p:nvPicPr>
          <p:cNvPr id="503" name="Google Shape;503;p38" descr="image.png"/>
          <p:cNvPicPr preferRelativeResize="0"/>
          <p:nvPr/>
        </p:nvPicPr>
        <p:blipFill rotWithShape="1">
          <a:blip r:embed="rId6">
            <a:alphaModFix/>
          </a:blip>
          <a:srcRect/>
          <a:stretch/>
        </p:blipFill>
        <p:spPr>
          <a:xfrm>
            <a:off x="4397424" y="2815083"/>
            <a:ext cx="3397299" cy="2224087"/>
          </a:xfrm>
          <a:prstGeom prst="rect">
            <a:avLst/>
          </a:prstGeom>
          <a:noFill/>
          <a:ln>
            <a:noFill/>
          </a:ln>
        </p:spPr>
      </p:pic>
      <p:pic>
        <p:nvPicPr>
          <p:cNvPr id="504" name="Google Shape;504;p38" descr="image.png"/>
          <p:cNvPicPr preferRelativeResize="0"/>
          <p:nvPr/>
        </p:nvPicPr>
        <p:blipFill rotWithShape="1">
          <a:blip r:embed="rId7">
            <a:alphaModFix/>
          </a:blip>
          <a:srcRect/>
          <a:stretch/>
        </p:blipFill>
        <p:spPr>
          <a:xfrm>
            <a:off x="8032849" y="2815083"/>
            <a:ext cx="3397299" cy="2224087"/>
          </a:xfrm>
          <a:prstGeom prst="rect">
            <a:avLst/>
          </a:prstGeom>
          <a:noFill/>
          <a:ln>
            <a:noFill/>
          </a:ln>
        </p:spPr>
      </p:pic>
      <p:sp>
        <p:nvSpPr>
          <p:cNvPr id="505" name="Google Shape;505;p38"/>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ADVANCED FEATURES</a:t>
            </a:r>
            <a:endParaRPr/>
          </a:p>
        </p:txBody>
      </p:sp>
      <p:sp>
        <p:nvSpPr>
          <p:cNvPr id="506" name="Google Shape;506;p38"/>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Excel Modern Capabilities</a:t>
            </a:r>
            <a:endParaRPr/>
          </a:p>
        </p:txBody>
      </p:sp>
      <p:sp>
        <p:nvSpPr>
          <p:cNvPr id="507" name="Google Shape;507;p38"/>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08" name="Google Shape;508;p38"/>
          <p:cNvSpPr txBox="1"/>
          <p:nvPr/>
        </p:nvSpPr>
        <p:spPr>
          <a:xfrm>
            <a:off x="762000" y="6448425"/>
            <a:ext cx="16192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INTELLIGENT APP ACTIONS</a:t>
            </a:r>
            <a:endParaRPr/>
          </a:p>
        </p:txBody>
      </p:sp>
      <p:sp>
        <p:nvSpPr>
          <p:cNvPr id="509" name="Google Shape;509;p38"/>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26 OF 42</a:t>
            </a:r>
            <a:endParaRPr/>
          </a:p>
        </p:txBody>
      </p:sp>
      <p:sp>
        <p:nvSpPr>
          <p:cNvPr id="510" name="Google Shape;510;p38"/>
          <p:cNvSpPr txBox="1"/>
          <p:nvPr/>
        </p:nvSpPr>
        <p:spPr>
          <a:xfrm>
            <a:off x="1009650" y="3700908"/>
            <a:ext cx="1270158"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Pivot Tables</a:t>
            </a:r>
            <a:endParaRPr/>
          </a:p>
        </p:txBody>
      </p:sp>
      <p:sp>
        <p:nvSpPr>
          <p:cNvPr id="511" name="Google Shape;511;p38"/>
          <p:cNvSpPr txBox="1"/>
          <p:nvPr/>
        </p:nvSpPr>
        <p:spPr>
          <a:xfrm>
            <a:off x="1009650"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Create, update, and refresh pivot views directly on live sheets to provide near-instant analytics summaries.</a:t>
            </a:r>
            <a:endParaRPr/>
          </a:p>
        </p:txBody>
      </p:sp>
      <p:sp>
        <p:nvSpPr>
          <p:cNvPr id="512" name="Google Shape;512;p38"/>
          <p:cNvSpPr txBox="1"/>
          <p:nvPr/>
        </p:nvSpPr>
        <p:spPr>
          <a:xfrm>
            <a:off x="4645074" y="3700908"/>
            <a:ext cx="2310288"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Advanced Formatting</a:t>
            </a:r>
            <a:endParaRPr/>
          </a:p>
        </p:txBody>
      </p:sp>
      <p:sp>
        <p:nvSpPr>
          <p:cNvPr id="513" name="Google Shape;513;p38"/>
          <p:cNvSpPr txBox="1"/>
          <p:nvPr/>
        </p:nvSpPr>
        <p:spPr>
          <a:xfrm>
            <a:off x="4645074"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Apply conditional highlighting, modify column structures, and color-code cells to match executive style guides.</a:t>
            </a:r>
            <a:endParaRPr/>
          </a:p>
        </p:txBody>
      </p:sp>
      <p:sp>
        <p:nvSpPr>
          <p:cNvPr id="514" name="Google Shape;514;p38"/>
          <p:cNvSpPr txBox="1"/>
          <p:nvPr/>
        </p:nvSpPr>
        <p:spPr>
          <a:xfrm>
            <a:off x="8280499" y="3700908"/>
            <a:ext cx="172021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Macro Execution</a:t>
            </a:r>
            <a:endParaRPr/>
          </a:p>
        </p:txBody>
      </p:sp>
      <p:sp>
        <p:nvSpPr>
          <p:cNvPr id="515" name="Google Shape;515;p38"/>
          <p:cNvSpPr txBox="1"/>
          <p:nvPr/>
        </p:nvSpPr>
        <p:spPr>
          <a:xfrm>
            <a:off x="8280499"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Execute pre-built internal Excel macros (VBA) directly inside safe, containerized application scopes.</a:t>
            </a:r>
            <a:endParaRPr/>
          </a:p>
        </p:txBody>
      </p:sp>
      <p:pic>
        <p:nvPicPr>
          <p:cNvPr id="516" name="Google Shape;516;p38" descr="image.png"/>
          <p:cNvPicPr preferRelativeResize="0"/>
          <p:nvPr/>
        </p:nvPicPr>
        <p:blipFill rotWithShape="1">
          <a:blip r:embed="rId8">
            <a:alphaModFix/>
          </a:blip>
          <a:srcRect t="1352" b="1351"/>
          <a:stretch/>
        </p:blipFill>
        <p:spPr>
          <a:xfrm>
            <a:off x="1009650" y="3157983"/>
            <a:ext cx="390525" cy="342900"/>
          </a:xfrm>
          <a:prstGeom prst="rect">
            <a:avLst/>
          </a:prstGeom>
          <a:noFill/>
          <a:ln>
            <a:noFill/>
          </a:ln>
        </p:spPr>
      </p:pic>
      <p:pic>
        <p:nvPicPr>
          <p:cNvPr id="517" name="Google Shape;517;p38" descr="image.png"/>
          <p:cNvPicPr preferRelativeResize="0"/>
          <p:nvPr/>
        </p:nvPicPr>
        <p:blipFill rotWithShape="1">
          <a:blip r:embed="rId9">
            <a:alphaModFix/>
          </a:blip>
          <a:srcRect/>
          <a:stretch/>
        </p:blipFill>
        <p:spPr>
          <a:xfrm>
            <a:off x="4645074" y="3157983"/>
            <a:ext cx="342900" cy="342900"/>
          </a:xfrm>
          <a:prstGeom prst="rect">
            <a:avLst/>
          </a:prstGeom>
          <a:noFill/>
          <a:ln>
            <a:noFill/>
          </a:ln>
        </p:spPr>
      </p:pic>
      <p:pic>
        <p:nvPicPr>
          <p:cNvPr id="518" name="Google Shape;518;p38" descr="image.png"/>
          <p:cNvPicPr preferRelativeResize="0"/>
          <p:nvPr/>
        </p:nvPicPr>
        <p:blipFill rotWithShape="1">
          <a:blip r:embed="rId10">
            <a:alphaModFix/>
          </a:blip>
          <a:srcRect/>
          <a:stretch/>
        </p:blipFill>
        <p:spPr>
          <a:xfrm>
            <a:off x="8280499" y="3157983"/>
            <a:ext cx="428625" cy="342900"/>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1"/>
          <a:stretch>
            <a:fillRect/>
          </a:stretch>
        </p:blipFill>
        <p:spPr>
          <a:xfrm>
            <a:off x="10242000" y="280000"/>
            <a:ext cx="1700000" cy="716000"/>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22"/>
        <p:cNvGrpSpPr/>
        <p:nvPr/>
      </p:nvGrpSpPr>
      <p:grpSpPr>
        <a:xfrm>
          <a:off x="0" y="0"/>
          <a:ext cx="0" cy="0"/>
          <a:chOff x="0" y="0"/>
          <a:chExt cx="0" cy="0"/>
        </a:xfrm>
      </p:grpSpPr>
      <p:pic>
        <p:nvPicPr>
          <p:cNvPr id="523" name="Google Shape;523;p3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24" name="Google Shape;524;p39"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525" name="Google Shape;525;p39" descr="image.png"/>
          <p:cNvPicPr preferRelativeResize="0"/>
          <p:nvPr/>
        </p:nvPicPr>
        <p:blipFill rotWithShape="1">
          <a:blip r:embed="rId5">
            <a:alphaModFix/>
          </a:blip>
          <a:srcRect/>
          <a:stretch/>
        </p:blipFill>
        <p:spPr>
          <a:xfrm>
            <a:off x="762000" y="2822227"/>
            <a:ext cx="4076700" cy="2209800"/>
          </a:xfrm>
          <a:prstGeom prst="rect">
            <a:avLst/>
          </a:prstGeom>
          <a:noFill/>
          <a:ln>
            <a:noFill/>
          </a:ln>
        </p:spPr>
      </p:pic>
      <p:pic>
        <p:nvPicPr>
          <p:cNvPr id="526" name="Google Shape;526;p39" descr="image.png"/>
          <p:cNvPicPr preferRelativeResize="0"/>
          <p:nvPr/>
        </p:nvPicPr>
        <p:blipFill rotWithShape="1">
          <a:blip r:embed="rId6">
            <a:alphaModFix/>
          </a:blip>
          <a:srcRect/>
          <a:stretch/>
        </p:blipFill>
        <p:spPr>
          <a:xfrm>
            <a:off x="1152525" y="3212752"/>
            <a:ext cx="3295650" cy="1047750"/>
          </a:xfrm>
          <a:prstGeom prst="rect">
            <a:avLst/>
          </a:prstGeom>
          <a:noFill/>
          <a:ln>
            <a:noFill/>
          </a:ln>
        </p:spPr>
      </p:pic>
      <p:sp>
        <p:nvSpPr>
          <p:cNvPr id="527" name="Google Shape;527;p39"/>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EXECUTION MECHANICS</a:t>
            </a:r>
            <a:endParaRPr/>
          </a:p>
        </p:txBody>
      </p:sp>
      <p:sp>
        <p:nvSpPr>
          <p:cNvPr id="528" name="Google Shape;528;p39"/>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Simulate &amp; Background Run</a:t>
            </a:r>
            <a:endParaRPr/>
          </a:p>
        </p:txBody>
      </p:sp>
      <p:sp>
        <p:nvSpPr>
          <p:cNvPr id="529" name="Google Shape;529;p39"/>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30" name="Google Shape;530;p39"/>
          <p:cNvSpPr txBox="1"/>
          <p:nvPr/>
        </p:nvSpPr>
        <p:spPr>
          <a:xfrm>
            <a:off x="762000" y="6448425"/>
            <a:ext cx="17526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SIMULATE FLAG STANDARDS</a:t>
            </a:r>
            <a:endParaRPr/>
          </a:p>
        </p:txBody>
      </p:sp>
      <p:sp>
        <p:nvSpPr>
          <p:cNvPr id="531" name="Google Shape;531;p39"/>
          <p:cNvSpPr txBox="1"/>
          <p:nvPr/>
        </p:nvSpPr>
        <p:spPr>
          <a:xfrm>
            <a:off x="10506075" y="6448425"/>
            <a:ext cx="923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27 OF 42</a:t>
            </a:r>
            <a:endParaRPr/>
          </a:p>
        </p:txBody>
      </p:sp>
      <p:sp>
        <p:nvSpPr>
          <p:cNvPr id="532" name="Google Shape;532;p39"/>
          <p:cNvSpPr txBox="1"/>
          <p:nvPr/>
        </p:nvSpPr>
        <p:spPr>
          <a:xfrm>
            <a:off x="1152525" y="4355752"/>
            <a:ext cx="3295650"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0" i="0" u="none" strike="noStrike" cap="none">
                <a:solidFill>
                  <a:srgbClr val="94A3B8"/>
                </a:solidFill>
                <a:latin typeface="Urbanist SemiBold"/>
                <a:ea typeface="Urbanist SemiBold"/>
                <a:cs typeface="Urbanist SemiBold"/>
                <a:sym typeface="Urbanist SemiBold"/>
              </a:rPr>
              <a:t>BACKGROUND SAFETY</a:t>
            </a:r>
            <a:endParaRPr/>
          </a:p>
        </p:txBody>
      </p:sp>
      <p:sp>
        <p:nvSpPr>
          <p:cNvPr id="533" name="Google Shape;533;p39"/>
          <p:cNvSpPr txBox="1"/>
          <p:nvPr/>
        </p:nvSpPr>
        <p:spPr>
          <a:xfrm>
            <a:off x="5314950" y="3550890"/>
            <a:ext cx="6420802" cy="21608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404" b="1" i="0" u="none" strike="noStrike" cap="none">
                <a:solidFill>
                  <a:srgbClr val="334155"/>
                </a:solidFill>
                <a:latin typeface="Urbanist"/>
                <a:ea typeface="Urbanist"/>
                <a:cs typeface="Urbanist"/>
                <a:sym typeface="Urbanist"/>
              </a:rPr>
              <a:t>Direct Api Simulation Advantages</a:t>
            </a:r>
            <a:endParaRPr/>
          </a:p>
        </p:txBody>
      </p:sp>
      <p:sp>
        <p:nvSpPr>
          <p:cNvPr id="534" name="Google Shape;534;p39"/>
          <p:cNvSpPr txBox="1"/>
          <p:nvPr/>
        </p:nvSpPr>
        <p:spPr>
          <a:xfrm>
            <a:off x="5314950" y="3760440"/>
            <a:ext cx="6115050" cy="55399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200" b="0" i="0" u="none" strike="noStrike" cap="none">
                <a:solidFill>
                  <a:srgbClr val="334155"/>
                </a:solidFill>
                <a:latin typeface="Urbanist"/>
                <a:ea typeface="Urbanist"/>
                <a:cs typeface="Urbanist"/>
                <a:sym typeface="Urbanist"/>
              </a:rPr>
              <a:t>Setting activities to </a:t>
            </a:r>
            <a:r>
              <a:rPr lang="en-US" sz="1200" b="1" i="0" u="none" strike="noStrike" cap="none">
                <a:solidFill>
                  <a:srgbClr val="334155"/>
                </a:solidFill>
                <a:latin typeface="Urbanist"/>
                <a:ea typeface="Urbanist"/>
                <a:cs typeface="Urbanist"/>
                <a:sym typeface="Urbanist"/>
              </a:rPr>
              <a:t>Simulate</a:t>
            </a:r>
            <a:r>
              <a:rPr lang="en-US" sz="1200" b="0" i="0" u="none" strike="noStrike" cap="none">
                <a:solidFill>
                  <a:srgbClr val="334155"/>
                </a:solidFill>
                <a:latin typeface="Urbanist"/>
                <a:ea typeface="Urbanist"/>
                <a:cs typeface="Urbanist"/>
                <a:sym typeface="Urbanist"/>
              </a:rPr>
              <a:t> triggers actions directly via system APIs, completely avoiding the mouse and keyboard controls. This guarantees that your automation runs reliably in the background without interrupting active human workers.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38"/>
        <p:cNvGrpSpPr/>
        <p:nvPr/>
      </p:nvGrpSpPr>
      <p:grpSpPr>
        <a:xfrm>
          <a:off x="0" y="0"/>
          <a:ext cx="0" cy="0"/>
          <a:chOff x="0" y="0"/>
          <a:chExt cx="0" cy="0"/>
        </a:xfrm>
      </p:grpSpPr>
      <p:pic>
        <p:nvPicPr>
          <p:cNvPr id="539" name="Google Shape;539;p4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40" name="Google Shape;540;p40"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541" name="Google Shape;541;p40"/>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VISUAL OPTIMIZATION</a:t>
            </a:r>
            <a:endParaRPr/>
          </a:p>
        </p:txBody>
      </p:sp>
      <p:sp>
        <p:nvSpPr>
          <p:cNvPr id="542" name="Google Shape;542;p40"/>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Advanced Excel Actions</a:t>
            </a:r>
            <a:endParaRPr/>
          </a:p>
        </p:txBody>
      </p:sp>
      <p:sp>
        <p:nvSpPr>
          <p:cNvPr id="543" name="Google Shape;543;p40"/>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44" name="Google Shape;544;p40"/>
          <p:cNvSpPr txBox="1"/>
          <p:nvPr/>
        </p:nvSpPr>
        <p:spPr>
          <a:xfrm>
            <a:off x="762000" y="6448425"/>
            <a:ext cx="17335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ENTERPRISE EXCEL DELIVERY</a:t>
            </a:r>
            <a:endParaRPr/>
          </a:p>
        </p:txBody>
      </p:sp>
      <p:sp>
        <p:nvSpPr>
          <p:cNvPr id="545" name="Google Shape;545;p40"/>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28 OF 42</a:t>
            </a:r>
            <a:endParaRPr/>
          </a:p>
        </p:txBody>
      </p:sp>
      <p:sp>
        <p:nvSpPr>
          <p:cNvPr id="546" name="Google Shape;546;p40"/>
          <p:cNvSpPr txBox="1"/>
          <p:nvPr/>
        </p:nvSpPr>
        <p:spPr>
          <a:xfrm>
            <a:off x="1524000" y="29698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Dynamic Range Processing:</a:t>
            </a:r>
            <a:r>
              <a:rPr lang="en-US" sz="1350" b="0" i="0" u="none" strike="noStrike" cap="none">
                <a:solidFill>
                  <a:srgbClr val="334155"/>
                </a:solidFill>
                <a:latin typeface="Urbanist"/>
                <a:ea typeface="Urbanist"/>
                <a:cs typeface="Urbanist"/>
                <a:sym typeface="Urbanist"/>
              </a:rPr>
              <a:t> Use named ranges instead of hardcoded coordinates (like "A1:B10") to ensure formulas auto-expand cleanly as rows are appended.</a:t>
            </a:r>
            <a:endParaRPr/>
          </a:p>
        </p:txBody>
      </p:sp>
      <p:sp>
        <p:nvSpPr>
          <p:cNvPr id="547" name="Google Shape;547;p40"/>
          <p:cNvSpPr txBox="1"/>
          <p:nvPr/>
        </p:nvSpPr>
        <p:spPr>
          <a:xfrm>
            <a:off x="1524000" y="36937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Auto-Filtering Engine:</a:t>
            </a:r>
            <a:r>
              <a:rPr lang="en-US" sz="1350" b="0" i="0" u="none" strike="noStrike" cap="none">
                <a:solidFill>
                  <a:srgbClr val="334155"/>
                </a:solidFill>
                <a:latin typeface="Urbanist"/>
                <a:ea typeface="Urbanist"/>
                <a:cs typeface="Urbanist"/>
                <a:sym typeface="Urbanist"/>
              </a:rPr>
              <a:t> Apply complex UI filters to target rows instantly, extracting only processed transactional statuses.</a:t>
            </a:r>
            <a:endParaRPr/>
          </a:p>
        </p:txBody>
      </p:sp>
      <p:sp>
        <p:nvSpPr>
          <p:cNvPr id="548" name="Google Shape;548;p40"/>
          <p:cNvSpPr txBox="1"/>
          <p:nvPr/>
        </p:nvSpPr>
        <p:spPr>
          <a:xfrm>
            <a:off x="1524000" y="44176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Dynamic Conversions:</a:t>
            </a:r>
            <a:r>
              <a:rPr lang="en-US" sz="1350" b="0" i="0" u="none" strike="noStrike" cap="none">
                <a:solidFill>
                  <a:srgbClr val="334155"/>
                </a:solidFill>
                <a:latin typeface="Urbanist"/>
                <a:ea typeface="Urbanist"/>
                <a:cs typeface="Urbanist"/>
                <a:sym typeface="Urbanist"/>
              </a:rPr>
              <a:t> Export generated summary sheets directly to PDF or CSV layouts to streamline downstream reporting channels.</a:t>
            </a:r>
            <a:endParaRPr/>
          </a:p>
        </p:txBody>
      </p:sp>
      <p:pic>
        <p:nvPicPr>
          <p:cNvPr id="549" name="Google Shape;549;p40" descr="image.png"/>
          <p:cNvPicPr preferRelativeResize="0"/>
          <p:nvPr/>
        </p:nvPicPr>
        <p:blipFill rotWithShape="1">
          <a:blip r:embed="rId5">
            <a:alphaModFix/>
          </a:blip>
          <a:srcRect/>
          <a:stretch/>
        </p:blipFill>
        <p:spPr>
          <a:xfrm>
            <a:off x="1095375" y="3003202"/>
            <a:ext cx="209550" cy="219075"/>
          </a:xfrm>
          <a:prstGeom prst="rect">
            <a:avLst/>
          </a:prstGeom>
          <a:noFill/>
          <a:ln>
            <a:noFill/>
          </a:ln>
        </p:spPr>
      </p:pic>
      <p:pic>
        <p:nvPicPr>
          <p:cNvPr id="550" name="Google Shape;550;p40" descr="image.png"/>
          <p:cNvPicPr preferRelativeResize="0"/>
          <p:nvPr/>
        </p:nvPicPr>
        <p:blipFill rotWithShape="1">
          <a:blip r:embed="rId6">
            <a:alphaModFix/>
          </a:blip>
          <a:srcRect/>
          <a:stretch/>
        </p:blipFill>
        <p:spPr>
          <a:xfrm>
            <a:off x="1095375" y="3727102"/>
            <a:ext cx="209550" cy="219075"/>
          </a:xfrm>
          <a:prstGeom prst="rect">
            <a:avLst/>
          </a:prstGeom>
          <a:noFill/>
          <a:ln>
            <a:noFill/>
          </a:ln>
        </p:spPr>
      </p:pic>
      <p:pic>
        <p:nvPicPr>
          <p:cNvPr id="551" name="Google Shape;551;p40" descr="image.png"/>
          <p:cNvPicPr preferRelativeResize="0"/>
          <p:nvPr/>
        </p:nvPicPr>
        <p:blipFill rotWithShape="1">
          <a:blip r:embed="rId7">
            <a:alphaModFix/>
          </a:blip>
          <a:srcRect/>
          <a:stretch/>
        </p:blipFill>
        <p:spPr>
          <a:xfrm>
            <a:off x="1095375" y="4451002"/>
            <a:ext cx="238125"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8"/>
          <a:stretch>
            <a:fillRect/>
          </a:stretch>
        </p:blipFill>
        <p:spPr>
          <a:xfrm>
            <a:off x="10242000" y="280000"/>
            <a:ext cx="1700000" cy="716000"/>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55"/>
        <p:cNvGrpSpPr/>
        <p:nvPr/>
      </p:nvGrpSpPr>
      <p:grpSpPr>
        <a:xfrm>
          <a:off x="0" y="0"/>
          <a:ext cx="0" cy="0"/>
          <a:chOff x="0" y="0"/>
          <a:chExt cx="0" cy="0"/>
        </a:xfrm>
      </p:grpSpPr>
      <p:pic>
        <p:nvPicPr>
          <p:cNvPr id="556" name="Google Shape;556;p4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57" name="Google Shape;557;p41"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558" name="Google Shape;558;p41" descr="image.png"/>
          <p:cNvPicPr preferRelativeResize="0"/>
          <p:nvPr/>
        </p:nvPicPr>
        <p:blipFill rotWithShape="1">
          <a:blip r:embed="rId5">
            <a:alphaModFix/>
          </a:blip>
          <a:srcRect/>
          <a:stretch/>
        </p:blipFill>
        <p:spPr>
          <a:xfrm>
            <a:off x="6286500" y="2117377"/>
            <a:ext cx="5143500" cy="3619500"/>
          </a:xfrm>
          <a:prstGeom prst="rect">
            <a:avLst/>
          </a:prstGeom>
          <a:noFill/>
          <a:ln>
            <a:noFill/>
          </a:ln>
        </p:spPr>
      </p:pic>
      <p:sp>
        <p:nvSpPr>
          <p:cNvPr id="559" name="Google Shape;559;p41"/>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PROCESS ARCHITECTURE</a:t>
            </a:r>
            <a:endParaRPr/>
          </a:p>
        </p:txBody>
      </p:sp>
      <p:sp>
        <p:nvSpPr>
          <p:cNvPr id="560" name="Google Shape;560;p41"/>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RPA Excel Architecture</a:t>
            </a:r>
            <a:endParaRPr/>
          </a:p>
        </p:txBody>
      </p:sp>
      <p:sp>
        <p:nvSpPr>
          <p:cNvPr id="561" name="Google Shape;561;p41"/>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62" name="Google Shape;562;p41"/>
          <p:cNvSpPr txBox="1"/>
          <p:nvPr/>
        </p:nvSpPr>
        <p:spPr>
          <a:xfrm>
            <a:off x="762000" y="6448425"/>
            <a:ext cx="19050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INDUSTRIAL EXECUTION MODEL</a:t>
            </a:r>
            <a:endParaRPr/>
          </a:p>
        </p:txBody>
      </p:sp>
      <p:sp>
        <p:nvSpPr>
          <p:cNvPr id="563" name="Google Shape;563;p41"/>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29 OF 42</a:t>
            </a:r>
            <a:endParaRPr/>
          </a:p>
        </p:txBody>
      </p:sp>
      <p:pic>
        <p:nvPicPr>
          <p:cNvPr id="564" name="Google Shape;564;p41" descr="image.png"/>
          <p:cNvPicPr preferRelativeResize="0"/>
          <p:nvPr/>
        </p:nvPicPr>
        <p:blipFill rotWithShape="1">
          <a:blip r:embed="rId6">
            <a:alphaModFix/>
          </a:blip>
          <a:srcRect/>
          <a:stretch/>
        </p:blipFill>
        <p:spPr>
          <a:xfrm>
            <a:off x="6296025" y="2126902"/>
            <a:ext cx="5124450" cy="3600450"/>
          </a:xfrm>
          <a:prstGeom prst="rect">
            <a:avLst/>
          </a:prstGeom>
          <a:noFill/>
          <a:ln>
            <a:noFill/>
          </a:ln>
        </p:spPr>
      </p:pic>
      <p:sp>
        <p:nvSpPr>
          <p:cNvPr id="565" name="Google Shape;565;p41"/>
          <p:cNvSpPr txBox="1"/>
          <p:nvPr/>
        </p:nvSpPr>
        <p:spPr>
          <a:xfrm>
            <a:off x="1190625" y="2841277"/>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Isolated Scopes:</a:t>
            </a:r>
            <a:r>
              <a:rPr lang="en-US" sz="1350" b="0" i="0" u="none" strike="noStrike" cap="none">
                <a:solidFill>
                  <a:srgbClr val="334155"/>
                </a:solidFill>
                <a:latin typeface="Urbanist"/>
                <a:ea typeface="Urbanist"/>
                <a:cs typeface="Urbanist"/>
                <a:sym typeface="Urbanist"/>
              </a:rPr>
              <a:t> Encapsulate Excel actions inside a process scope wrapper to ensure clean runtimes.</a:t>
            </a:r>
            <a:endParaRPr/>
          </a:p>
        </p:txBody>
      </p:sp>
      <p:sp>
        <p:nvSpPr>
          <p:cNvPr id="566" name="Google Shape;566;p41"/>
          <p:cNvSpPr txBox="1"/>
          <p:nvPr/>
        </p:nvSpPr>
        <p:spPr>
          <a:xfrm>
            <a:off x="1190625" y="3565177"/>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Process Lifecycle:</a:t>
            </a:r>
            <a:r>
              <a:rPr lang="en-US" sz="1350" b="0" i="0" u="none" strike="noStrike" cap="none">
                <a:solidFill>
                  <a:srgbClr val="334155"/>
                </a:solidFill>
                <a:latin typeface="Urbanist"/>
                <a:ea typeface="Urbanist"/>
                <a:cs typeface="Urbanist"/>
                <a:sym typeface="Urbanist"/>
              </a:rPr>
              <a:t> Force target application instances to close properly, preventing orphaned processes.</a:t>
            </a:r>
            <a:endParaRPr/>
          </a:p>
        </p:txBody>
      </p:sp>
      <p:sp>
        <p:nvSpPr>
          <p:cNvPr id="567" name="Google Shape;567;p41"/>
          <p:cNvSpPr txBox="1"/>
          <p:nvPr/>
        </p:nvSpPr>
        <p:spPr>
          <a:xfrm>
            <a:off x="1190625" y="4289077"/>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Concurrency Safety:</a:t>
            </a:r>
            <a:r>
              <a:rPr lang="en-US" sz="1350" b="0" i="0" u="none" strike="noStrike" cap="none">
                <a:solidFill>
                  <a:srgbClr val="334155"/>
                </a:solidFill>
                <a:latin typeface="Urbanist"/>
                <a:ea typeface="Urbanist"/>
                <a:cs typeface="Urbanist"/>
                <a:sym typeface="Urbanist"/>
              </a:rPr>
              <a:t> Manage file locks gracefully during high-frequency parallel read actions.</a:t>
            </a:r>
            <a:endParaRPr/>
          </a:p>
        </p:txBody>
      </p:sp>
      <p:pic>
        <p:nvPicPr>
          <p:cNvPr id="568" name="Google Shape;568;p41" descr="image.png"/>
          <p:cNvPicPr preferRelativeResize="0"/>
          <p:nvPr/>
        </p:nvPicPr>
        <p:blipFill rotWithShape="1">
          <a:blip r:embed="rId7">
            <a:alphaModFix/>
          </a:blip>
          <a:srcRect/>
          <a:stretch/>
        </p:blipFill>
        <p:spPr>
          <a:xfrm>
            <a:off x="762000" y="2874615"/>
            <a:ext cx="209550" cy="219075"/>
          </a:xfrm>
          <a:prstGeom prst="rect">
            <a:avLst/>
          </a:prstGeom>
          <a:noFill/>
          <a:ln>
            <a:noFill/>
          </a:ln>
        </p:spPr>
      </p:pic>
      <p:pic>
        <p:nvPicPr>
          <p:cNvPr id="569" name="Google Shape;569;p41" descr="image.png"/>
          <p:cNvPicPr preferRelativeResize="0"/>
          <p:nvPr/>
        </p:nvPicPr>
        <p:blipFill rotWithShape="1">
          <a:blip r:embed="rId8">
            <a:alphaModFix/>
          </a:blip>
          <a:srcRect/>
          <a:stretch/>
        </p:blipFill>
        <p:spPr>
          <a:xfrm>
            <a:off x="762000" y="3598515"/>
            <a:ext cx="209550" cy="219075"/>
          </a:xfrm>
          <a:prstGeom prst="rect">
            <a:avLst/>
          </a:prstGeom>
          <a:noFill/>
          <a:ln>
            <a:noFill/>
          </a:ln>
        </p:spPr>
      </p:pic>
      <p:pic>
        <p:nvPicPr>
          <p:cNvPr id="570" name="Google Shape;570;p41" descr="image.png"/>
          <p:cNvPicPr preferRelativeResize="0"/>
          <p:nvPr/>
        </p:nvPicPr>
        <p:blipFill rotWithShape="1">
          <a:blip r:embed="rId9">
            <a:alphaModFix/>
          </a:blip>
          <a:srcRect/>
          <a:stretch/>
        </p:blipFill>
        <p:spPr>
          <a:xfrm>
            <a:off x="762000" y="4322415"/>
            <a:ext cx="180975"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0"/>
          <a:stretch>
            <a:fillRect/>
          </a:stretch>
        </p:blipFill>
        <p:spPr>
          <a:xfrm>
            <a:off x="10242000" y="280000"/>
            <a:ext cx="1700000" cy="716000"/>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74"/>
        <p:cNvGrpSpPr/>
        <p:nvPr/>
      </p:nvGrpSpPr>
      <p:grpSpPr>
        <a:xfrm>
          <a:off x="0" y="0"/>
          <a:ext cx="0" cy="0"/>
          <a:chOff x="0" y="0"/>
          <a:chExt cx="0" cy="0"/>
        </a:xfrm>
      </p:grpSpPr>
      <p:pic>
        <p:nvPicPr>
          <p:cNvPr id="575" name="Google Shape;575;p4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76" name="Google Shape;576;p42"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577" name="Google Shape;577;p42" descr="image.png"/>
          <p:cNvPicPr preferRelativeResize="0"/>
          <p:nvPr/>
        </p:nvPicPr>
        <p:blipFill rotWithShape="1">
          <a:blip r:embed="rId5">
            <a:alphaModFix/>
          </a:blip>
          <a:srcRect/>
          <a:stretch/>
        </p:blipFill>
        <p:spPr>
          <a:xfrm>
            <a:off x="762000" y="3024633"/>
            <a:ext cx="5143500" cy="1804987"/>
          </a:xfrm>
          <a:prstGeom prst="rect">
            <a:avLst/>
          </a:prstGeom>
          <a:noFill/>
          <a:ln>
            <a:noFill/>
          </a:ln>
        </p:spPr>
      </p:pic>
      <p:pic>
        <p:nvPicPr>
          <p:cNvPr id="578" name="Google Shape;578;p42" descr="image.png"/>
          <p:cNvPicPr preferRelativeResize="0"/>
          <p:nvPr/>
        </p:nvPicPr>
        <p:blipFill rotWithShape="1">
          <a:blip r:embed="rId5">
            <a:alphaModFix/>
          </a:blip>
          <a:srcRect/>
          <a:stretch/>
        </p:blipFill>
        <p:spPr>
          <a:xfrm>
            <a:off x="6286500" y="3024633"/>
            <a:ext cx="5143500" cy="1804987"/>
          </a:xfrm>
          <a:prstGeom prst="rect">
            <a:avLst/>
          </a:prstGeom>
          <a:noFill/>
          <a:ln>
            <a:noFill/>
          </a:ln>
        </p:spPr>
      </p:pic>
      <p:sp>
        <p:nvSpPr>
          <p:cNvPr id="579" name="Google Shape;579;p42"/>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SYSTEM RESILIENCY</a:t>
            </a:r>
            <a:endParaRPr/>
          </a:p>
        </p:txBody>
      </p:sp>
      <p:sp>
        <p:nvSpPr>
          <p:cNvPr id="580" name="Google Shape;580;p42"/>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Excel Error Handling</a:t>
            </a:r>
            <a:endParaRPr/>
          </a:p>
        </p:txBody>
      </p:sp>
      <p:sp>
        <p:nvSpPr>
          <p:cNvPr id="581" name="Google Shape;581;p42"/>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82" name="Google Shape;582;p42"/>
          <p:cNvSpPr txBox="1"/>
          <p:nvPr/>
        </p:nvSpPr>
        <p:spPr>
          <a:xfrm>
            <a:off x="762000" y="6448425"/>
            <a:ext cx="19526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RESILIENT EXCEPTION CONTROL</a:t>
            </a:r>
            <a:endParaRPr/>
          </a:p>
        </p:txBody>
      </p:sp>
      <p:sp>
        <p:nvSpPr>
          <p:cNvPr id="583" name="Google Shape;583;p42"/>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30 OF 42</a:t>
            </a:r>
            <a:endParaRPr/>
          </a:p>
        </p:txBody>
      </p:sp>
      <p:sp>
        <p:nvSpPr>
          <p:cNvPr id="584" name="Google Shape;584;p42"/>
          <p:cNvSpPr txBox="1"/>
          <p:nvPr/>
        </p:nvSpPr>
        <p:spPr>
          <a:xfrm>
            <a:off x="1057275" y="3324671"/>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Auto-Recovery Policies</a:t>
            </a:r>
            <a:endParaRPr/>
          </a:p>
        </p:txBody>
      </p:sp>
      <p:sp>
        <p:nvSpPr>
          <p:cNvPr id="585" name="Google Shape;585;p42"/>
          <p:cNvSpPr txBox="1"/>
          <p:nvPr/>
        </p:nvSpPr>
        <p:spPr>
          <a:xfrm>
            <a:off x="1057275" y="3800921"/>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A typical Excel error occurs when files are locked by other network processes. Build robust Retry scopes with standard timeout delays to gracefully handle locked file statuses.</a:t>
            </a:r>
            <a:endParaRPr/>
          </a:p>
        </p:txBody>
      </p:sp>
      <p:sp>
        <p:nvSpPr>
          <p:cNvPr id="586" name="Google Shape;586;p42"/>
          <p:cNvSpPr txBox="1"/>
          <p:nvPr/>
        </p:nvSpPr>
        <p:spPr>
          <a:xfrm>
            <a:off x="6581775" y="3319908"/>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Graceful Terminations</a:t>
            </a:r>
            <a:endParaRPr/>
          </a:p>
        </p:txBody>
      </p:sp>
      <p:sp>
        <p:nvSpPr>
          <p:cNvPr id="587" name="Google Shape;587;p42"/>
          <p:cNvSpPr txBox="1"/>
          <p:nvPr/>
        </p:nvSpPr>
        <p:spPr>
          <a:xfrm>
            <a:off x="6581775" y="3796158"/>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If Excel hangs during a transaction run, use targeted Kill Process activities for "excel" to clear orphaned background instances, preventing system lockouts.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591"/>
        <p:cNvGrpSpPr/>
        <p:nvPr/>
      </p:nvGrpSpPr>
      <p:grpSpPr>
        <a:xfrm>
          <a:off x="0" y="0"/>
          <a:ext cx="0" cy="0"/>
          <a:chOff x="0" y="0"/>
          <a:chExt cx="0" cy="0"/>
        </a:xfrm>
      </p:grpSpPr>
      <p:pic>
        <p:nvPicPr>
          <p:cNvPr id="592" name="Google Shape;592;p4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593" name="Google Shape;593;p43"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594" name="Google Shape;594;p43"/>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INTEGRITY MANAGEMENT</a:t>
            </a:r>
            <a:endParaRPr/>
          </a:p>
        </p:txBody>
      </p:sp>
      <p:sp>
        <p:nvSpPr>
          <p:cNvPr id="595" name="Google Shape;595;p43"/>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Data Extraction Strategy</a:t>
            </a:r>
            <a:endParaRPr/>
          </a:p>
        </p:txBody>
      </p:sp>
      <p:sp>
        <p:nvSpPr>
          <p:cNvPr id="596" name="Google Shape;596;p43"/>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597" name="Google Shape;597;p43"/>
          <p:cNvSpPr txBox="1"/>
          <p:nvPr/>
        </p:nvSpPr>
        <p:spPr>
          <a:xfrm>
            <a:off x="762000" y="6448425"/>
            <a:ext cx="22669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RELIABLE SPREADSHEET EXTRACTION</a:t>
            </a:r>
            <a:endParaRPr/>
          </a:p>
        </p:txBody>
      </p:sp>
      <p:sp>
        <p:nvSpPr>
          <p:cNvPr id="598" name="Google Shape;598;p43"/>
          <p:cNvSpPr txBox="1"/>
          <p:nvPr/>
        </p:nvSpPr>
        <p:spPr>
          <a:xfrm>
            <a:off x="10534650" y="6448425"/>
            <a:ext cx="8953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31 OF 42</a:t>
            </a:r>
            <a:endParaRPr/>
          </a:p>
        </p:txBody>
      </p:sp>
      <p:sp>
        <p:nvSpPr>
          <p:cNvPr id="599" name="Google Shape;599;p43"/>
          <p:cNvSpPr txBox="1"/>
          <p:nvPr/>
        </p:nvSpPr>
        <p:spPr>
          <a:xfrm>
            <a:off x="1524000" y="29698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Parse Formula Values:</a:t>
            </a:r>
            <a:r>
              <a:rPr lang="en-US" sz="1350" b="0" i="0" u="none" strike="noStrike" cap="none">
                <a:solidFill>
                  <a:srgbClr val="334155"/>
                </a:solidFill>
                <a:latin typeface="Urbanist"/>
                <a:ea typeface="Urbanist"/>
                <a:cs typeface="Urbanist"/>
                <a:sym typeface="Urbanist"/>
              </a:rPr>
              <a:t> Toggle target extraction modes to fetch evaluated formula values rather than raw, unexecuted string expressions.</a:t>
            </a:r>
            <a:endParaRPr/>
          </a:p>
        </p:txBody>
      </p:sp>
      <p:sp>
        <p:nvSpPr>
          <p:cNvPr id="600" name="Google Shape;600;p43"/>
          <p:cNvSpPr txBox="1"/>
          <p:nvPr/>
        </p:nvSpPr>
        <p:spPr>
          <a:xfrm>
            <a:off x="1524000" y="36937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Header Integrity:</a:t>
            </a:r>
            <a:r>
              <a:rPr lang="en-US" sz="1350" b="0" i="0" u="none" strike="noStrike" cap="none">
                <a:solidFill>
                  <a:srgbClr val="334155"/>
                </a:solidFill>
                <a:latin typeface="Urbanist"/>
                <a:ea typeface="Urbanist"/>
                <a:cs typeface="Urbanist"/>
                <a:sym typeface="Urbanist"/>
              </a:rPr>
              <a:t> Set the 'Has Headers' flag consistently. Misconfigured header states can shift target data blocks, corrupting your output data.</a:t>
            </a:r>
            <a:endParaRPr/>
          </a:p>
        </p:txBody>
      </p:sp>
      <p:sp>
        <p:nvSpPr>
          <p:cNvPr id="601" name="Google Shape;601;p43"/>
          <p:cNvSpPr txBox="1"/>
          <p:nvPr/>
        </p:nvSpPr>
        <p:spPr>
          <a:xfrm>
            <a:off x="1524000" y="44176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Delimiter Protections:</a:t>
            </a:r>
            <a:r>
              <a:rPr lang="en-US" sz="1350" b="0" i="0" u="none" strike="noStrike" cap="none">
                <a:solidFill>
                  <a:srgbClr val="334155"/>
                </a:solidFill>
                <a:latin typeface="Urbanist"/>
                <a:ea typeface="Urbanist"/>
                <a:cs typeface="Urbanist"/>
                <a:sym typeface="Urbanist"/>
              </a:rPr>
              <a:t> When saving reports as CSV files, escape string commas to prevent layout break exceptions.</a:t>
            </a:r>
            <a:endParaRPr/>
          </a:p>
        </p:txBody>
      </p:sp>
      <p:pic>
        <p:nvPicPr>
          <p:cNvPr id="602" name="Google Shape;602;p43" descr="image.png"/>
          <p:cNvPicPr preferRelativeResize="0"/>
          <p:nvPr/>
        </p:nvPicPr>
        <p:blipFill rotWithShape="1">
          <a:blip r:embed="rId5">
            <a:alphaModFix/>
          </a:blip>
          <a:srcRect/>
          <a:stretch/>
        </p:blipFill>
        <p:spPr>
          <a:xfrm>
            <a:off x="1095375" y="3003202"/>
            <a:ext cx="209550" cy="219075"/>
          </a:xfrm>
          <a:prstGeom prst="rect">
            <a:avLst/>
          </a:prstGeom>
          <a:noFill/>
          <a:ln>
            <a:noFill/>
          </a:ln>
        </p:spPr>
      </p:pic>
      <p:pic>
        <p:nvPicPr>
          <p:cNvPr id="603" name="Google Shape;603;p43" descr="image.png"/>
          <p:cNvPicPr preferRelativeResize="0"/>
          <p:nvPr/>
        </p:nvPicPr>
        <p:blipFill rotWithShape="1">
          <a:blip r:embed="rId6">
            <a:alphaModFix/>
          </a:blip>
          <a:srcRect/>
          <a:stretch/>
        </p:blipFill>
        <p:spPr>
          <a:xfrm>
            <a:off x="1095375" y="3727102"/>
            <a:ext cx="209550" cy="219075"/>
          </a:xfrm>
          <a:prstGeom prst="rect">
            <a:avLst/>
          </a:prstGeom>
          <a:noFill/>
          <a:ln>
            <a:noFill/>
          </a:ln>
        </p:spPr>
      </p:pic>
      <p:pic>
        <p:nvPicPr>
          <p:cNvPr id="604" name="Google Shape;604;p43" descr="image.png"/>
          <p:cNvPicPr preferRelativeResize="0"/>
          <p:nvPr/>
        </p:nvPicPr>
        <p:blipFill rotWithShape="1">
          <a:blip r:embed="rId7">
            <a:alphaModFix/>
          </a:blip>
          <a:srcRect/>
          <a:stretch/>
        </p:blipFill>
        <p:spPr>
          <a:xfrm>
            <a:off x="1095375" y="4451002"/>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8"/>
          <a:stretch>
            <a:fillRect/>
          </a:stretch>
        </p:blipFill>
        <p:spPr>
          <a:xfrm>
            <a:off x="10242000" y="280000"/>
            <a:ext cx="1700000" cy="7160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08"/>
        <p:cNvGrpSpPr/>
        <p:nvPr/>
      </p:nvGrpSpPr>
      <p:grpSpPr>
        <a:xfrm>
          <a:off x="0" y="0"/>
          <a:ext cx="0" cy="0"/>
          <a:chOff x="0" y="0"/>
          <a:chExt cx="0" cy="0"/>
        </a:xfrm>
      </p:grpSpPr>
      <p:pic>
        <p:nvPicPr>
          <p:cNvPr id="609" name="Google Shape;609;p4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10" name="Google Shape;610;p44" descr="image.png"/>
          <p:cNvPicPr preferRelativeResize="0"/>
          <p:nvPr/>
        </p:nvPicPr>
        <p:blipFill rotWithShape="1">
          <a:blip r:embed="rId4">
            <a:alphaModFix/>
          </a:blip>
          <a:srcRect/>
          <a:stretch/>
        </p:blipFill>
        <p:spPr>
          <a:xfrm>
            <a:off x="762000" y="1567755"/>
            <a:ext cx="10668000" cy="4718744"/>
          </a:xfrm>
          <a:prstGeom prst="rect">
            <a:avLst/>
          </a:prstGeom>
          <a:noFill/>
          <a:ln>
            <a:noFill/>
          </a:ln>
        </p:spPr>
      </p:pic>
      <p:pic>
        <p:nvPicPr>
          <p:cNvPr id="611" name="Google Shape;611;p44" descr="image.png"/>
          <p:cNvPicPr preferRelativeResize="0"/>
          <p:nvPr/>
        </p:nvPicPr>
        <p:blipFill rotWithShape="1">
          <a:blip r:embed="rId5">
            <a:alphaModFix/>
          </a:blip>
          <a:srcRect l="1746" r="1747"/>
          <a:stretch/>
        </p:blipFill>
        <p:spPr>
          <a:xfrm>
            <a:off x="762000" y="6296025"/>
            <a:ext cx="10668000" cy="323850"/>
          </a:xfrm>
          <a:prstGeom prst="rect">
            <a:avLst/>
          </a:prstGeom>
          <a:noFill/>
          <a:ln>
            <a:noFill/>
          </a:ln>
        </p:spPr>
      </p:pic>
      <p:sp>
        <p:nvSpPr>
          <p:cNvPr id="612" name="Google Shape;612;p44"/>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PERFORMANCE TUNING</a:t>
            </a:r>
            <a:endParaRPr/>
          </a:p>
        </p:txBody>
      </p:sp>
      <p:sp>
        <p:nvSpPr>
          <p:cNvPr id="613" name="Google Shape;613;p44"/>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Optimizing Large Sheets</a:t>
            </a:r>
            <a:endParaRPr/>
          </a:p>
        </p:txBody>
      </p:sp>
      <p:sp>
        <p:nvSpPr>
          <p:cNvPr id="614" name="Google Shape;614;p44"/>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15" name="Google Shape;615;p44"/>
          <p:cNvSpPr txBox="1"/>
          <p:nvPr/>
        </p:nvSpPr>
        <p:spPr>
          <a:xfrm>
            <a:off x="762000" y="4893915"/>
            <a:ext cx="10668000"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1" u="none" strike="noStrike" cap="none">
                <a:solidFill>
                  <a:srgbClr val="64748B"/>
                </a:solidFill>
                <a:latin typeface="Urbanist"/>
                <a:ea typeface="Urbanist"/>
                <a:cs typeface="Urbanist"/>
                <a:sym typeface="Urbanist"/>
              </a:rPr>
              <a:t>Dumping structured datasets directly to spreadsheets in a single bulk operation is significantly faster than writing to individual cells sequentially inside a loop.</a:t>
            </a:r>
            <a:endParaRPr/>
          </a:p>
        </p:txBody>
      </p:sp>
      <p:sp>
        <p:nvSpPr>
          <p:cNvPr id="616" name="Google Shape;616;p44"/>
          <p:cNvSpPr txBox="1"/>
          <p:nvPr/>
        </p:nvSpPr>
        <p:spPr>
          <a:xfrm>
            <a:off x="762000" y="6448425"/>
            <a:ext cx="19050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LARGE DATASET BENCHMARKS</a:t>
            </a:r>
            <a:endParaRPr/>
          </a:p>
        </p:txBody>
      </p:sp>
      <p:sp>
        <p:nvSpPr>
          <p:cNvPr id="617" name="Google Shape;617;p44"/>
          <p:cNvSpPr txBox="1"/>
          <p:nvPr/>
        </p:nvSpPr>
        <p:spPr>
          <a:xfrm>
            <a:off x="10506075" y="6448425"/>
            <a:ext cx="923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32 OF 42</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21"/>
        <p:cNvGrpSpPr/>
        <p:nvPr/>
      </p:nvGrpSpPr>
      <p:grpSpPr>
        <a:xfrm>
          <a:off x="0" y="0"/>
          <a:ext cx="0" cy="0"/>
          <a:chOff x="0" y="0"/>
          <a:chExt cx="0" cy="0"/>
        </a:xfrm>
      </p:grpSpPr>
      <p:pic>
        <p:nvPicPr>
          <p:cNvPr id="623" name="Google Shape;623;p45" descr="image.png"/>
          <p:cNvPicPr preferRelativeResize="0"/>
          <p:nvPr/>
        </p:nvPicPr>
        <p:blipFill rotWithShape="1">
          <a:blip r:embed="rId3">
            <a:alphaModFix/>
          </a:blip>
          <a:srcRect l="1745" r="1748"/>
          <a:stretch/>
        </p:blipFill>
        <p:spPr>
          <a:xfrm>
            <a:off x="762000" y="6296025"/>
            <a:ext cx="10668000" cy="323850"/>
          </a:xfrm>
          <a:prstGeom prst="rect">
            <a:avLst/>
          </a:prstGeom>
          <a:noFill/>
          <a:ln>
            <a:noFill/>
          </a:ln>
        </p:spPr>
      </p:pic>
      <p:sp>
        <p:nvSpPr>
          <p:cNvPr id="624" name="Google Shape;624;p45"/>
          <p:cNvSpPr txBox="1"/>
          <p:nvPr/>
        </p:nvSpPr>
        <p:spPr>
          <a:xfrm>
            <a:off x="5624512" y="2524125"/>
            <a:ext cx="942975" cy="16158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SECTION III</a:t>
            </a:r>
            <a:endParaRPr/>
          </a:p>
        </p:txBody>
      </p:sp>
      <p:sp>
        <p:nvSpPr>
          <p:cNvPr id="625" name="Google Shape;625;p45"/>
          <p:cNvSpPr txBox="1"/>
          <p:nvPr/>
        </p:nvSpPr>
        <p:spPr>
          <a:xfrm>
            <a:off x="1320403" y="2800350"/>
            <a:ext cx="9551193" cy="600164"/>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3900" b="1" i="0" u="none" strike="noStrike" cap="none">
                <a:solidFill>
                  <a:srgbClr val="1F3864"/>
                </a:solidFill>
                <a:latin typeface="Urbanist"/>
                <a:ea typeface="Urbanist"/>
                <a:cs typeface="Urbanist"/>
                <a:sym typeface="Urbanist"/>
              </a:rPr>
              <a:t>PDF Automation: Extracting Insights</a:t>
            </a:r>
            <a:endParaRPr/>
          </a:p>
        </p:txBody>
      </p:sp>
      <p:sp>
        <p:nvSpPr>
          <p:cNvPr id="626" name="Google Shape;626;p45"/>
          <p:cNvSpPr txBox="1"/>
          <p:nvPr/>
        </p:nvSpPr>
        <p:spPr>
          <a:xfrm>
            <a:off x="2205037" y="4152900"/>
            <a:ext cx="7781925" cy="184666"/>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200" b="0" i="0" u="none" strike="noStrike" cap="none">
                <a:solidFill>
                  <a:srgbClr val="475569"/>
                </a:solidFill>
                <a:latin typeface="Urbanist"/>
                <a:ea typeface="Urbanist"/>
                <a:cs typeface="Urbanist"/>
                <a:sym typeface="Urbanist"/>
              </a:rPr>
              <a:t>Extracting insights using Native text parsers, OCR engines, dynamic string formatting, and Regex structural sanitization.</a:t>
            </a:r>
            <a:endParaRPr/>
          </a:p>
        </p:txBody>
      </p:sp>
      <p:sp>
        <p:nvSpPr>
          <p:cNvPr id="627" name="Google Shape;627;p45"/>
          <p:cNvSpPr txBox="1"/>
          <p:nvPr/>
        </p:nvSpPr>
        <p:spPr>
          <a:xfrm>
            <a:off x="762000" y="6448425"/>
            <a:ext cx="23526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DOCUMENT INTELLIGENT PROCESSING</a:t>
            </a:r>
            <a:endParaRPr/>
          </a:p>
        </p:txBody>
      </p:sp>
      <p:sp>
        <p:nvSpPr>
          <p:cNvPr id="628" name="Google Shape;628;p45"/>
          <p:cNvSpPr txBox="1"/>
          <p:nvPr/>
        </p:nvSpPr>
        <p:spPr>
          <a:xfrm>
            <a:off x="10506075" y="6448425"/>
            <a:ext cx="923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64748B"/>
                </a:solidFill>
                <a:latin typeface="Urbanist"/>
                <a:ea typeface="Urbanist"/>
                <a:cs typeface="Urbanist"/>
                <a:sym typeface="Urbanist"/>
              </a:rPr>
              <a:t>SLIDE 33 OF 42</a:t>
            </a:r>
            <a:endParaRPr/>
          </a:p>
        </p:txBody>
      </p:sp>
      <p:pic>
        <p:nvPicPr>
          <p:cNvPr id="9001" name="RAYA Logo"/>
          <p:cNvPicPr>
            <a:picLocks noChangeAspect="1"/>
          </p:cNvPicPr>
          <p:nvPr/>
        </p:nvPicPr>
        <p:blipFill>
          <a:blip r:embed="rId4"/>
          <a:stretch>
            <a:fillRect/>
          </a:stretch>
        </p:blipFill>
        <p:spPr>
          <a:xfrm>
            <a:off x="10242000" y="280000"/>
            <a:ext cx="1700000" cy="716000"/>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32"/>
        <p:cNvGrpSpPr/>
        <p:nvPr/>
      </p:nvGrpSpPr>
      <p:grpSpPr>
        <a:xfrm>
          <a:off x="0" y="0"/>
          <a:ext cx="0" cy="0"/>
          <a:chOff x="0" y="0"/>
          <a:chExt cx="0" cy="0"/>
        </a:xfrm>
      </p:grpSpPr>
      <p:pic>
        <p:nvPicPr>
          <p:cNvPr id="633" name="Google Shape;633;p46"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34" name="Google Shape;634;p46"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635" name="Google Shape;635;p46" descr="image.png"/>
          <p:cNvPicPr preferRelativeResize="0"/>
          <p:nvPr/>
        </p:nvPicPr>
        <p:blipFill rotWithShape="1">
          <a:blip r:embed="rId5">
            <a:alphaModFix/>
          </a:blip>
          <a:srcRect/>
          <a:stretch/>
        </p:blipFill>
        <p:spPr>
          <a:xfrm>
            <a:off x="762000" y="2907952"/>
            <a:ext cx="5143500" cy="2038350"/>
          </a:xfrm>
          <a:prstGeom prst="rect">
            <a:avLst/>
          </a:prstGeom>
          <a:noFill/>
          <a:ln>
            <a:noFill/>
          </a:ln>
        </p:spPr>
      </p:pic>
      <p:pic>
        <p:nvPicPr>
          <p:cNvPr id="636" name="Google Shape;636;p46" descr="image.png"/>
          <p:cNvPicPr preferRelativeResize="0"/>
          <p:nvPr/>
        </p:nvPicPr>
        <p:blipFill rotWithShape="1">
          <a:blip r:embed="rId6">
            <a:alphaModFix/>
          </a:blip>
          <a:srcRect/>
          <a:stretch/>
        </p:blipFill>
        <p:spPr>
          <a:xfrm>
            <a:off x="6286500" y="2907952"/>
            <a:ext cx="5143500" cy="2038350"/>
          </a:xfrm>
          <a:prstGeom prst="rect">
            <a:avLst/>
          </a:prstGeom>
          <a:noFill/>
          <a:ln>
            <a:noFill/>
          </a:ln>
        </p:spPr>
      </p:pic>
      <p:sp>
        <p:nvSpPr>
          <p:cNvPr id="637" name="Google Shape;637;p46"/>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CLASSIFICATION STRATEGY</a:t>
            </a:r>
            <a:endParaRPr/>
          </a:p>
        </p:txBody>
      </p:sp>
      <p:sp>
        <p:nvSpPr>
          <p:cNvPr id="638" name="Google Shape;638;p46"/>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Native vs Scanned PDFs</a:t>
            </a:r>
            <a:endParaRPr/>
          </a:p>
        </p:txBody>
      </p:sp>
      <p:sp>
        <p:nvSpPr>
          <p:cNvPr id="639" name="Google Shape;639;p46"/>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40" name="Google Shape;640;p46"/>
          <p:cNvSpPr txBox="1"/>
          <p:nvPr/>
        </p:nvSpPr>
        <p:spPr>
          <a:xfrm>
            <a:off x="762000" y="6448425"/>
            <a:ext cx="19812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INPUT STREAM CLASSIFICATION</a:t>
            </a:r>
            <a:endParaRPr/>
          </a:p>
        </p:txBody>
      </p:sp>
      <p:sp>
        <p:nvSpPr>
          <p:cNvPr id="641" name="Google Shape;641;p46"/>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34 OF 42</a:t>
            </a:r>
            <a:endParaRPr/>
          </a:p>
        </p:txBody>
      </p:sp>
      <p:sp>
        <p:nvSpPr>
          <p:cNvPr id="642" name="Google Shape;642;p46"/>
          <p:cNvSpPr txBox="1"/>
          <p:nvPr/>
        </p:nvSpPr>
        <p:spPr>
          <a:xfrm>
            <a:off x="10572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Native Format Strategy</a:t>
            </a:r>
            <a:endParaRPr/>
          </a:p>
        </p:txBody>
      </p:sp>
      <p:sp>
        <p:nvSpPr>
          <p:cNvPr id="643" name="Google Shape;643;p46"/>
          <p:cNvSpPr txBox="1"/>
          <p:nvPr/>
        </p:nvSpPr>
        <p:spPr>
          <a:xfrm>
            <a:off x="1057275" y="3679477"/>
            <a:ext cx="4552950" cy="1177245"/>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Native PDFs generated directly from software contain digital text vectors. This allow rapid, 100% accurate extraction via direct programmatic reads, completely bypassing CPU-heavy OCR translation engines.</a:t>
            </a:r>
            <a:endParaRPr/>
          </a:p>
        </p:txBody>
      </p:sp>
      <p:sp>
        <p:nvSpPr>
          <p:cNvPr id="644" name="Google Shape;644;p46"/>
          <p:cNvSpPr txBox="1"/>
          <p:nvPr/>
        </p:nvSpPr>
        <p:spPr>
          <a:xfrm>
            <a:off x="6581775" y="3203227"/>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Scanned Image Strategy</a:t>
            </a:r>
            <a:endParaRPr/>
          </a:p>
        </p:txBody>
      </p:sp>
      <p:sp>
        <p:nvSpPr>
          <p:cNvPr id="645" name="Google Shape;645;p46"/>
          <p:cNvSpPr txBox="1"/>
          <p:nvPr/>
        </p:nvSpPr>
        <p:spPr>
          <a:xfrm>
            <a:off x="6581775" y="3679477"/>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Scanned PDFs and photographs store document structures as flat raster images. These formats require Optical Character Recognition (OCR) to dynamically translate pixel shapes into string data.</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49"/>
        <p:cNvGrpSpPr/>
        <p:nvPr/>
      </p:nvGrpSpPr>
      <p:grpSpPr>
        <a:xfrm>
          <a:off x="0" y="0"/>
          <a:ext cx="0" cy="0"/>
          <a:chOff x="0" y="0"/>
          <a:chExt cx="0" cy="0"/>
        </a:xfrm>
      </p:grpSpPr>
      <p:pic>
        <p:nvPicPr>
          <p:cNvPr id="650" name="Google Shape;650;p4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51" name="Google Shape;651;p47"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652" name="Google Shape;652;p47"/>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HIGH-SPEED PARSING</a:t>
            </a:r>
            <a:endParaRPr/>
          </a:p>
        </p:txBody>
      </p:sp>
      <p:sp>
        <p:nvSpPr>
          <p:cNvPr id="653" name="Google Shape;653;p47"/>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Read PDF Text Operations</a:t>
            </a:r>
            <a:endParaRPr/>
          </a:p>
        </p:txBody>
      </p:sp>
      <p:sp>
        <p:nvSpPr>
          <p:cNvPr id="654" name="Google Shape;654;p47"/>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55" name="Google Shape;655;p47"/>
          <p:cNvSpPr txBox="1"/>
          <p:nvPr/>
        </p:nvSpPr>
        <p:spPr>
          <a:xfrm>
            <a:off x="762000" y="6448425"/>
            <a:ext cx="15811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NATIVE VECTOR PARSING</a:t>
            </a:r>
            <a:endParaRPr/>
          </a:p>
        </p:txBody>
      </p:sp>
      <p:sp>
        <p:nvSpPr>
          <p:cNvPr id="656" name="Google Shape;656;p47"/>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35 OF 42</a:t>
            </a:r>
            <a:endParaRPr/>
          </a:p>
        </p:txBody>
      </p:sp>
      <p:sp>
        <p:nvSpPr>
          <p:cNvPr id="657" name="Google Shape;657;p47"/>
          <p:cNvSpPr txBox="1"/>
          <p:nvPr/>
        </p:nvSpPr>
        <p:spPr>
          <a:xfrm>
            <a:off x="1524000" y="3098452"/>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Execution Velocity:</a:t>
            </a:r>
            <a:r>
              <a:rPr lang="en-US" sz="1350" b="0" i="0" u="none" strike="noStrike" cap="none">
                <a:solidFill>
                  <a:srgbClr val="334155"/>
                </a:solidFill>
                <a:latin typeface="Urbanist"/>
                <a:ea typeface="Urbanist"/>
                <a:cs typeface="Urbanist"/>
                <a:sym typeface="Urbanist"/>
              </a:rPr>
              <a:t> Programmatically reads native digital vectors. This approach is highly performant, requiring only a fraction of the time needed for OCR tasks.</a:t>
            </a:r>
            <a:endParaRPr/>
          </a:p>
        </p:txBody>
      </p:sp>
      <p:sp>
        <p:nvSpPr>
          <p:cNvPr id="658" name="Google Shape;658;p47"/>
          <p:cNvSpPr txBox="1"/>
          <p:nvPr/>
        </p:nvSpPr>
        <p:spPr>
          <a:xfrm>
            <a:off x="1524000" y="3822352"/>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Character Accuracy:</a:t>
            </a:r>
            <a:r>
              <a:rPr lang="en-US" sz="1350" b="0" i="0" u="none" strike="noStrike" cap="none">
                <a:solidFill>
                  <a:srgbClr val="334155"/>
                </a:solidFill>
                <a:latin typeface="Urbanist"/>
                <a:ea typeface="Urbanist"/>
                <a:cs typeface="Urbanist"/>
                <a:sym typeface="Urbanist"/>
              </a:rPr>
              <a:t> Guarantees 100% character conversion accuracy, completely avoiding font translation or spacing errors.</a:t>
            </a:r>
            <a:endParaRPr/>
          </a:p>
        </p:txBody>
      </p:sp>
      <p:sp>
        <p:nvSpPr>
          <p:cNvPr id="659" name="Google Shape;659;p47"/>
          <p:cNvSpPr txBox="1"/>
          <p:nvPr/>
        </p:nvSpPr>
        <p:spPr>
          <a:xfrm>
            <a:off x="1524000" y="4546252"/>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Page Range Filtering:</a:t>
            </a:r>
            <a:r>
              <a:rPr lang="en-US" sz="1350" b="0" i="0" u="none" strike="noStrike" cap="none">
                <a:solidFill>
                  <a:srgbClr val="334155"/>
                </a:solidFill>
                <a:latin typeface="Urbanist"/>
                <a:ea typeface="Urbanist"/>
                <a:cs typeface="Urbanist"/>
                <a:sym typeface="Urbanist"/>
              </a:rPr>
              <a:t> Read only specific targeted page ranges (e.g. "1, 3-5") to significantly reduce processor strain.</a:t>
            </a:r>
            <a:endParaRPr/>
          </a:p>
        </p:txBody>
      </p:sp>
      <p:pic>
        <p:nvPicPr>
          <p:cNvPr id="660" name="Google Shape;660;p47" descr="image.png"/>
          <p:cNvPicPr preferRelativeResize="0"/>
          <p:nvPr/>
        </p:nvPicPr>
        <p:blipFill rotWithShape="1">
          <a:blip r:embed="rId5">
            <a:alphaModFix/>
          </a:blip>
          <a:srcRect/>
          <a:stretch/>
        </p:blipFill>
        <p:spPr>
          <a:xfrm>
            <a:off x="1095375" y="3855690"/>
            <a:ext cx="209550" cy="219075"/>
          </a:xfrm>
          <a:prstGeom prst="rect">
            <a:avLst/>
          </a:prstGeom>
          <a:noFill/>
          <a:ln>
            <a:noFill/>
          </a:ln>
        </p:spPr>
      </p:pic>
      <p:pic>
        <p:nvPicPr>
          <p:cNvPr id="661" name="Google Shape;661;p47" descr="image.png"/>
          <p:cNvPicPr preferRelativeResize="0"/>
          <p:nvPr/>
        </p:nvPicPr>
        <p:blipFill rotWithShape="1">
          <a:blip r:embed="rId6">
            <a:alphaModFix/>
          </a:blip>
          <a:srcRect/>
          <a:stretch/>
        </p:blipFill>
        <p:spPr>
          <a:xfrm>
            <a:off x="1095375" y="4579589"/>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7"/>
          <a:stretch>
            <a:fillRect/>
          </a:stretch>
        </p:blipFill>
        <p:spPr>
          <a:xfrm>
            <a:off x="10242000" y="280000"/>
            <a:ext cx="1700000" cy="71600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65"/>
        <p:cNvGrpSpPr/>
        <p:nvPr/>
      </p:nvGrpSpPr>
      <p:grpSpPr>
        <a:xfrm>
          <a:off x="0" y="0"/>
          <a:ext cx="0" cy="0"/>
          <a:chOff x="0" y="0"/>
          <a:chExt cx="0" cy="0"/>
        </a:xfrm>
      </p:grpSpPr>
      <p:pic>
        <p:nvPicPr>
          <p:cNvPr id="666" name="Google Shape;666;p48"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67" name="Google Shape;667;p48"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668" name="Google Shape;668;p48" descr="image.png"/>
          <p:cNvPicPr preferRelativeResize="0"/>
          <p:nvPr/>
        </p:nvPicPr>
        <p:blipFill rotWithShape="1">
          <a:blip r:embed="rId5">
            <a:alphaModFix/>
          </a:blip>
          <a:srcRect/>
          <a:stretch/>
        </p:blipFill>
        <p:spPr>
          <a:xfrm>
            <a:off x="6286500" y="2117377"/>
            <a:ext cx="5143500" cy="3619500"/>
          </a:xfrm>
          <a:prstGeom prst="rect">
            <a:avLst/>
          </a:prstGeom>
          <a:noFill/>
          <a:ln>
            <a:noFill/>
          </a:ln>
        </p:spPr>
      </p:pic>
      <p:sp>
        <p:nvSpPr>
          <p:cNvPr id="669" name="Google Shape;669;p48"/>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IMAGE TRANSLATION</a:t>
            </a:r>
            <a:endParaRPr/>
          </a:p>
        </p:txBody>
      </p:sp>
      <p:sp>
        <p:nvSpPr>
          <p:cNvPr id="670" name="Google Shape;670;p48"/>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Read PDF with OCR</a:t>
            </a:r>
            <a:endParaRPr/>
          </a:p>
        </p:txBody>
      </p:sp>
      <p:sp>
        <p:nvSpPr>
          <p:cNvPr id="671" name="Google Shape;671;p48"/>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72" name="Google Shape;672;p48"/>
          <p:cNvSpPr txBox="1"/>
          <p:nvPr/>
        </p:nvSpPr>
        <p:spPr>
          <a:xfrm>
            <a:off x="762000" y="6448425"/>
            <a:ext cx="16478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OCR ENGINE INTEGRATION</a:t>
            </a:r>
            <a:endParaRPr/>
          </a:p>
        </p:txBody>
      </p:sp>
      <p:sp>
        <p:nvSpPr>
          <p:cNvPr id="673" name="Google Shape;673;p48"/>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36 OF 42</a:t>
            </a:r>
            <a:endParaRPr/>
          </a:p>
        </p:txBody>
      </p:sp>
      <p:pic>
        <p:nvPicPr>
          <p:cNvPr id="674" name="Google Shape;674;p48" descr="image.png"/>
          <p:cNvPicPr preferRelativeResize="0"/>
          <p:nvPr/>
        </p:nvPicPr>
        <p:blipFill rotWithShape="1">
          <a:blip r:embed="rId6">
            <a:alphaModFix/>
          </a:blip>
          <a:srcRect/>
          <a:stretch/>
        </p:blipFill>
        <p:spPr>
          <a:xfrm>
            <a:off x="6296025" y="2126902"/>
            <a:ext cx="5124450" cy="3600450"/>
          </a:xfrm>
          <a:prstGeom prst="rect">
            <a:avLst/>
          </a:prstGeom>
          <a:noFill/>
          <a:ln>
            <a:noFill/>
          </a:ln>
        </p:spPr>
      </p:pic>
      <p:sp>
        <p:nvSpPr>
          <p:cNvPr id="675" name="Google Shape;675;p48"/>
          <p:cNvSpPr txBox="1"/>
          <p:nvPr/>
        </p:nvSpPr>
        <p:spPr>
          <a:xfrm>
            <a:off x="1190625" y="2712690"/>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Optical Analysis:</a:t>
            </a:r>
            <a:r>
              <a:rPr lang="en-US" sz="1350" b="0" i="0" u="none" strike="noStrike" cap="none">
                <a:solidFill>
                  <a:srgbClr val="334155"/>
                </a:solidFill>
                <a:latin typeface="Urbanist"/>
                <a:ea typeface="Urbanist"/>
                <a:cs typeface="Urbanist"/>
                <a:sym typeface="Urbanist"/>
              </a:rPr>
              <a:t> Analyzes raster images, converting detected shapes into machine-readable text blocks.</a:t>
            </a:r>
            <a:endParaRPr/>
          </a:p>
        </p:txBody>
      </p:sp>
      <p:sp>
        <p:nvSpPr>
          <p:cNvPr id="676" name="Google Shape;676;p48"/>
          <p:cNvSpPr txBox="1"/>
          <p:nvPr/>
        </p:nvSpPr>
        <p:spPr>
          <a:xfrm>
            <a:off x="1190625" y="3436590"/>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Contrast Scaling:</a:t>
            </a:r>
            <a:r>
              <a:rPr lang="en-US" sz="1350" b="0" i="0" u="none" strike="noStrike" cap="none">
                <a:solidFill>
                  <a:srgbClr val="334155"/>
                </a:solidFill>
                <a:latin typeface="Urbanist"/>
                <a:ea typeface="Urbanist"/>
                <a:cs typeface="Urbanist"/>
                <a:sym typeface="Urbanist"/>
              </a:rPr>
              <a:t> Apply scaling parameters to enhance low-quality, blurry scanned documents.</a:t>
            </a:r>
            <a:endParaRPr/>
          </a:p>
        </p:txBody>
      </p:sp>
      <p:sp>
        <p:nvSpPr>
          <p:cNvPr id="677" name="Google Shape;677;p48"/>
          <p:cNvSpPr txBox="1"/>
          <p:nvPr/>
        </p:nvSpPr>
        <p:spPr>
          <a:xfrm>
            <a:off x="1190625" y="4160490"/>
            <a:ext cx="471487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Engine Customization:</a:t>
            </a:r>
            <a:r>
              <a:rPr lang="en-US" sz="1350" b="0" i="0" u="none" strike="noStrike" cap="none">
                <a:solidFill>
                  <a:srgbClr val="334155"/>
                </a:solidFill>
                <a:latin typeface="Urbanist"/>
                <a:ea typeface="Urbanist"/>
                <a:cs typeface="Urbanist"/>
                <a:sym typeface="Urbanist"/>
              </a:rPr>
              <a:t> Swap engines dynamically (OmniPage, UiPath OCR, Tesseract) to optimize processing for complex layouts.</a:t>
            </a:r>
            <a:endParaRPr/>
          </a:p>
        </p:txBody>
      </p:sp>
      <p:pic>
        <p:nvPicPr>
          <p:cNvPr id="678" name="Google Shape;678;p48" descr="image.png"/>
          <p:cNvPicPr preferRelativeResize="0"/>
          <p:nvPr/>
        </p:nvPicPr>
        <p:blipFill rotWithShape="1">
          <a:blip r:embed="rId7">
            <a:alphaModFix/>
          </a:blip>
          <a:srcRect/>
          <a:stretch/>
        </p:blipFill>
        <p:spPr>
          <a:xfrm>
            <a:off x="762000" y="2746027"/>
            <a:ext cx="238125" cy="219075"/>
          </a:xfrm>
          <a:prstGeom prst="rect">
            <a:avLst/>
          </a:prstGeom>
          <a:noFill/>
          <a:ln>
            <a:noFill/>
          </a:ln>
        </p:spPr>
      </p:pic>
      <p:pic>
        <p:nvPicPr>
          <p:cNvPr id="679" name="Google Shape;679;p48" descr="image.png"/>
          <p:cNvPicPr preferRelativeResize="0"/>
          <p:nvPr/>
        </p:nvPicPr>
        <p:blipFill rotWithShape="1">
          <a:blip r:embed="rId8">
            <a:alphaModFix/>
          </a:blip>
          <a:srcRect/>
          <a:stretch/>
        </p:blipFill>
        <p:spPr>
          <a:xfrm>
            <a:off x="762000" y="3469927"/>
            <a:ext cx="209550" cy="219075"/>
          </a:xfrm>
          <a:prstGeom prst="rect">
            <a:avLst/>
          </a:prstGeom>
          <a:noFill/>
          <a:ln>
            <a:noFill/>
          </a:ln>
        </p:spPr>
      </p:pic>
      <p:pic>
        <p:nvPicPr>
          <p:cNvPr id="680" name="Google Shape;680;p48" descr="image.png"/>
          <p:cNvPicPr preferRelativeResize="0"/>
          <p:nvPr/>
        </p:nvPicPr>
        <p:blipFill rotWithShape="1">
          <a:blip r:embed="rId9">
            <a:alphaModFix/>
          </a:blip>
          <a:srcRect/>
          <a:stretch/>
        </p:blipFill>
        <p:spPr>
          <a:xfrm>
            <a:off x="762000" y="4193827"/>
            <a:ext cx="26670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0"/>
          <a:stretch>
            <a:fillRect/>
          </a:stretch>
        </p:blipFill>
        <p:spPr>
          <a:xfrm>
            <a:off x="10242000" y="280000"/>
            <a:ext cx="1700000" cy="71600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684"/>
        <p:cNvGrpSpPr/>
        <p:nvPr/>
      </p:nvGrpSpPr>
      <p:grpSpPr>
        <a:xfrm>
          <a:off x="0" y="0"/>
          <a:ext cx="0" cy="0"/>
          <a:chOff x="0" y="0"/>
          <a:chExt cx="0" cy="0"/>
        </a:xfrm>
      </p:grpSpPr>
      <p:pic>
        <p:nvPicPr>
          <p:cNvPr id="685" name="Google Shape;685;p4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686" name="Google Shape;686;p49"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687" name="Google Shape;687;p49" descr="image.png"/>
          <p:cNvPicPr preferRelativeResize="0"/>
          <p:nvPr/>
        </p:nvPicPr>
        <p:blipFill rotWithShape="1">
          <a:blip r:embed="rId5">
            <a:alphaModFix/>
          </a:blip>
          <a:srcRect/>
          <a:stretch/>
        </p:blipFill>
        <p:spPr>
          <a:xfrm>
            <a:off x="762000" y="2815083"/>
            <a:ext cx="3397299" cy="2224087"/>
          </a:xfrm>
          <a:prstGeom prst="rect">
            <a:avLst/>
          </a:prstGeom>
          <a:noFill/>
          <a:ln>
            <a:noFill/>
          </a:ln>
        </p:spPr>
      </p:pic>
      <p:pic>
        <p:nvPicPr>
          <p:cNvPr id="688" name="Google Shape;688;p49" descr="image.png"/>
          <p:cNvPicPr preferRelativeResize="0"/>
          <p:nvPr/>
        </p:nvPicPr>
        <p:blipFill rotWithShape="1">
          <a:blip r:embed="rId6">
            <a:alphaModFix/>
          </a:blip>
          <a:srcRect/>
          <a:stretch/>
        </p:blipFill>
        <p:spPr>
          <a:xfrm>
            <a:off x="4397424" y="2815083"/>
            <a:ext cx="3397299" cy="2224087"/>
          </a:xfrm>
          <a:prstGeom prst="rect">
            <a:avLst/>
          </a:prstGeom>
          <a:noFill/>
          <a:ln>
            <a:noFill/>
          </a:ln>
        </p:spPr>
      </p:pic>
      <p:pic>
        <p:nvPicPr>
          <p:cNvPr id="689" name="Google Shape;689;p49" descr="image.png"/>
          <p:cNvPicPr preferRelativeResize="0"/>
          <p:nvPr/>
        </p:nvPicPr>
        <p:blipFill rotWithShape="1">
          <a:blip r:embed="rId7">
            <a:alphaModFix/>
          </a:blip>
          <a:srcRect/>
          <a:stretch/>
        </p:blipFill>
        <p:spPr>
          <a:xfrm>
            <a:off x="8032849" y="2815083"/>
            <a:ext cx="3397299" cy="2224087"/>
          </a:xfrm>
          <a:prstGeom prst="rect">
            <a:avLst/>
          </a:prstGeom>
          <a:noFill/>
          <a:ln>
            <a:noFill/>
          </a:ln>
        </p:spPr>
      </p:pic>
      <p:sp>
        <p:nvSpPr>
          <p:cNvPr id="690" name="Google Shape;690;p49"/>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DATA SANITIZATION</a:t>
            </a:r>
            <a:endParaRPr/>
          </a:p>
        </p:txBody>
      </p:sp>
      <p:sp>
        <p:nvSpPr>
          <p:cNvPr id="691" name="Google Shape;691;p49"/>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Data Cleaning &amp; Sanitizing</a:t>
            </a:r>
            <a:endParaRPr/>
          </a:p>
        </p:txBody>
      </p:sp>
      <p:sp>
        <p:nvSpPr>
          <p:cNvPr id="692" name="Google Shape;692;p49"/>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693" name="Google Shape;693;p49"/>
          <p:cNvSpPr txBox="1"/>
          <p:nvPr/>
        </p:nvSpPr>
        <p:spPr>
          <a:xfrm>
            <a:off x="762000" y="6448425"/>
            <a:ext cx="17145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METADATA NORMALIZATION</a:t>
            </a:r>
            <a:endParaRPr/>
          </a:p>
        </p:txBody>
      </p:sp>
      <p:sp>
        <p:nvSpPr>
          <p:cNvPr id="694" name="Google Shape;694;p49"/>
          <p:cNvSpPr txBox="1"/>
          <p:nvPr/>
        </p:nvSpPr>
        <p:spPr>
          <a:xfrm>
            <a:off x="10506075" y="6448425"/>
            <a:ext cx="923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37 OF 42</a:t>
            </a:r>
            <a:endParaRPr/>
          </a:p>
        </p:txBody>
      </p:sp>
      <p:sp>
        <p:nvSpPr>
          <p:cNvPr id="695" name="Google Shape;695;p49"/>
          <p:cNvSpPr txBox="1"/>
          <p:nvPr/>
        </p:nvSpPr>
        <p:spPr>
          <a:xfrm>
            <a:off x="1009650" y="3700908"/>
            <a:ext cx="1380172"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String.Trim()</a:t>
            </a:r>
            <a:endParaRPr/>
          </a:p>
        </p:txBody>
      </p:sp>
      <p:sp>
        <p:nvSpPr>
          <p:cNvPr id="696" name="Google Shape;696;p49"/>
          <p:cNvSpPr txBox="1"/>
          <p:nvPr/>
        </p:nvSpPr>
        <p:spPr>
          <a:xfrm>
            <a:off x="1009650" y="4100958"/>
            <a:ext cx="2901999" cy="519373"/>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Removes all leading and trailing whitespaces and unneeded line break codes from parsed outputs.</a:t>
            </a:r>
            <a:endParaRPr/>
          </a:p>
        </p:txBody>
      </p:sp>
      <p:sp>
        <p:nvSpPr>
          <p:cNvPr id="697" name="Google Shape;697;p49"/>
          <p:cNvSpPr txBox="1"/>
          <p:nvPr/>
        </p:nvSpPr>
        <p:spPr>
          <a:xfrm>
            <a:off x="4645074" y="3700908"/>
            <a:ext cx="1370171"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String.Split()</a:t>
            </a:r>
            <a:endParaRPr/>
          </a:p>
        </p:txBody>
      </p:sp>
      <p:sp>
        <p:nvSpPr>
          <p:cNvPr id="698" name="Google Shape;698;p49"/>
          <p:cNvSpPr txBox="1"/>
          <p:nvPr/>
        </p:nvSpPr>
        <p:spPr>
          <a:xfrm>
            <a:off x="4645074"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Splits extracted raw text streams into indexed arrays based on defined characters (e.g., system newlines).</a:t>
            </a:r>
            <a:endParaRPr/>
          </a:p>
        </p:txBody>
      </p:sp>
      <p:sp>
        <p:nvSpPr>
          <p:cNvPr id="699" name="Google Shape;699;p49"/>
          <p:cNvSpPr txBox="1"/>
          <p:nvPr/>
        </p:nvSpPr>
        <p:spPr>
          <a:xfrm>
            <a:off x="8280499" y="3700908"/>
            <a:ext cx="120015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Regex Filter</a:t>
            </a:r>
            <a:endParaRPr/>
          </a:p>
        </p:txBody>
      </p:sp>
      <p:sp>
        <p:nvSpPr>
          <p:cNvPr id="700" name="Google Shape;700;p49"/>
          <p:cNvSpPr txBox="1"/>
          <p:nvPr/>
        </p:nvSpPr>
        <p:spPr>
          <a:xfrm>
            <a:off x="8280499" y="4100958"/>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Applies powerful pattern-matching logic to target and extract exact keys like Invoice IDs or Purchase Orders.</a:t>
            </a:r>
            <a:endParaRPr/>
          </a:p>
        </p:txBody>
      </p:sp>
      <p:pic>
        <p:nvPicPr>
          <p:cNvPr id="701" name="Google Shape;701;p49" descr="image.png"/>
          <p:cNvPicPr preferRelativeResize="0"/>
          <p:nvPr/>
        </p:nvPicPr>
        <p:blipFill rotWithShape="1">
          <a:blip r:embed="rId8">
            <a:alphaModFix/>
          </a:blip>
          <a:srcRect b="2703"/>
          <a:stretch/>
        </p:blipFill>
        <p:spPr>
          <a:xfrm>
            <a:off x="1009650" y="3157983"/>
            <a:ext cx="342900" cy="342900"/>
          </a:xfrm>
          <a:prstGeom prst="rect">
            <a:avLst/>
          </a:prstGeom>
          <a:noFill/>
          <a:ln>
            <a:noFill/>
          </a:ln>
        </p:spPr>
      </p:pic>
      <p:pic>
        <p:nvPicPr>
          <p:cNvPr id="702" name="Google Shape;702;p49" descr="image.png"/>
          <p:cNvPicPr preferRelativeResize="0"/>
          <p:nvPr/>
        </p:nvPicPr>
        <p:blipFill rotWithShape="1">
          <a:blip r:embed="rId9">
            <a:alphaModFix/>
          </a:blip>
          <a:srcRect/>
          <a:stretch/>
        </p:blipFill>
        <p:spPr>
          <a:xfrm>
            <a:off x="4645074" y="3157983"/>
            <a:ext cx="342900" cy="342900"/>
          </a:xfrm>
          <a:prstGeom prst="rect">
            <a:avLst/>
          </a:prstGeom>
          <a:noFill/>
          <a:ln>
            <a:noFill/>
          </a:ln>
        </p:spPr>
      </p:pic>
      <p:pic>
        <p:nvPicPr>
          <p:cNvPr id="703" name="Google Shape;703;p49" descr="image.png"/>
          <p:cNvPicPr preferRelativeResize="0"/>
          <p:nvPr/>
        </p:nvPicPr>
        <p:blipFill rotWithShape="1">
          <a:blip r:embed="rId10">
            <a:alphaModFix/>
          </a:blip>
          <a:srcRect/>
          <a:stretch/>
        </p:blipFill>
        <p:spPr>
          <a:xfrm>
            <a:off x="8280499" y="3157983"/>
            <a:ext cx="428625" cy="342900"/>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1"/>
          <a:stretch>
            <a:fillRect/>
          </a:stretch>
        </p:blipFill>
        <p:spPr>
          <a:xfrm>
            <a:off x="10242000" y="280000"/>
            <a:ext cx="1700000" cy="716000"/>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07"/>
        <p:cNvGrpSpPr/>
        <p:nvPr/>
      </p:nvGrpSpPr>
      <p:grpSpPr>
        <a:xfrm>
          <a:off x="0" y="0"/>
          <a:ext cx="0" cy="0"/>
          <a:chOff x="0" y="0"/>
          <a:chExt cx="0" cy="0"/>
        </a:xfrm>
      </p:grpSpPr>
      <p:pic>
        <p:nvPicPr>
          <p:cNvPr id="708" name="Google Shape;708;p50"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09" name="Google Shape;709;p50"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710" name="Google Shape;710;p50" descr="image.png"/>
          <p:cNvPicPr preferRelativeResize="0"/>
          <p:nvPr/>
        </p:nvPicPr>
        <p:blipFill rotWithShape="1">
          <a:blip r:embed="rId5">
            <a:alphaModFix/>
          </a:blip>
          <a:srcRect/>
          <a:stretch/>
        </p:blipFill>
        <p:spPr>
          <a:xfrm>
            <a:off x="762000" y="3019871"/>
            <a:ext cx="5143500" cy="1814512"/>
          </a:xfrm>
          <a:prstGeom prst="rect">
            <a:avLst/>
          </a:prstGeom>
          <a:noFill/>
          <a:ln>
            <a:noFill/>
          </a:ln>
        </p:spPr>
      </p:pic>
      <p:pic>
        <p:nvPicPr>
          <p:cNvPr id="711" name="Google Shape;711;p50" descr="image.png"/>
          <p:cNvPicPr preferRelativeResize="0"/>
          <p:nvPr/>
        </p:nvPicPr>
        <p:blipFill rotWithShape="1">
          <a:blip r:embed="rId5">
            <a:alphaModFix/>
          </a:blip>
          <a:srcRect/>
          <a:stretch/>
        </p:blipFill>
        <p:spPr>
          <a:xfrm>
            <a:off x="6286500" y="3019871"/>
            <a:ext cx="5143500" cy="1814512"/>
          </a:xfrm>
          <a:prstGeom prst="rect">
            <a:avLst/>
          </a:prstGeom>
          <a:noFill/>
          <a:ln>
            <a:noFill/>
          </a:ln>
        </p:spPr>
      </p:pic>
      <p:sp>
        <p:nvSpPr>
          <p:cNvPr id="712" name="Google Shape;712;p50"/>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PATTERN EXTRACTION</a:t>
            </a:r>
            <a:endParaRPr/>
          </a:p>
        </p:txBody>
      </p:sp>
      <p:sp>
        <p:nvSpPr>
          <p:cNvPr id="713" name="Google Shape;713;p50"/>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Regex in PDF Extraction</a:t>
            </a:r>
            <a:endParaRPr/>
          </a:p>
        </p:txBody>
      </p:sp>
      <p:sp>
        <p:nvSpPr>
          <p:cNvPr id="714" name="Google Shape;714;p50"/>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15" name="Google Shape;715;p50"/>
          <p:cNvSpPr txBox="1"/>
          <p:nvPr/>
        </p:nvSpPr>
        <p:spPr>
          <a:xfrm>
            <a:off x="762000" y="6448425"/>
            <a:ext cx="20669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REGEX ARCHITECTURE PATTERNS</a:t>
            </a:r>
            <a:endParaRPr/>
          </a:p>
        </p:txBody>
      </p:sp>
      <p:sp>
        <p:nvSpPr>
          <p:cNvPr id="716" name="Google Shape;716;p50"/>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38 OF 42</a:t>
            </a:r>
            <a:endParaRPr/>
          </a:p>
        </p:txBody>
      </p:sp>
      <p:sp>
        <p:nvSpPr>
          <p:cNvPr id="717" name="Google Shape;717;p50"/>
          <p:cNvSpPr txBox="1"/>
          <p:nvPr/>
        </p:nvSpPr>
        <p:spPr>
          <a:xfrm>
            <a:off x="1057275" y="3324671"/>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Dynamic Matching</a:t>
            </a:r>
            <a:endParaRPr/>
          </a:p>
        </p:txBody>
      </p:sp>
      <p:sp>
        <p:nvSpPr>
          <p:cNvPr id="718" name="Google Shape;718;p50"/>
          <p:cNvSpPr txBox="1"/>
          <p:nvPr/>
        </p:nvSpPr>
        <p:spPr>
          <a:xfrm>
            <a:off x="1057275" y="3800921"/>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Extracted raw PDF strings are often highly cluttered. Regular Expressions (Regex) bypass fragile positional string indexers by identifying target text through predictable patterns.</a:t>
            </a:r>
            <a:endParaRPr/>
          </a:p>
        </p:txBody>
      </p:sp>
      <p:sp>
        <p:nvSpPr>
          <p:cNvPr id="719" name="Google Shape;719;p50"/>
          <p:cNvSpPr txBox="1"/>
          <p:nvPr/>
        </p:nvSpPr>
        <p:spPr>
          <a:xfrm>
            <a:off x="6581775" y="3315146"/>
            <a:ext cx="4780597" cy="2769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800" b="1" i="0" u="none" strike="noStrike" cap="none">
                <a:solidFill>
                  <a:srgbClr val="4472C4"/>
                </a:solidFill>
                <a:latin typeface="Urbanist"/>
                <a:ea typeface="Urbanist"/>
                <a:cs typeface="Urbanist"/>
                <a:sym typeface="Urbanist"/>
              </a:rPr>
              <a:t>Regex Patterns</a:t>
            </a:r>
            <a:endParaRPr/>
          </a:p>
        </p:txBody>
      </p:sp>
      <p:sp>
        <p:nvSpPr>
          <p:cNvPr id="720" name="Google Shape;720;p50"/>
          <p:cNvSpPr txBox="1"/>
          <p:nvPr/>
        </p:nvSpPr>
        <p:spPr>
          <a:xfrm>
            <a:off x="6581775" y="3791396"/>
            <a:ext cx="4552950" cy="882934"/>
          </a:xfrm>
          <a:prstGeom prst="rect">
            <a:avLst/>
          </a:prstGeom>
          <a:noFill/>
          <a:ln>
            <a:noFill/>
          </a:ln>
        </p:spPr>
        <p:txBody>
          <a:bodyPr spcFirstLastPara="1" wrap="square" lIns="0" tIns="0" rIns="0" bIns="0" anchor="t" anchorCtr="0">
            <a:spAutoFit/>
          </a:bodyPr>
          <a:lstStyle/>
          <a:p>
            <a:pPr marL="0" marR="0" lvl="0" indent="0" algn="l" rtl="0">
              <a:lnSpc>
                <a:spcPct val="149960"/>
              </a:lnSpc>
              <a:spcBef>
                <a:spcPts val="0"/>
              </a:spcBef>
              <a:spcAft>
                <a:spcPts val="0"/>
              </a:spcAft>
              <a:buNone/>
            </a:pPr>
            <a:r>
              <a:rPr lang="en-US" sz="1275" b="0" i="0" u="none" strike="noStrike" cap="none">
                <a:solidFill>
                  <a:srgbClr val="475569"/>
                </a:solidFill>
                <a:latin typeface="Urbanist"/>
                <a:ea typeface="Urbanist"/>
                <a:cs typeface="Urbanist"/>
                <a:sym typeface="Urbanist"/>
              </a:rPr>
              <a:t>Extract specific values from anywhere in the document with patterns like \d{4}-\d{2}-\d{2} for dates or \b[A-Z0-9._%+-]+@[A-Z0-9.-]+\.[A-Z]{2,}\b for emails.</a:t>
            </a:r>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24"/>
        <p:cNvGrpSpPr/>
        <p:nvPr/>
      </p:nvGrpSpPr>
      <p:grpSpPr>
        <a:xfrm>
          <a:off x="0" y="0"/>
          <a:ext cx="0" cy="0"/>
          <a:chOff x="0" y="0"/>
          <a:chExt cx="0" cy="0"/>
        </a:xfrm>
      </p:grpSpPr>
      <p:pic>
        <p:nvPicPr>
          <p:cNvPr id="725" name="Google Shape;725;p51"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26" name="Google Shape;726;p51"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sp>
        <p:nvSpPr>
          <p:cNvPr id="727" name="Google Shape;727;p51"/>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PRECISION PERFORMANCE</a:t>
            </a:r>
            <a:endParaRPr/>
          </a:p>
        </p:txBody>
      </p:sp>
      <p:sp>
        <p:nvSpPr>
          <p:cNvPr id="728" name="Google Shape;728;p51"/>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High-Accuracy OCR Tuning</a:t>
            </a:r>
            <a:endParaRPr/>
          </a:p>
        </p:txBody>
      </p:sp>
      <p:sp>
        <p:nvSpPr>
          <p:cNvPr id="729" name="Google Shape;729;p51"/>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30" name="Google Shape;730;p51"/>
          <p:cNvSpPr txBox="1"/>
          <p:nvPr/>
        </p:nvSpPr>
        <p:spPr>
          <a:xfrm>
            <a:off x="762000" y="6448425"/>
            <a:ext cx="20097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INTELLIGENT DOCUMENT TUNING</a:t>
            </a:r>
            <a:endParaRPr/>
          </a:p>
        </p:txBody>
      </p:sp>
      <p:sp>
        <p:nvSpPr>
          <p:cNvPr id="731" name="Google Shape;731;p51"/>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39 OF 42</a:t>
            </a:r>
            <a:endParaRPr/>
          </a:p>
        </p:txBody>
      </p:sp>
      <p:sp>
        <p:nvSpPr>
          <p:cNvPr id="732" name="Google Shape;732;p51"/>
          <p:cNvSpPr txBox="1"/>
          <p:nvPr/>
        </p:nvSpPr>
        <p:spPr>
          <a:xfrm>
            <a:off x="1524000" y="29698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Dynamic Image Rescaling:</a:t>
            </a:r>
            <a:r>
              <a:rPr lang="en-US" sz="1350" b="0" i="0" u="none" strike="noStrike" cap="none">
                <a:solidFill>
                  <a:srgbClr val="334155"/>
                </a:solidFill>
                <a:latin typeface="Urbanist"/>
                <a:ea typeface="Urbanist"/>
                <a:cs typeface="Urbanist"/>
                <a:sym typeface="Urbanist"/>
              </a:rPr>
              <a:t> Scale blurred text up by 2.0x to 3.0x using pre-processing flags to dramatically improve character recognition rates.</a:t>
            </a:r>
            <a:endParaRPr/>
          </a:p>
        </p:txBody>
      </p:sp>
      <p:sp>
        <p:nvSpPr>
          <p:cNvPr id="733" name="Google Shape;733;p51"/>
          <p:cNvSpPr txBox="1"/>
          <p:nvPr/>
        </p:nvSpPr>
        <p:spPr>
          <a:xfrm>
            <a:off x="1524000" y="3693765"/>
            <a:ext cx="9572625" cy="311624"/>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Target Language Alignment:</a:t>
            </a:r>
            <a:r>
              <a:rPr lang="en-US" sz="1350" b="0" i="0" u="none" strike="noStrike" cap="none">
                <a:solidFill>
                  <a:srgbClr val="334155"/>
                </a:solidFill>
                <a:latin typeface="Urbanist"/>
                <a:ea typeface="Urbanist"/>
                <a:cs typeface="Urbanist"/>
                <a:sym typeface="Urbanist"/>
              </a:rPr>
              <a:t> Align OCR engine language dictionaries with your documents to prevent spelling translation errors.</a:t>
            </a:r>
            <a:endParaRPr/>
          </a:p>
        </p:txBody>
      </p:sp>
      <p:sp>
        <p:nvSpPr>
          <p:cNvPr id="734" name="Google Shape;734;p51"/>
          <p:cNvSpPr txBox="1"/>
          <p:nvPr/>
        </p:nvSpPr>
        <p:spPr>
          <a:xfrm>
            <a:off x="1524000" y="4417665"/>
            <a:ext cx="9572625" cy="623248"/>
          </a:xfrm>
          <a:prstGeom prst="rect">
            <a:avLst/>
          </a:prstGeom>
          <a:noFill/>
          <a:ln>
            <a:noFill/>
          </a:ln>
        </p:spPr>
        <p:txBody>
          <a:bodyPr spcFirstLastPara="1" wrap="square" lIns="0" tIns="0" rIns="0" bIns="0" anchor="t" anchorCtr="0">
            <a:spAutoFit/>
          </a:bodyPr>
          <a:lstStyle/>
          <a:p>
            <a:pPr marL="0" marR="0" lvl="0" indent="0" algn="l" rtl="0">
              <a:lnSpc>
                <a:spcPct val="150000"/>
              </a:lnSpc>
              <a:spcBef>
                <a:spcPts val="0"/>
              </a:spcBef>
              <a:spcAft>
                <a:spcPts val="0"/>
              </a:spcAft>
              <a:buNone/>
            </a:pPr>
            <a:r>
              <a:rPr lang="en-US" sz="1350" b="1" i="0" u="none" strike="noStrike" cap="none">
                <a:solidFill>
                  <a:srgbClr val="1F3864"/>
                </a:solidFill>
                <a:latin typeface="Urbanist"/>
                <a:ea typeface="Urbanist"/>
                <a:cs typeface="Urbanist"/>
                <a:sym typeface="Urbanist"/>
              </a:rPr>
              <a:t>Image Pre-Processing filters:</a:t>
            </a:r>
            <a:r>
              <a:rPr lang="en-US" sz="1350" b="0" i="0" u="none" strike="noStrike" cap="none">
                <a:solidFill>
                  <a:srgbClr val="334155"/>
                </a:solidFill>
                <a:latin typeface="Urbanist"/>
                <a:ea typeface="Urbanist"/>
                <a:cs typeface="Urbanist"/>
                <a:sym typeface="Urbanist"/>
              </a:rPr>
              <a:t> Apply thresholding and binarization filters to convert color scans to crisp, high-contrast monochrome formats.</a:t>
            </a:r>
            <a:endParaRPr/>
          </a:p>
        </p:txBody>
      </p:sp>
      <p:pic>
        <p:nvPicPr>
          <p:cNvPr id="735" name="Google Shape;735;p51" descr="image.png"/>
          <p:cNvPicPr preferRelativeResize="0"/>
          <p:nvPr/>
        </p:nvPicPr>
        <p:blipFill rotWithShape="1">
          <a:blip r:embed="rId5">
            <a:alphaModFix/>
          </a:blip>
          <a:srcRect/>
          <a:stretch/>
        </p:blipFill>
        <p:spPr>
          <a:xfrm>
            <a:off x="1095375" y="3003202"/>
            <a:ext cx="209550" cy="219075"/>
          </a:xfrm>
          <a:prstGeom prst="rect">
            <a:avLst/>
          </a:prstGeom>
          <a:noFill/>
          <a:ln>
            <a:noFill/>
          </a:ln>
        </p:spPr>
      </p:pic>
      <p:pic>
        <p:nvPicPr>
          <p:cNvPr id="736" name="Google Shape;736;p51" descr="image.png"/>
          <p:cNvPicPr preferRelativeResize="0"/>
          <p:nvPr/>
        </p:nvPicPr>
        <p:blipFill rotWithShape="1">
          <a:blip r:embed="rId6">
            <a:alphaModFix/>
          </a:blip>
          <a:srcRect/>
          <a:stretch/>
        </p:blipFill>
        <p:spPr>
          <a:xfrm>
            <a:off x="1095375" y="3727102"/>
            <a:ext cx="266700" cy="219075"/>
          </a:xfrm>
          <a:prstGeom prst="rect">
            <a:avLst/>
          </a:prstGeom>
          <a:noFill/>
          <a:ln>
            <a:noFill/>
          </a:ln>
        </p:spPr>
      </p:pic>
      <p:pic>
        <p:nvPicPr>
          <p:cNvPr id="737" name="Google Shape;737;p51" descr="image.png"/>
          <p:cNvPicPr preferRelativeResize="0"/>
          <p:nvPr/>
        </p:nvPicPr>
        <p:blipFill rotWithShape="1">
          <a:blip r:embed="rId7">
            <a:alphaModFix/>
          </a:blip>
          <a:srcRect/>
          <a:stretch/>
        </p:blipFill>
        <p:spPr>
          <a:xfrm>
            <a:off x="1095375" y="4451002"/>
            <a:ext cx="209550" cy="219075"/>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8"/>
          <a:stretch>
            <a:fillRect/>
          </a:stretch>
        </p:blipFill>
        <p:spPr>
          <a:xfrm>
            <a:off x="10242000" y="280000"/>
            <a:ext cx="1700000" cy="716000"/>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741"/>
        <p:cNvGrpSpPr/>
        <p:nvPr/>
      </p:nvGrpSpPr>
      <p:grpSpPr>
        <a:xfrm>
          <a:off x="0" y="0"/>
          <a:ext cx="0" cy="0"/>
          <a:chOff x="0" y="0"/>
          <a:chExt cx="0" cy="0"/>
        </a:xfrm>
      </p:grpSpPr>
      <p:pic>
        <p:nvPicPr>
          <p:cNvPr id="742" name="Google Shape;742;p52"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43" name="Google Shape;743;p52"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744" name="Google Shape;744;p52" descr="image.png"/>
          <p:cNvPicPr preferRelativeResize="0"/>
          <p:nvPr/>
        </p:nvPicPr>
        <p:blipFill rotWithShape="1">
          <a:blip r:embed="rId5">
            <a:alphaModFix/>
          </a:blip>
          <a:srcRect b="8571"/>
          <a:stretch/>
        </p:blipFill>
        <p:spPr>
          <a:xfrm>
            <a:off x="762000" y="3908077"/>
            <a:ext cx="10668000" cy="38100"/>
          </a:xfrm>
          <a:prstGeom prst="rect">
            <a:avLst/>
          </a:prstGeom>
          <a:noFill/>
          <a:ln>
            <a:noFill/>
          </a:ln>
        </p:spPr>
      </p:pic>
      <p:sp>
        <p:nvSpPr>
          <p:cNvPr id="745" name="Google Shape;745;p52"/>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WORKFLOWS PIPELINE</a:t>
            </a:r>
            <a:endParaRPr/>
          </a:p>
        </p:txBody>
      </p:sp>
      <p:sp>
        <p:nvSpPr>
          <p:cNvPr id="746" name="Google Shape;746;p52"/>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PDF Processing Pipeline</a:t>
            </a:r>
            <a:endParaRPr/>
          </a:p>
        </p:txBody>
      </p:sp>
      <p:sp>
        <p:nvSpPr>
          <p:cNvPr id="747" name="Google Shape;747;p52"/>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48" name="Google Shape;748;p52"/>
          <p:cNvSpPr txBox="1"/>
          <p:nvPr/>
        </p:nvSpPr>
        <p:spPr>
          <a:xfrm>
            <a:off x="762000" y="6448425"/>
            <a:ext cx="172402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PROCESSING PIPELINE FLOW</a:t>
            </a:r>
            <a:endParaRPr/>
          </a:p>
        </p:txBody>
      </p:sp>
      <p:sp>
        <p:nvSpPr>
          <p:cNvPr id="749" name="Google Shape;749;p52"/>
          <p:cNvSpPr txBox="1"/>
          <p:nvPr/>
        </p:nvSpPr>
        <p:spPr>
          <a:xfrm>
            <a:off x="10487025" y="6448425"/>
            <a:ext cx="9429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40 OF 42</a:t>
            </a:r>
            <a:endParaRPr/>
          </a:p>
        </p:txBody>
      </p:sp>
      <p:sp>
        <p:nvSpPr>
          <p:cNvPr id="750" name="Google Shape;750;p52"/>
          <p:cNvSpPr txBox="1"/>
          <p:nvPr/>
        </p:nvSpPr>
        <p:spPr>
          <a:xfrm>
            <a:off x="703328" y="4212877"/>
            <a:ext cx="2464214"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4472C4"/>
                </a:solidFill>
                <a:latin typeface="Urbanist"/>
                <a:ea typeface="Urbanist"/>
                <a:cs typeface="Urbanist"/>
                <a:sym typeface="Urbanist"/>
              </a:rPr>
              <a:t>1. Classify</a:t>
            </a:r>
            <a:endParaRPr/>
          </a:p>
        </p:txBody>
      </p:sp>
      <p:sp>
        <p:nvSpPr>
          <p:cNvPr id="751" name="Google Shape;751;p52"/>
          <p:cNvSpPr txBox="1"/>
          <p:nvPr/>
        </p:nvSpPr>
        <p:spPr>
          <a:xfrm>
            <a:off x="762000" y="4574827"/>
            <a:ext cx="2346870" cy="72712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75569"/>
                </a:solidFill>
                <a:latin typeface="Urbanist"/>
                <a:ea typeface="Urbanist"/>
                <a:cs typeface="Urbanist"/>
                <a:sym typeface="Urbanist"/>
              </a:rPr>
              <a:t>Detect if target document stream is native PDF vectors or raw scanned images.</a:t>
            </a:r>
            <a:endParaRPr/>
          </a:p>
        </p:txBody>
      </p:sp>
      <p:sp>
        <p:nvSpPr>
          <p:cNvPr id="752" name="Google Shape;752;p52"/>
          <p:cNvSpPr txBox="1"/>
          <p:nvPr/>
        </p:nvSpPr>
        <p:spPr>
          <a:xfrm>
            <a:off x="3477037" y="2679352"/>
            <a:ext cx="2464214"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4472C4"/>
                </a:solidFill>
                <a:latin typeface="Urbanist"/>
                <a:ea typeface="Urbanist"/>
                <a:cs typeface="Urbanist"/>
                <a:sym typeface="Urbanist"/>
              </a:rPr>
              <a:t>2. Extract</a:t>
            </a:r>
            <a:endParaRPr/>
          </a:p>
        </p:txBody>
      </p:sp>
      <p:sp>
        <p:nvSpPr>
          <p:cNvPr id="753" name="Google Shape;753;p52"/>
          <p:cNvSpPr txBox="1"/>
          <p:nvPr/>
        </p:nvSpPr>
        <p:spPr>
          <a:xfrm>
            <a:off x="3535709" y="3041302"/>
            <a:ext cx="2346870" cy="48474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75569"/>
                </a:solidFill>
                <a:latin typeface="Urbanist"/>
                <a:ea typeface="Urbanist"/>
                <a:cs typeface="Urbanist"/>
                <a:sym typeface="Urbanist"/>
              </a:rPr>
              <a:t>Execute fast native programmatic reads or trigger OCR text conversion.</a:t>
            </a:r>
            <a:endParaRPr/>
          </a:p>
        </p:txBody>
      </p:sp>
      <p:sp>
        <p:nvSpPr>
          <p:cNvPr id="754" name="Google Shape;754;p52"/>
          <p:cNvSpPr txBox="1"/>
          <p:nvPr/>
        </p:nvSpPr>
        <p:spPr>
          <a:xfrm>
            <a:off x="6250747" y="4212877"/>
            <a:ext cx="2464214"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4472C4"/>
                </a:solidFill>
                <a:latin typeface="Urbanist"/>
                <a:ea typeface="Urbanist"/>
                <a:cs typeface="Urbanist"/>
                <a:sym typeface="Urbanist"/>
              </a:rPr>
              <a:t>3. Clean</a:t>
            </a:r>
            <a:endParaRPr/>
          </a:p>
        </p:txBody>
      </p:sp>
      <p:sp>
        <p:nvSpPr>
          <p:cNvPr id="755" name="Google Shape;755;p52"/>
          <p:cNvSpPr txBox="1"/>
          <p:nvPr/>
        </p:nvSpPr>
        <p:spPr>
          <a:xfrm>
            <a:off x="6309419" y="4574827"/>
            <a:ext cx="2346870" cy="484748"/>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75569"/>
                </a:solidFill>
                <a:latin typeface="Urbanist"/>
                <a:ea typeface="Urbanist"/>
                <a:cs typeface="Urbanist"/>
                <a:sym typeface="Urbanist"/>
              </a:rPr>
              <a:t>Sanitize raw strings, trimming trailing spaces and breaking streams into lists.</a:t>
            </a:r>
            <a:endParaRPr/>
          </a:p>
        </p:txBody>
      </p:sp>
      <p:sp>
        <p:nvSpPr>
          <p:cNvPr id="756" name="Google Shape;756;p52"/>
          <p:cNvSpPr txBox="1"/>
          <p:nvPr/>
        </p:nvSpPr>
        <p:spPr>
          <a:xfrm>
            <a:off x="9024457" y="2679352"/>
            <a:ext cx="2464214" cy="230832"/>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500" b="1" i="0" u="none" strike="noStrike" cap="none">
                <a:solidFill>
                  <a:srgbClr val="4472C4"/>
                </a:solidFill>
                <a:latin typeface="Urbanist"/>
                <a:ea typeface="Urbanist"/>
                <a:cs typeface="Urbanist"/>
                <a:sym typeface="Urbanist"/>
              </a:rPr>
              <a:t>4. Export</a:t>
            </a:r>
            <a:endParaRPr/>
          </a:p>
        </p:txBody>
      </p:sp>
      <p:sp>
        <p:nvSpPr>
          <p:cNvPr id="757" name="Google Shape;757;p52"/>
          <p:cNvSpPr txBox="1"/>
          <p:nvPr/>
        </p:nvSpPr>
        <p:spPr>
          <a:xfrm>
            <a:off x="9083129" y="3041302"/>
            <a:ext cx="2346870" cy="727122"/>
          </a:xfrm>
          <a:prstGeom prst="rect">
            <a:avLst/>
          </a:prstGeom>
          <a:noFill/>
          <a:ln>
            <a:noFill/>
          </a:ln>
        </p:spPr>
        <p:txBody>
          <a:bodyPr spcFirstLastPara="1" wrap="square" lIns="0" tIns="0" rIns="0" bIns="0" anchor="t" anchorCtr="0">
            <a:spAutoFit/>
          </a:bodyPr>
          <a:lstStyle/>
          <a:p>
            <a:pPr marL="0" marR="0" lvl="0" indent="0" algn="ctr" rtl="0">
              <a:lnSpc>
                <a:spcPct val="140000"/>
              </a:lnSpc>
              <a:spcBef>
                <a:spcPts val="0"/>
              </a:spcBef>
              <a:spcAft>
                <a:spcPts val="0"/>
              </a:spcAft>
              <a:buNone/>
            </a:pPr>
            <a:r>
              <a:rPr lang="en-US" sz="1125" b="0" i="0" u="none" strike="noStrike" cap="none">
                <a:solidFill>
                  <a:srgbClr val="475569"/>
                </a:solidFill>
                <a:latin typeface="Urbanist"/>
                <a:ea typeface="Urbanist"/>
                <a:cs typeface="Urbanist"/>
                <a:sym typeface="Urbanist"/>
              </a:rPr>
              <a:t>Extract specific fields with regex, structure them into a DataTable, and save to database.</a:t>
            </a:r>
            <a:endParaRPr/>
          </a:p>
        </p:txBody>
      </p:sp>
      <p:sp>
        <p:nvSpPr>
          <p:cNvPr id="758" name="Google Shape;758;p52"/>
          <p:cNvSpPr/>
          <p:nvPr/>
        </p:nvSpPr>
        <p:spPr>
          <a:xfrm>
            <a:off x="1821135" y="3812827"/>
            <a:ext cx="228600" cy="228600"/>
          </a:xfrm>
          <a:prstGeom prst="roundRect">
            <a:avLst>
              <a:gd name="adj" fmla="val 50000"/>
            </a:avLst>
          </a:prstGeom>
          <a:solidFill>
            <a:srgbClr val="FFFFFF"/>
          </a:solidFill>
          <a:ln w="47625" cap="flat" cmpd="sng">
            <a:solidFill>
              <a:srgbClr val="4472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59" name="Google Shape;759;p52"/>
          <p:cNvSpPr/>
          <p:nvPr/>
        </p:nvSpPr>
        <p:spPr>
          <a:xfrm>
            <a:off x="4594845" y="3812827"/>
            <a:ext cx="228600" cy="228600"/>
          </a:xfrm>
          <a:prstGeom prst="roundRect">
            <a:avLst>
              <a:gd name="adj" fmla="val 50000"/>
            </a:avLst>
          </a:prstGeom>
          <a:solidFill>
            <a:srgbClr val="FFFFFF"/>
          </a:solidFill>
          <a:ln w="47625" cap="flat" cmpd="sng">
            <a:solidFill>
              <a:srgbClr val="4472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0" name="Google Shape;760;p52"/>
          <p:cNvSpPr/>
          <p:nvPr/>
        </p:nvSpPr>
        <p:spPr>
          <a:xfrm>
            <a:off x="7368554" y="3812827"/>
            <a:ext cx="228600" cy="228600"/>
          </a:xfrm>
          <a:prstGeom prst="roundRect">
            <a:avLst>
              <a:gd name="adj" fmla="val 50000"/>
            </a:avLst>
          </a:prstGeom>
          <a:solidFill>
            <a:srgbClr val="FFFFFF"/>
          </a:solidFill>
          <a:ln w="47625" cap="flat" cmpd="sng">
            <a:solidFill>
              <a:srgbClr val="4472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61" name="Google Shape;761;p52"/>
          <p:cNvSpPr/>
          <p:nvPr/>
        </p:nvSpPr>
        <p:spPr>
          <a:xfrm>
            <a:off x="10142264" y="3812827"/>
            <a:ext cx="228600" cy="228600"/>
          </a:xfrm>
          <a:prstGeom prst="roundRect">
            <a:avLst>
              <a:gd name="adj" fmla="val 50000"/>
            </a:avLst>
          </a:prstGeom>
          <a:solidFill>
            <a:srgbClr val="FFFFFF"/>
          </a:solidFill>
          <a:ln w="47625" cap="flat" cmpd="sng">
            <a:solidFill>
              <a:srgbClr val="4472C4"/>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6"/>
          <a:stretch>
            <a:fillRect/>
          </a:stretch>
        </p:blipFill>
        <p:spPr>
          <a:xfrm>
            <a:off x="10242000" y="280000"/>
            <a:ext cx="1700000" cy="71600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765"/>
        <p:cNvGrpSpPr/>
        <p:nvPr/>
      </p:nvGrpSpPr>
      <p:grpSpPr>
        <a:xfrm>
          <a:off x="0" y="0"/>
          <a:ext cx="0" cy="0"/>
          <a:chOff x="0" y="0"/>
          <a:chExt cx="0" cy="0"/>
        </a:xfrm>
      </p:grpSpPr>
      <p:pic>
        <p:nvPicPr>
          <p:cNvPr id="766" name="Google Shape;766;p5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67" name="Google Shape;767;p53"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768" name="Google Shape;768;p53" descr="image.png"/>
          <p:cNvPicPr preferRelativeResize="0"/>
          <p:nvPr/>
        </p:nvPicPr>
        <p:blipFill rotWithShape="1">
          <a:blip r:embed="rId5">
            <a:alphaModFix/>
          </a:blip>
          <a:srcRect/>
          <a:stretch/>
        </p:blipFill>
        <p:spPr>
          <a:xfrm>
            <a:off x="762000" y="2703165"/>
            <a:ext cx="3397299" cy="2447925"/>
          </a:xfrm>
          <a:prstGeom prst="rect">
            <a:avLst/>
          </a:prstGeom>
          <a:noFill/>
          <a:ln>
            <a:noFill/>
          </a:ln>
        </p:spPr>
      </p:pic>
      <p:pic>
        <p:nvPicPr>
          <p:cNvPr id="769" name="Google Shape;769;p53" descr="image.png"/>
          <p:cNvPicPr preferRelativeResize="0"/>
          <p:nvPr/>
        </p:nvPicPr>
        <p:blipFill rotWithShape="1">
          <a:blip r:embed="rId6">
            <a:alphaModFix/>
          </a:blip>
          <a:srcRect/>
          <a:stretch/>
        </p:blipFill>
        <p:spPr>
          <a:xfrm>
            <a:off x="4397424" y="2703165"/>
            <a:ext cx="3397299" cy="2447925"/>
          </a:xfrm>
          <a:prstGeom prst="rect">
            <a:avLst/>
          </a:prstGeom>
          <a:noFill/>
          <a:ln>
            <a:noFill/>
          </a:ln>
        </p:spPr>
      </p:pic>
      <p:pic>
        <p:nvPicPr>
          <p:cNvPr id="770" name="Google Shape;770;p53" descr="image.png"/>
          <p:cNvPicPr preferRelativeResize="0"/>
          <p:nvPr/>
        </p:nvPicPr>
        <p:blipFill rotWithShape="1">
          <a:blip r:embed="rId7">
            <a:alphaModFix/>
          </a:blip>
          <a:srcRect/>
          <a:stretch/>
        </p:blipFill>
        <p:spPr>
          <a:xfrm>
            <a:off x="8032849" y="2703165"/>
            <a:ext cx="3397299" cy="2447925"/>
          </a:xfrm>
          <a:prstGeom prst="rect">
            <a:avLst/>
          </a:prstGeom>
          <a:noFill/>
          <a:ln>
            <a:noFill/>
          </a:ln>
        </p:spPr>
      </p:pic>
      <p:sp>
        <p:nvSpPr>
          <p:cNvPr id="771" name="Google Shape;771;p53"/>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LECTURE DEMO</a:t>
            </a:r>
            <a:endParaRPr/>
          </a:p>
        </p:txBody>
      </p:sp>
      <p:sp>
        <p:nvSpPr>
          <p:cNvPr id="772" name="Google Shape;772;p53"/>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Lab: Invoice Consolidator</a:t>
            </a:r>
            <a:endParaRPr/>
          </a:p>
        </p:txBody>
      </p:sp>
      <p:sp>
        <p:nvSpPr>
          <p:cNvPr id="773" name="Google Shape;773;p53"/>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74" name="Google Shape;774;p53"/>
          <p:cNvSpPr txBox="1"/>
          <p:nvPr/>
        </p:nvSpPr>
        <p:spPr>
          <a:xfrm>
            <a:off x="762000" y="6448425"/>
            <a:ext cx="179070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HANDS-ON DEMONSTRATION</a:t>
            </a:r>
            <a:endParaRPr/>
          </a:p>
        </p:txBody>
      </p:sp>
      <p:sp>
        <p:nvSpPr>
          <p:cNvPr id="775" name="Google Shape;775;p53"/>
          <p:cNvSpPr txBox="1"/>
          <p:nvPr/>
        </p:nvSpPr>
        <p:spPr>
          <a:xfrm>
            <a:off x="10525125" y="6448425"/>
            <a:ext cx="904875"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41 OF 42</a:t>
            </a:r>
            <a:endParaRPr/>
          </a:p>
        </p:txBody>
      </p:sp>
      <p:sp>
        <p:nvSpPr>
          <p:cNvPr id="776" name="Google Shape;776;p53"/>
          <p:cNvSpPr txBox="1"/>
          <p:nvPr/>
        </p:nvSpPr>
        <p:spPr>
          <a:xfrm>
            <a:off x="1009650" y="3588990"/>
            <a:ext cx="820102"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1. Ingest</a:t>
            </a:r>
            <a:endParaRPr/>
          </a:p>
        </p:txBody>
      </p:sp>
      <p:sp>
        <p:nvSpPr>
          <p:cNvPr id="777" name="Google Shape;777;p53"/>
          <p:cNvSpPr txBox="1"/>
          <p:nvPr/>
        </p:nvSpPr>
        <p:spPr>
          <a:xfrm>
            <a:off x="1009650" y="3989040"/>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Read dt_VendorList Excel metadata containing vendor configurations and corresponding target invoice IDs.</a:t>
            </a:r>
            <a:endParaRPr/>
          </a:p>
        </p:txBody>
      </p:sp>
      <p:sp>
        <p:nvSpPr>
          <p:cNvPr id="778" name="Google Shape;778;p53"/>
          <p:cNvSpPr txBox="1"/>
          <p:nvPr/>
        </p:nvSpPr>
        <p:spPr>
          <a:xfrm>
            <a:off x="4645074" y="3588990"/>
            <a:ext cx="1840230"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2. Query &amp; Extract</a:t>
            </a:r>
            <a:endParaRPr/>
          </a:p>
        </p:txBody>
      </p:sp>
      <p:sp>
        <p:nvSpPr>
          <p:cNvPr id="779" name="Google Shape;779;p53"/>
          <p:cNvSpPr txBox="1"/>
          <p:nvPr/>
        </p:nvSpPr>
        <p:spPr>
          <a:xfrm>
            <a:off x="4645074" y="3989040"/>
            <a:ext cx="2901999" cy="519373"/>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Loop and run Read PDF Text dynamically on files matching current IDs, retrieving raw characters.</a:t>
            </a:r>
            <a:endParaRPr/>
          </a:p>
        </p:txBody>
      </p:sp>
      <p:sp>
        <p:nvSpPr>
          <p:cNvPr id="780" name="Google Shape;780;p53"/>
          <p:cNvSpPr txBox="1"/>
          <p:nvPr/>
        </p:nvSpPr>
        <p:spPr>
          <a:xfrm>
            <a:off x="8280499" y="3588990"/>
            <a:ext cx="1550193"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3. Parse &amp; Build</a:t>
            </a:r>
            <a:endParaRPr/>
          </a:p>
        </p:txBody>
      </p:sp>
      <p:sp>
        <p:nvSpPr>
          <p:cNvPr id="781" name="Google Shape;781;p53"/>
          <p:cNvSpPr txBox="1"/>
          <p:nvPr/>
        </p:nvSpPr>
        <p:spPr>
          <a:xfrm>
            <a:off x="8280499" y="3989040"/>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Extract Invoice Totals using regex: \$\d+\.\d{2}. Use Invoke Code LINQ query to compile totals and save reporting sheets.</a:t>
            </a:r>
            <a:endParaRPr/>
          </a:p>
        </p:txBody>
      </p:sp>
      <p:pic>
        <p:nvPicPr>
          <p:cNvPr id="782" name="Google Shape;782;p53" descr="image.png"/>
          <p:cNvPicPr preferRelativeResize="0"/>
          <p:nvPr/>
        </p:nvPicPr>
        <p:blipFill rotWithShape="1">
          <a:blip r:embed="rId8">
            <a:alphaModFix/>
          </a:blip>
          <a:srcRect b="2703"/>
          <a:stretch/>
        </p:blipFill>
        <p:spPr>
          <a:xfrm>
            <a:off x="1009650" y="3046065"/>
            <a:ext cx="304800" cy="342900"/>
          </a:xfrm>
          <a:prstGeom prst="rect">
            <a:avLst/>
          </a:prstGeom>
          <a:noFill/>
          <a:ln>
            <a:noFill/>
          </a:ln>
        </p:spPr>
      </p:pic>
      <p:pic>
        <p:nvPicPr>
          <p:cNvPr id="783" name="Google Shape;783;p53" descr="image.png"/>
          <p:cNvPicPr preferRelativeResize="0"/>
          <p:nvPr/>
        </p:nvPicPr>
        <p:blipFill rotWithShape="1">
          <a:blip r:embed="rId9">
            <a:alphaModFix/>
          </a:blip>
          <a:srcRect/>
          <a:stretch/>
        </p:blipFill>
        <p:spPr>
          <a:xfrm>
            <a:off x="4645074" y="3046065"/>
            <a:ext cx="342900" cy="342900"/>
          </a:xfrm>
          <a:prstGeom prst="rect">
            <a:avLst/>
          </a:prstGeom>
          <a:noFill/>
          <a:ln>
            <a:noFill/>
          </a:ln>
        </p:spPr>
      </p:pic>
      <p:pic>
        <p:nvPicPr>
          <p:cNvPr id="784" name="Google Shape;784;p53" descr="image.png"/>
          <p:cNvPicPr preferRelativeResize="0"/>
          <p:nvPr/>
        </p:nvPicPr>
        <p:blipFill rotWithShape="1">
          <a:blip r:embed="rId10">
            <a:alphaModFix/>
          </a:blip>
          <a:srcRect/>
          <a:stretch/>
        </p:blipFill>
        <p:spPr>
          <a:xfrm>
            <a:off x="8280499" y="3046065"/>
            <a:ext cx="342900" cy="342900"/>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1"/>
          <a:stretch>
            <a:fillRect/>
          </a:stretch>
        </p:blipFill>
        <p:spPr>
          <a:xfrm>
            <a:off x="10242000" y="280000"/>
            <a:ext cx="1700000" cy="71600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rgbClr val="FFFFFF"/>
        </a:solidFill>
        <a:effectLst/>
      </p:bgPr>
    </p:bg>
    <p:spTree>
      <p:nvGrpSpPr>
        <p:cNvPr id="1" name="Shape 788"/>
        <p:cNvGrpSpPr/>
        <p:nvPr/>
      </p:nvGrpSpPr>
      <p:grpSpPr>
        <a:xfrm>
          <a:off x="0" y="0"/>
          <a:ext cx="0" cy="0"/>
          <a:chOff x="0" y="0"/>
          <a:chExt cx="0" cy="0"/>
        </a:xfrm>
      </p:grpSpPr>
      <p:pic>
        <p:nvPicPr>
          <p:cNvPr id="789" name="Google Shape;789;p54"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790" name="Google Shape;790;p54" descr="image.png"/>
          <p:cNvPicPr preferRelativeResize="0"/>
          <p:nvPr/>
        </p:nvPicPr>
        <p:blipFill rotWithShape="1">
          <a:blip r:embed="rId4">
            <a:alphaModFix/>
          </a:blip>
          <a:srcRect l="1746" r="1747"/>
          <a:stretch/>
        </p:blipFill>
        <p:spPr>
          <a:xfrm>
            <a:off x="762000" y="6296025"/>
            <a:ext cx="10668000" cy="323850"/>
          </a:xfrm>
          <a:prstGeom prst="rect">
            <a:avLst/>
          </a:prstGeom>
          <a:noFill/>
          <a:ln>
            <a:noFill/>
          </a:ln>
        </p:spPr>
      </p:pic>
      <p:pic>
        <p:nvPicPr>
          <p:cNvPr id="791" name="Google Shape;791;p54" descr="image.png"/>
          <p:cNvPicPr preferRelativeResize="0"/>
          <p:nvPr/>
        </p:nvPicPr>
        <p:blipFill rotWithShape="1">
          <a:blip r:embed="rId5">
            <a:alphaModFix/>
          </a:blip>
          <a:srcRect/>
          <a:stretch/>
        </p:blipFill>
        <p:spPr>
          <a:xfrm>
            <a:off x="762000" y="2800796"/>
            <a:ext cx="3397299" cy="2252662"/>
          </a:xfrm>
          <a:prstGeom prst="rect">
            <a:avLst/>
          </a:prstGeom>
          <a:noFill/>
          <a:ln>
            <a:noFill/>
          </a:ln>
        </p:spPr>
      </p:pic>
      <p:pic>
        <p:nvPicPr>
          <p:cNvPr id="792" name="Google Shape;792;p54" descr="image.png"/>
          <p:cNvPicPr preferRelativeResize="0"/>
          <p:nvPr/>
        </p:nvPicPr>
        <p:blipFill rotWithShape="1">
          <a:blip r:embed="rId6">
            <a:alphaModFix/>
          </a:blip>
          <a:srcRect/>
          <a:stretch/>
        </p:blipFill>
        <p:spPr>
          <a:xfrm>
            <a:off x="4397424" y="2800796"/>
            <a:ext cx="3397299" cy="2252662"/>
          </a:xfrm>
          <a:prstGeom prst="rect">
            <a:avLst/>
          </a:prstGeom>
          <a:noFill/>
          <a:ln>
            <a:noFill/>
          </a:ln>
        </p:spPr>
      </p:pic>
      <p:pic>
        <p:nvPicPr>
          <p:cNvPr id="793" name="Google Shape;793;p54" descr="image.png"/>
          <p:cNvPicPr preferRelativeResize="0"/>
          <p:nvPr/>
        </p:nvPicPr>
        <p:blipFill rotWithShape="1">
          <a:blip r:embed="rId7">
            <a:alphaModFix/>
          </a:blip>
          <a:srcRect/>
          <a:stretch/>
        </p:blipFill>
        <p:spPr>
          <a:xfrm>
            <a:off x="8032849" y="2800796"/>
            <a:ext cx="3397299" cy="2252662"/>
          </a:xfrm>
          <a:prstGeom prst="rect">
            <a:avLst/>
          </a:prstGeom>
          <a:noFill/>
          <a:ln>
            <a:noFill/>
          </a:ln>
        </p:spPr>
      </p:pic>
      <p:sp>
        <p:nvSpPr>
          <p:cNvPr id="794" name="Google Shape;794;p54"/>
          <p:cNvSpPr txBox="1"/>
          <p:nvPr/>
        </p:nvSpPr>
        <p:spPr>
          <a:xfrm>
            <a:off x="762000" y="571500"/>
            <a:ext cx="10668000" cy="161583"/>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050" b="0" i="0" u="none" strike="noStrike" cap="none">
                <a:solidFill>
                  <a:srgbClr val="4472C4"/>
                </a:solidFill>
                <a:latin typeface="Urbanist SemiBold"/>
                <a:ea typeface="Urbanist SemiBold"/>
                <a:cs typeface="Urbanist SemiBold"/>
                <a:sym typeface="Urbanist SemiBold"/>
              </a:rPr>
              <a:t>COURSE ASSIGNMENT</a:t>
            </a:r>
            <a:endParaRPr/>
          </a:p>
        </p:txBody>
      </p:sp>
      <p:sp>
        <p:nvSpPr>
          <p:cNvPr id="795" name="Google Shape;795;p54"/>
          <p:cNvSpPr txBox="1"/>
          <p:nvPr/>
        </p:nvSpPr>
        <p:spPr>
          <a:xfrm>
            <a:off x="904875" y="847725"/>
            <a:ext cx="11051381" cy="526298"/>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2850" b="1" i="0" u="none" strike="noStrike" cap="none">
                <a:solidFill>
                  <a:srgbClr val="1F3864"/>
                </a:solidFill>
                <a:latin typeface="Urbanist"/>
                <a:ea typeface="Urbanist"/>
                <a:cs typeface="Urbanist"/>
                <a:sym typeface="Urbanist"/>
              </a:rPr>
              <a:t>Project: E2E Reconciliation</a:t>
            </a:r>
            <a:endParaRPr/>
          </a:p>
        </p:txBody>
      </p:sp>
      <p:sp>
        <p:nvSpPr>
          <p:cNvPr id="796" name="Google Shape;796;p54"/>
          <p:cNvSpPr/>
          <p:nvPr/>
        </p:nvSpPr>
        <p:spPr>
          <a:xfrm>
            <a:off x="762000" y="847725"/>
            <a:ext cx="47625" cy="434280"/>
          </a:xfrm>
          <a:prstGeom prst="rect">
            <a:avLst/>
          </a:prstGeom>
          <a:solidFill>
            <a:srgbClr val="4472C4"/>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dk1"/>
              </a:solidFill>
              <a:latin typeface="Calibri"/>
              <a:ea typeface="Calibri"/>
              <a:cs typeface="Calibri"/>
              <a:sym typeface="Calibri"/>
            </a:endParaRPr>
          </a:p>
        </p:txBody>
      </p:sp>
      <p:sp>
        <p:nvSpPr>
          <p:cNvPr id="797" name="Google Shape;797;p54"/>
          <p:cNvSpPr txBox="1"/>
          <p:nvPr/>
        </p:nvSpPr>
        <p:spPr>
          <a:xfrm>
            <a:off x="762000" y="6448425"/>
            <a:ext cx="19240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CAPSTONE INTEGRATION CASE</a:t>
            </a:r>
            <a:endParaRPr/>
          </a:p>
        </p:txBody>
      </p:sp>
      <p:sp>
        <p:nvSpPr>
          <p:cNvPr id="798" name="Google Shape;798;p54"/>
          <p:cNvSpPr txBox="1"/>
          <p:nvPr/>
        </p:nvSpPr>
        <p:spPr>
          <a:xfrm>
            <a:off x="10496550" y="6448425"/>
            <a:ext cx="933450" cy="138499"/>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900" b="0" i="0" u="none" strike="noStrike" cap="none">
                <a:solidFill>
                  <a:srgbClr val="94A3B8"/>
                </a:solidFill>
                <a:latin typeface="Urbanist"/>
                <a:ea typeface="Urbanist"/>
                <a:cs typeface="Urbanist"/>
                <a:sym typeface="Urbanist"/>
              </a:rPr>
              <a:t>SLIDE 42 OF 42</a:t>
            </a:r>
            <a:endParaRPr/>
          </a:p>
        </p:txBody>
      </p:sp>
      <p:sp>
        <p:nvSpPr>
          <p:cNvPr id="799" name="Google Shape;799;p54"/>
          <p:cNvSpPr txBox="1"/>
          <p:nvPr/>
        </p:nvSpPr>
        <p:spPr>
          <a:xfrm>
            <a:off x="1009650" y="3715196"/>
            <a:ext cx="1480185"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Step A: Import</a:t>
            </a:r>
            <a:endParaRPr/>
          </a:p>
        </p:txBody>
      </p:sp>
      <p:sp>
        <p:nvSpPr>
          <p:cNvPr id="800" name="Google Shape;800;p54"/>
          <p:cNvSpPr txBox="1"/>
          <p:nvPr/>
        </p:nvSpPr>
        <p:spPr>
          <a:xfrm>
            <a:off x="1009650" y="4115246"/>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Incorporate local "Pending Payments" Excel configurations and search corresponding digital invoices within shared folders.</a:t>
            </a:r>
            <a:endParaRPr/>
          </a:p>
        </p:txBody>
      </p:sp>
      <p:sp>
        <p:nvSpPr>
          <p:cNvPr id="801" name="Google Shape;801;p54"/>
          <p:cNvSpPr txBox="1"/>
          <p:nvPr/>
        </p:nvSpPr>
        <p:spPr>
          <a:xfrm>
            <a:off x="4645074" y="3715196"/>
            <a:ext cx="1750218"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Step B: Reconcile</a:t>
            </a:r>
            <a:endParaRPr/>
          </a:p>
        </p:txBody>
      </p:sp>
      <p:sp>
        <p:nvSpPr>
          <p:cNvPr id="802" name="Google Shape;802;p54"/>
          <p:cNvSpPr txBox="1"/>
          <p:nvPr/>
        </p:nvSpPr>
        <p:spPr>
          <a:xfrm>
            <a:off x="4645074" y="4115246"/>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Compare parsed values using an Invoke Code activity, isolating mismatch errors using LINQ queries.</a:t>
            </a:r>
            <a:endParaRPr/>
          </a:p>
        </p:txBody>
      </p:sp>
      <p:sp>
        <p:nvSpPr>
          <p:cNvPr id="803" name="Google Shape;803;p54"/>
          <p:cNvSpPr txBox="1"/>
          <p:nvPr/>
        </p:nvSpPr>
        <p:spPr>
          <a:xfrm>
            <a:off x="8280499" y="3715196"/>
            <a:ext cx="1470183" cy="230832"/>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1500" b="1" i="0" u="none" strike="noStrike" cap="none">
                <a:solidFill>
                  <a:srgbClr val="1F3864"/>
                </a:solidFill>
                <a:latin typeface="Urbanist"/>
                <a:ea typeface="Urbanist"/>
                <a:cs typeface="Urbanist"/>
                <a:sym typeface="Urbanist"/>
              </a:rPr>
              <a:t>Step C: Report</a:t>
            </a:r>
            <a:endParaRPr/>
          </a:p>
        </p:txBody>
      </p:sp>
      <p:sp>
        <p:nvSpPr>
          <p:cNvPr id="804" name="Google Shape;804;p54"/>
          <p:cNvSpPr txBox="1"/>
          <p:nvPr/>
        </p:nvSpPr>
        <p:spPr>
          <a:xfrm>
            <a:off x="8280499" y="4115246"/>
            <a:ext cx="2901999" cy="779059"/>
          </a:xfrm>
          <a:prstGeom prst="rect">
            <a:avLst/>
          </a:prstGeom>
          <a:noFill/>
          <a:ln>
            <a:noFill/>
          </a:ln>
        </p:spPr>
        <p:txBody>
          <a:bodyPr spcFirstLastPara="1" wrap="square" lIns="0" tIns="0" rIns="0" bIns="0" anchor="t" anchorCtr="0">
            <a:spAutoFit/>
          </a:bodyPr>
          <a:lstStyle/>
          <a:p>
            <a:pPr marL="0" marR="0" lvl="0" indent="0" algn="l" rtl="0">
              <a:lnSpc>
                <a:spcPct val="149955"/>
              </a:lnSpc>
              <a:spcBef>
                <a:spcPts val="0"/>
              </a:spcBef>
              <a:spcAft>
                <a:spcPts val="0"/>
              </a:spcAft>
              <a:buNone/>
            </a:pPr>
            <a:r>
              <a:rPr lang="en-US" sz="1125" b="0" i="0" u="none" strike="noStrike" cap="none">
                <a:solidFill>
                  <a:srgbClr val="64748B"/>
                </a:solidFill>
                <a:latin typeface="Urbanist"/>
                <a:ea typeface="Urbanist"/>
                <a:cs typeface="Urbanist"/>
                <a:sym typeface="Urbanist"/>
              </a:rPr>
              <a:t>Save mismatch records into CSV logs. Programmatically dispatch alert emails containing error details to target managers.</a:t>
            </a:r>
            <a:endParaRPr/>
          </a:p>
        </p:txBody>
      </p:sp>
      <p:pic>
        <p:nvPicPr>
          <p:cNvPr id="805" name="Google Shape;805;p54" descr="image.png"/>
          <p:cNvPicPr preferRelativeResize="0"/>
          <p:nvPr/>
        </p:nvPicPr>
        <p:blipFill rotWithShape="1">
          <a:blip r:embed="rId8">
            <a:alphaModFix/>
          </a:blip>
          <a:srcRect b="2703"/>
          <a:stretch/>
        </p:blipFill>
        <p:spPr>
          <a:xfrm>
            <a:off x="1009650" y="3172271"/>
            <a:ext cx="342900" cy="342900"/>
          </a:xfrm>
          <a:prstGeom prst="rect">
            <a:avLst/>
          </a:prstGeom>
          <a:noFill/>
          <a:ln>
            <a:noFill/>
          </a:ln>
        </p:spPr>
      </p:pic>
      <p:pic>
        <p:nvPicPr>
          <p:cNvPr id="806" name="Google Shape;806;p54" descr="image.png"/>
          <p:cNvPicPr preferRelativeResize="0"/>
          <p:nvPr/>
        </p:nvPicPr>
        <p:blipFill rotWithShape="1">
          <a:blip r:embed="rId9">
            <a:alphaModFix/>
          </a:blip>
          <a:srcRect/>
          <a:stretch/>
        </p:blipFill>
        <p:spPr>
          <a:xfrm>
            <a:off x="4645074" y="3172271"/>
            <a:ext cx="342900" cy="342900"/>
          </a:xfrm>
          <a:prstGeom prst="rect">
            <a:avLst/>
          </a:prstGeom>
          <a:noFill/>
          <a:ln>
            <a:noFill/>
          </a:ln>
        </p:spPr>
      </p:pic>
      <p:pic>
        <p:nvPicPr>
          <p:cNvPr id="807" name="Google Shape;807;p54" descr="image.png"/>
          <p:cNvPicPr preferRelativeResize="0"/>
          <p:nvPr/>
        </p:nvPicPr>
        <p:blipFill rotWithShape="1">
          <a:blip r:embed="rId10">
            <a:alphaModFix/>
          </a:blip>
          <a:srcRect/>
          <a:stretch/>
        </p:blipFill>
        <p:spPr>
          <a:xfrm>
            <a:off x="8280499" y="3172271"/>
            <a:ext cx="428625" cy="342900"/>
          </a:xfrm>
          <a:prstGeom prst="rect">
            <a:avLst/>
          </a:prstGeom>
          <a:noFill/>
          <a:ln>
            <a:noFill/>
          </a:ln>
        </p:spPr>
      </p:pic>
      <p:sp>
        <p:nvSpPr>
          <p:cNvPr id="9002" name="Accent Bar"/>
          <p:cNvSpPr/>
          <p:nvPr/>
        </p:nvSpPr>
        <p:spPr>
          <a:xfrm>
            <a:off x="762000" y="1360000"/>
            <a:ext cx="1400000" cy="45720"/>
          </a:xfrm>
          <a:prstGeom prst="rect">
            <a:avLst/>
          </a:prstGeom>
          <a:solidFill>
            <a:srgbClr val="FF0000"/>
          </a:solidFill>
          <a:ln>
            <a:noFill/>
          </a:ln>
        </p:spPr>
        <p:txBody>
          <a:bodyPr/>
          <a:lstStyle/>
          <a:p>
            <a:endParaRPr lang="en-US"/>
          </a:p>
        </p:txBody>
      </p:sp>
      <p:pic>
        <p:nvPicPr>
          <p:cNvPr id="9001" name="RAYA Logo"/>
          <p:cNvPicPr>
            <a:picLocks noChangeAspect="1"/>
          </p:cNvPicPr>
          <p:nvPr/>
        </p:nvPicPr>
        <p:blipFill>
          <a:blip r:embed="rId11"/>
          <a:stretch>
            <a:fillRect/>
          </a:stretch>
        </p:blipFill>
        <p:spPr>
          <a:xfrm>
            <a:off x="10242000" y="280000"/>
            <a:ext cx="1700000" cy="716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45</Slides>
  <Notes>41</Notes>
  <HiddenSlides>2</HiddenSlides>
  <ScaleCrop>false</ScaleCrop>
  <HeadingPairs>
    <vt:vector size="4" baseType="variant">
      <vt:variant>
        <vt:lpstr>Theme</vt:lpstr>
      </vt:variant>
      <vt:variant>
        <vt:i4>1</vt:i4>
      </vt:variant>
      <vt:variant>
        <vt:lpstr>Slide Titles</vt:lpstr>
      </vt:variant>
      <vt:variant>
        <vt:i4>45</vt:i4>
      </vt:variant>
    </vt:vector>
  </HeadingPairs>
  <TitlesOfParts>
    <vt:vector size="46"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20</cp:revision>
  <dcterms:modified xsi:type="dcterms:W3CDTF">2026-07-12T07:00:19Z</dcterms:modified>
</cp:coreProperties>
</file>