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ans" panose="020B0604020202020204" charset="0"/>
      <p:regular r:id="rId18"/>
      <p:bold r:id="rId19"/>
      <p:italic r:id="rId20"/>
      <p:boldItalic r:id="rId21"/>
    </p:embeddedFont>
    <p:embeddedFont>
      <p:font typeface="Plus Jakarta Sa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iIgrdkTToSU0sUZq2k4oLm8D4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5" name="Google Shape;1195;p56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56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2" name="Google Shape;1212;p5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57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4" name="Google Shape;1234;p58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8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7" name="Google Shape;1277;p5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59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3" name="Google Shape;1313;p6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60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5" name="Google Shape;1355;p6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61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0" name="Google Shape;1420;p6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62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0" name="Google Shape;1460;p6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63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0" name="Google Shape;1500;p64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64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1" name="Google Shape;1551;p6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65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7" name="Google Shape;1617;p66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66:notes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56"/>
          <p:cNvSpPr/>
          <p:nvPr/>
        </p:nvSpPr>
        <p:spPr>
          <a:xfrm>
            <a:off x="5303490" y="-1097235"/>
            <a:ext cx="4572000" cy="457200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56"/>
          <p:cNvSpPr/>
          <p:nvPr/>
        </p:nvSpPr>
        <p:spPr>
          <a:xfrm>
            <a:off x="-548580" y="2400300"/>
            <a:ext cx="3657600" cy="365760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56"/>
          <p:cNvSpPr/>
          <p:nvPr/>
        </p:nvSpPr>
        <p:spPr>
          <a:xfrm>
            <a:off x="3813148" y="1716360"/>
            <a:ext cx="15177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ACFE6"/>
              </a:buClr>
              <a:buSzPts val="1150"/>
              <a:buFont typeface="DM Sans"/>
              <a:buNone/>
            </a:pPr>
            <a:r>
              <a:rPr lang="en-US" sz="1150" b="0" i="0" u="none" strike="noStrike" cap="none">
                <a:solidFill>
                  <a:srgbClr val="BACFE6"/>
                </a:solidFill>
                <a:latin typeface="DM Sans"/>
                <a:ea typeface="DM Sans"/>
                <a:cs typeface="DM Sans"/>
                <a:sym typeface="DM Sans"/>
              </a:rPr>
              <a:t>SECTION 8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6"/>
          <p:cNvSpPr/>
          <p:nvPr/>
        </p:nvSpPr>
        <p:spPr>
          <a:xfrm>
            <a:off x="555110" y="2071018"/>
            <a:ext cx="8033705" cy="63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9"/>
              <a:buFont typeface="Plus Jakarta Sans"/>
              <a:buNone/>
            </a:pPr>
            <a:r>
              <a:rPr lang="en-US" sz="396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Assessment Project</a:t>
            </a:r>
            <a:endParaRPr sz="3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6"/>
          <p:cNvSpPr/>
          <p:nvPr/>
        </p:nvSpPr>
        <p:spPr>
          <a:xfrm>
            <a:off x="1070048" y="2891954"/>
            <a:ext cx="70038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E7F2"/>
              </a:buClr>
              <a:buSzPts val="1729"/>
              <a:buFont typeface="DM Sans"/>
              <a:buNone/>
            </a:pPr>
            <a:r>
              <a:rPr lang="en-US" sz="1730" b="0" i="0" u="none" strike="noStrike" cap="none">
                <a:solidFill>
                  <a:srgbClr val="DDE7F2"/>
                </a:solidFill>
                <a:latin typeface="DM Sans"/>
                <a:ea typeface="DM Sans"/>
                <a:cs typeface="DM Sans"/>
                <a:sym typeface="DM Sans"/>
              </a:rPr>
              <a:t>Verify Account Positions — End-to-End RPA Solution</a:t>
            </a:r>
            <a:endParaRPr sz="17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6"/>
          <p:cNvSpPr/>
          <p:nvPr/>
        </p:nvSpPr>
        <p:spPr>
          <a:xfrm>
            <a:off x="4205288" y="3421633"/>
            <a:ext cx="733425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56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6" name="Google Shape;1206;p5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56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8" name="Google Shape;1208;p5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56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57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57"/>
          <p:cNvSpPr/>
          <p:nvPr/>
        </p:nvSpPr>
        <p:spPr>
          <a:xfrm>
            <a:off x="7681935" y="3681431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57"/>
          <p:cNvSpPr/>
          <p:nvPr/>
        </p:nvSpPr>
        <p:spPr>
          <a:xfrm>
            <a:off x="731490" y="355253"/>
            <a:ext cx="383516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740"/>
              <a:buFont typeface="Plus Jakarta Sans"/>
              <a:buNone/>
            </a:pPr>
            <a:r>
              <a:rPr lang="en-US" sz="274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Final Project</a:t>
            </a:r>
            <a:endParaRPr sz="27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7"/>
          <p:cNvSpPr/>
          <p:nvPr/>
        </p:nvSpPr>
        <p:spPr>
          <a:xfrm>
            <a:off x="731490" y="834256"/>
            <a:ext cx="47829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DM Sans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Verify Account Positions — ACME System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7"/>
          <p:cNvSpPr/>
          <p:nvPr/>
        </p:nvSpPr>
        <p:spPr>
          <a:xfrm>
            <a:off x="732420" y="1156953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57"/>
          <p:cNvSpPr/>
          <p:nvPr/>
        </p:nvSpPr>
        <p:spPr>
          <a:xfrm>
            <a:off x="731974" y="1337109"/>
            <a:ext cx="3748087" cy="3548062"/>
          </a:xfrm>
          <a:prstGeom prst="roundRect">
            <a:avLst>
              <a:gd name="adj" fmla="val 214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57"/>
          <p:cNvSpPr/>
          <p:nvPr/>
        </p:nvSpPr>
        <p:spPr>
          <a:xfrm>
            <a:off x="964853" y="1578843"/>
            <a:ext cx="194973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📋 What It Does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7"/>
          <p:cNvSpPr/>
          <p:nvPr/>
        </p:nvSpPr>
        <p:spPr>
          <a:xfrm>
            <a:off x="4663901" y="1337109"/>
            <a:ext cx="3748087" cy="3548062"/>
          </a:xfrm>
          <a:prstGeom prst="roundRect">
            <a:avLst>
              <a:gd name="adj" fmla="val 214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57"/>
          <p:cNvSpPr/>
          <p:nvPr/>
        </p:nvSpPr>
        <p:spPr>
          <a:xfrm>
            <a:off x="4896743" y="1578843"/>
            <a:ext cx="1387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⚙️ Built On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7"/>
          <p:cNvSpPr/>
          <p:nvPr/>
        </p:nvSpPr>
        <p:spPr>
          <a:xfrm>
            <a:off x="965336" y="1921036"/>
            <a:ext cx="3281363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5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Extracts work items from the </a:t>
            </a: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ACME web</a:t>
            </a: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 application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Queues them in </a:t>
            </a: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UiPath Orchestrator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Processes each item via </a:t>
            </a: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web + desktop</a:t>
            </a: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 automation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Updates work item status back in ACME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7"/>
          <p:cNvSpPr/>
          <p:nvPr/>
        </p:nvSpPr>
        <p:spPr>
          <a:xfrm>
            <a:off x="4897264" y="1921334"/>
            <a:ext cx="3281363" cy="125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5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REFramework</a:t>
            </a: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 — robust state machine base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Dispatcher + Performer</a:t>
            </a: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 split architecture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Exception handling, retries &amp; screenshot logging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950"/>
              </a:lnSpc>
              <a:spcBef>
                <a:spcPts val="486"/>
              </a:spcBef>
              <a:spcAft>
                <a:spcPts val="0"/>
              </a:spcAft>
              <a:buClr>
                <a:srgbClr val="0D1B3E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Unattended execution on </a:t>
            </a:r>
            <a:r>
              <a:rPr lang="en-US" sz="1220" b="1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cloud VMs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7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8" name="Google Shape;1228;p5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57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0" name="Google Shape;1230;p5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57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8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58"/>
          <p:cNvSpPr/>
          <p:nvPr/>
        </p:nvSpPr>
        <p:spPr>
          <a:xfrm>
            <a:off x="731490" y="355253"/>
            <a:ext cx="5415483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Two-Project Architecture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8"/>
          <p:cNvSpPr/>
          <p:nvPr/>
        </p:nvSpPr>
        <p:spPr>
          <a:xfrm>
            <a:off x="731490" y="811485"/>
            <a:ext cx="512875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70"/>
              <a:buFont typeface="DM Sans"/>
              <a:buNone/>
            </a:pPr>
            <a:r>
              <a:rPr lang="en-US" sz="1370" b="1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Dispatcher → Orchestrator Queue → Performer</a:t>
            </a:r>
            <a:endParaRPr sz="13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8"/>
          <p:cNvSpPr/>
          <p:nvPr/>
        </p:nvSpPr>
        <p:spPr>
          <a:xfrm>
            <a:off x="732420" y="1120415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58"/>
          <p:cNvSpPr/>
          <p:nvPr/>
        </p:nvSpPr>
        <p:spPr>
          <a:xfrm>
            <a:off x="732606" y="2451832"/>
            <a:ext cx="1338262" cy="947737"/>
          </a:xfrm>
          <a:prstGeom prst="roundRect">
            <a:avLst>
              <a:gd name="adj" fmla="val 8040"/>
            </a:avLst>
          </a:prstGeom>
          <a:solidFill>
            <a:srgbClr val="EFF6FF"/>
          </a:solidFill>
          <a:ln w="9525" cap="flat" cmpd="sng">
            <a:solidFill>
              <a:srgbClr val="1A5F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8"/>
          <p:cNvSpPr/>
          <p:nvPr/>
        </p:nvSpPr>
        <p:spPr>
          <a:xfrm>
            <a:off x="1209095" y="2604864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8"/>
          <p:cNvSpPr/>
          <p:nvPr/>
        </p:nvSpPr>
        <p:spPr>
          <a:xfrm>
            <a:off x="937078" y="2922687"/>
            <a:ext cx="929246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 Web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8"/>
          <p:cNvSpPr/>
          <p:nvPr/>
        </p:nvSpPr>
        <p:spPr>
          <a:xfrm>
            <a:off x="793604" y="3114675"/>
            <a:ext cx="121626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Arial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 Items Source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8"/>
          <p:cNvSpPr/>
          <p:nvPr/>
        </p:nvSpPr>
        <p:spPr>
          <a:xfrm>
            <a:off x="2117675" y="2798043"/>
            <a:ext cx="25633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8"/>
          <p:cNvSpPr/>
          <p:nvPr/>
        </p:nvSpPr>
        <p:spPr>
          <a:xfrm>
            <a:off x="2317700" y="2461357"/>
            <a:ext cx="1338262" cy="928688"/>
          </a:xfrm>
          <a:prstGeom prst="roundRect">
            <a:avLst>
              <a:gd name="adj" fmla="val 8205"/>
            </a:avLst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58"/>
          <p:cNvSpPr/>
          <p:nvPr/>
        </p:nvSpPr>
        <p:spPr>
          <a:xfrm>
            <a:off x="2794189" y="2604864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📤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8"/>
          <p:cNvSpPr/>
          <p:nvPr/>
        </p:nvSpPr>
        <p:spPr>
          <a:xfrm>
            <a:off x="2506586" y="2922687"/>
            <a:ext cx="960492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Dispatcher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8"/>
          <p:cNvSpPr/>
          <p:nvPr/>
        </p:nvSpPr>
        <p:spPr>
          <a:xfrm>
            <a:off x="2380826" y="3114675"/>
            <a:ext cx="1212012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DFEE"/>
              </a:buClr>
              <a:buSzPts val="790"/>
              <a:buFont typeface="Arial"/>
              <a:buNone/>
            </a:pPr>
            <a:r>
              <a:rPr lang="en-US" sz="790" b="0" i="0" u="none" strike="noStrike" cap="none">
                <a:solidFill>
                  <a:srgbClr val="D1DFEE"/>
                </a:solidFill>
                <a:latin typeface="Arial"/>
                <a:ea typeface="Arial"/>
                <a:cs typeface="Arial"/>
                <a:sym typeface="Arial"/>
              </a:rPr>
              <a:t>Extracts &amp; Uploads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8"/>
          <p:cNvSpPr/>
          <p:nvPr/>
        </p:nvSpPr>
        <p:spPr>
          <a:xfrm>
            <a:off x="3702769" y="2798043"/>
            <a:ext cx="25633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8"/>
          <p:cNvSpPr/>
          <p:nvPr/>
        </p:nvSpPr>
        <p:spPr>
          <a:xfrm>
            <a:off x="3902794" y="2461357"/>
            <a:ext cx="1338262" cy="928688"/>
          </a:xfrm>
          <a:prstGeom prst="roundRect">
            <a:avLst>
              <a:gd name="adj" fmla="val 8205"/>
            </a:avLst>
          </a:prstGeom>
          <a:solidFill>
            <a:srgbClr val="FA46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58"/>
          <p:cNvSpPr/>
          <p:nvPr/>
        </p:nvSpPr>
        <p:spPr>
          <a:xfrm>
            <a:off x="4379282" y="2604864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8"/>
          <p:cNvSpPr/>
          <p:nvPr/>
        </p:nvSpPr>
        <p:spPr>
          <a:xfrm>
            <a:off x="4005207" y="2922687"/>
            <a:ext cx="1133363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8"/>
          <p:cNvSpPr/>
          <p:nvPr/>
        </p:nvSpPr>
        <p:spPr>
          <a:xfrm>
            <a:off x="4043794" y="3114675"/>
            <a:ext cx="1056263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EE3DC"/>
              </a:buClr>
              <a:buSzPts val="790"/>
              <a:buFont typeface="Arial"/>
              <a:buNone/>
            </a:pPr>
            <a:r>
              <a:rPr lang="en-US" sz="790" b="0" i="0" u="none" strike="noStrike" cap="none">
                <a:solidFill>
                  <a:srgbClr val="FEE3DC"/>
                </a:solidFill>
                <a:latin typeface="Arial"/>
                <a:ea typeface="Arial"/>
                <a:cs typeface="Arial"/>
                <a:sym typeface="Arial"/>
              </a:rPr>
              <a:t>Queue Manager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8"/>
          <p:cNvSpPr/>
          <p:nvPr/>
        </p:nvSpPr>
        <p:spPr>
          <a:xfrm>
            <a:off x="5287863" y="2798043"/>
            <a:ext cx="25633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58"/>
          <p:cNvSpPr/>
          <p:nvPr/>
        </p:nvSpPr>
        <p:spPr>
          <a:xfrm>
            <a:off x="5487888" y="2461357"/>
            <a:ext cx="1338262" cy="928688"/>
          </a:xfrm>
          <a:prstGeom prst="roundRect">
            <a:avLst>
              <a:gd name="adj" fmla="val 8205"/>
            </a:avLst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58"/>
          <p:cNvSpPr/>
          <p:nvPr/>
        </p:nvSpPr>
        <p:spPr>
          <a:xfrm>
            <a:off x="5964376" y="2604864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8"/>
          <p:cNvSpPr/>
          <p:nvPr/>
        </p:nvSpPr>
        <p:spPr>
          <a:xfrm>
            <a:off x="5699120" y="2922687"/>
            <a:ext cx="915799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Performer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8"/>
          <p:cNvSpPr/>
          <p:nvPr/>
        </p:nvSpPr>
        <p:spPr>
          <a:xfrm>
            <a:off x="5632672" y="3114675"/>
            <a:ext cx="1048621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1DFEE"/>
              </a:buClr>
              <a:buSzPts val="790"/>
              <a:buFont typeface="Arial"/>
              <a:buNone/>
            </a:pPr>
            <a:r>
              <a:rPr lang="en-US" sz="790" b="0" i="0" u="none" strike="noStrike" cap="none">
                <a:solidFill>
                  <a:srgbClr val="D1DFEE"/>
                </a:solidFill>
                <a:latin typeface="Arial"/>
                <a:ea typeface="Arial"/>
                <a:cs typeface="Arial"/>
                <a:sym typeface="Arial"/>
              </a:rPr>
              <a:t>Processes Items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58"/>
          <p:cNvSpPr/>
          <p:nvPr/>
        </p:nvSpPr>
        <p:spPr>
          <a:xfrm>
            <a:off x="6872957" y="2798043"/>
            <a:ext cx="25633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440"/>
              <a:buFont typeface="Arial"/>
              <a:buNone/>
            </a:pPr>
            <a:r>
              <a:rPr lang="en-US" sz="144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8"/>
          <p:cNvSpPr/>
          <p:nvPr/>
        </p:nvSpPr>
        <p:spPr>
          <a:xfrm>
            <a:off x="7072982" y="2451832"/>
            <a:ext cx="1338262" cy="947737"/>
          </a:xfrm>
          <a:prstGeom prst="roundRect">
            <a:avLst>
              <a:gd name="adj" fmla="val 8040"/>
            </a:avLst>
          </a:prstGeom>
          <a:solidFill>
            <a:srgbClr val="EFF6FF"/>
          </a:solidFill>
          <a:ln w="9525" cap="flat" cmpd="sng">
            <a:solidFill>
              <a:srgbClr val="1A5F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58"/>
          <p:cNvSpPr/>
          <p:nvPr/>
        </p:nvSpPr>
        <p:spPr>
          <a:xfrm>
            <a:off x="7549470" y="2604864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8"/>
          <p:cNvSpPr/>
          <p:nvPr/>
        </p:nvSpPr>
        <p:spPr>
          <a:xfrm>
            <a:off x="7101680" y="2922687"/>
            <a:ext cx="1280793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 Updated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8"/>
          <p:cNvSpPr/>
          <p:nvPr/>
        </p:nvSpPr>
        <p:spPr>
          <a:xfrm>
            <a:off x="7251528" y="3114675"/>
            <a:ext cx="98109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Arial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+ Desktop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58"/>
          <p:cNvSpPr/>
          <p:nvPr/>
        </p:nvSpPr>
        <p:spPr>
          <a:xfrm>
            <a:off x="2473821" y="4728716"/>
            <a:ext cx="109537" cy="109537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58"/>
          <p:cNvSpPr/>
          <p:nvPr/>
        </p:nvSpPr>
        <p:spPr>
          <a:xfrm>
            <a:off x="2656582" y="4690170"/>
            <a:ext cx="251130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REFramework-based projects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8"/>
          <p:cNvSpPr/>
          <p:nvPr/>
        </p:nvSpPr>
        <p:spPr>
          <a:xfrm>
            <a:off x="4818757" y="4728716"/>
            <a:ext cx="109537" cy="109537"/>
          </a:xfrm>
          <a:prstGeom prst="ellipse">
            <a:avLst/>
          </a:prstGeom>
          <a:solidFill>
            <a:srgbClr val="FA46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8"/>
          <p:cNvSpPr/>
          <p:nvPr/>
        </p:nvSpPr>
        <p:spPr>
          <a:xfrm>
            <a:off x="5001518" y="4690170"/>
            <a:ext cx="222640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UiPath Cloud Orchestrator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58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1" name="Google Shape;1271;p5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58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3" name="Google Shape;1273;p5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58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59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59"/>
          <p:cNvSpPr/>
          <p:nvPr/>
        </p:nvSpPr>
        <p:spPr>
          <a:xfrm>
            <a:off x="7681935" y="3681431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59"/>
          <p:cNvSpPr/>
          <p:nvPr/>
        </p:nvSpPr>
        <p:spPr>
          <a:xfrm>
            <a:off x="731490" y="355253"/>
            <a:ext cx="6788103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1: Dispatcher Project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9"/>
          <p:cNvSpPr/>
          <p:nvPr/>
        </p:nvSpPr>
        <p:spPr>
          <a:xfrm>
            <a:off x="732420" y="834144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59"/>
          <p:cNvSpPr/>
          <p:nvPr/>
        </p:nvSpPr>
        <p:spPr>
          <a:xfrm>
            <a:off x="731490" y="1022672"/>
            <a:ext cx="96136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9"/>
          <p:cNvSpPr/>
          <p:nvPr/>
        </p:nvSpPr>
        <p:spPr>
          <a:xfrm>
            <a:off x="731490" y="1281485"/>
            <a:ext cx="4449648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15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Log in to ACME web and navigate to work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9"/>
          <p:cNvSpPr/>
          <p:nvPr/>
        </p:nvSpPr>
        <p:spPr>
          <a:xfrm>
            <a:off x="731490" y="1559719"/>
            <a:ext cx="3018502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15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Extract all WI</a:t>
            </a:r>
            <a:r>
              <a:rPr lang="en-US" sz="1150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-US" sz="115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 type work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9"/>
          <p:cNvSpPr/>
          <p:nvPr/>
        </p:nvSpPr>
        <p:spPr>
          <a:xfrm>
            <a:off x="731490" y="1837953"/>
            <a:ext cx="4744797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15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Upload each item as a queue entry in Orchestrator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9"/>
          <p:cNvSpPr/>
          <p:nvPr/>
        </p:nvSpPr>
        <p:spPr>
          <a:xfrm>
            <a:off x="731490" y="2116187"/>
            <a:ext cx="4698169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15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Handle exceptions and send email alerts on failure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9"/>
          <p:cNvSpPr/>
          <p:nvPr/>
        </p:nvSpPr>
        <p:spPr>
          <a:xfrm>
            <a:off x="4686300" y="1022672"/>
            <a:ext cx="175142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KEY WORKFLOWS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59"/>
          <p:cNvSpPr/>
          <p:nvPr/>
        </p:nvSpPr>
        <p:spPr>
          <a:xfrm>
            <a:off x="4687267" y="1310804"/>
            <a:ext cx="3724275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59"/>
          <p:cNvSpPr/>
          <p:nvPr/>
        </p:nvSpPr>
        <p:spPr>
          <a:xfrm>
            <a:off x="4828208" y="1384920"/>
            <a:ext cx="1860352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ACMEWeb_Login.xaml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9"/>
          <p:cNvSpPr/>
          <p:nvPr/>
        </p:nvSpPr>
        <p:spPr>
          <a:xfrm>
            <a:off x="4828208" y="1567383"/>
            <a:ext cx="190678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Authenticates to ACME web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9"/>
          <p:cNvSpPr/>
          <p:nvPr/>
        </p:nvSpPr>
        <p:spPr>
          <a:xfrm>
            <a:off x="4687267" y="1841450"/>
            <a:ext cx="3724275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59"/>
          <p:cNvSpPr/>
          <p:nvPr/>
        </p:nvSpPr>
        <p:spPr>
          <a:xfrm>
            <a:off x="4828208" y="1915567"/>
            <a:ext cx="3062421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ACMEWeb_NavigateWorkItems.xaml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9"/>
          <p:cNvSpPr/>
          <p:nvPr/>
        </p:nvSpPr>
        <p:spPr>
          <a:xfrm>
            <a:off x="4828208" y="2098030"/>
            <a:ext cx="120311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Finds WI5 entries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9"/>
          <p:cNvSpPr/>
          <p:nvPr/>
        </p:nvSpPr>
        <p:spPr>
          <a:xfrm>
            <a:off x="4687267" y="2372097"/>
            <a:ext cx="3724275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59"/>
          <p:cNvSpPr/>
          <p:nvPr/>
        </p:nvSpPr>
        <p:spPr>
          <a:xfrm>
            <a:off x="4828208" y="2446213"/>
            <a:ext cx="2962297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ACMEWeb_ExtractWorkItems.xaml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9"/>
          <p:cNvSpPr/>
          <p:nvPr/>
        </p:nvSpPr>
        <p:spPr>
          <a:xfrm>
            <a:off x="4828208" y="2628677"/>
            <a:ext cx="112765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Reads item data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9"/>
          <p:cNvSpPr/>
          <p:nvPr/>
        </p:nvSpPr>
        <p:spPr>
          <a:xfrm>
            <a:off x="4687267" y="2902744"/>
            <a:ext cx="3724275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9"/>
          <p:cNvSpPr/>
          <p:nvPr/>
        </p:nvSpPr>
        <p:spPr>
          <a:xfrm>
            <a:off x="4828208" y="2976860"/>
            <a:ext cx="3362987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Dispatcher_DispatchWorkItems.xaml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59"/>
          <p:cNvSpPr/>
          <p:nvPr/>
        </p:nvSpPr>
        <p:spPr>
          <a:xfrm>
            <a:off x="4828208" y="3159323"/>
            <a:ext cx="122391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Uploads to queue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9"/>
          <p:cNvSpPr/>
          <p:nvPr/>
        </p:nvSpPr>
        <p:spPr>
          <a:xfrm>
            <a:off x="4687267" y="3433390"/>
            <a:ext cx="3724275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59"/>
          <p:cNvSpPr/>
          <p:nvPr/>
        </p:nvSpPr>
        <p:spPr>
          <a:xfrm>
            <a:off x="4828208" y="3507507"/>
            <a:ext cx="286207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Email_SendExceptionMail.xaml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9"/>
          <p:cNvSpPr/>
          <p:nvPr/>
        </p:nvSpPr>
        <p:spPr>
          <a:xfrm>
            <a:off x="4828208" y="3689970"/>
            <a:ext cx="11634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Error notification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9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7" name="Google Shape;1307;p5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59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9" name="Google Shape;1309;p5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59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60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60"/>
          <p:cNvSpPr/>
          <p:nvPr/>
        </p:nvSpPr>
        <p:spPr>
          <a:xfrm>
            <a:off x="7681935" y="3681431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60"/>
          <p:cNvSpPr/>
          <p:nvPr/>
        </p:nvSpPr>
        <p:spPr>
          <a:xfrm>
            <a:off x="731490" y="355253"/>
            <a:ext cx="6699104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Deliverable 2: Performer Project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60"/>
          <p:cNvSpPr/>
          <p:nvPr/>
        </p:nvSpPr>
        <p:spPr>
          <a:xfrm>
            <a:off x="732420" y="834144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60"/>
          <p:cNvSpPr/>
          <p:nvPr/>
        </p:nvSpPr>
        <p:spPr>
          <a:xfrm>
            <a:off x="731490" y="1022672"/>
            <a:ext cx="96136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60"/>
          <p:cNvSpPr/>
          <p:nvPr/>
        </p:nvSpPr>
        <p:spPr>
          <a:xfrm>
            <a:off x="731490" y="1281485"/>
            <a:ext cx="4424980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Fetch queue items one-by-one from Orchestrator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60"/>
          <p:cNvSpPr/>
          <p:nvPr/>
        </p:nvSpPr>
        <p:spPr>
          <a:xfrm>
            <a:off x="731490" y="1547143"/>
            <a:ext cx="4480798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Open ACME Desktop and locate the client account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60"/>
          <p:cNvSpPr/>
          <p:nvPr/>
        </p:nvSpPr>
        <p:spPr>
          <a:xfrm>
            <a:off x="731490" y="1812801"/>
            <a:ext cx="3781767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Sum all account transactions for the client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60"/>
          <p:cNvSpPr/>
          <p:nvPr/>
        </p:nvSpPr>
        <p:spPr>
          <a:xfrm>
            <a:off x="731490" y="2078459"/>
            <a:ext cx="46598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Compare sum with ACME Web and update work item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60"/>
          <p:cNvSpPr/>
          <p:nvPr/>
        </p:nvSpPr>
        <p:spPr>
          <a:xfrm>
            <a:off x="905470" y="2295227"/>
            <a:ext cx="56870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status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60"/>
          <p:cNvSpPr/>
          <p:nvPr/>
        </p:nvSpPr>
        <p:spPr>
          <a:xfrm>
            <a:off x="731490" y="2532683"/>
            <a:ext cx="4850919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Retry on system exceptions; mark Business Exception if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60"/>
          <p:cNvSpPr/>
          <p:nvPr/>
        </p:nvSpPr>
        <p:spPr>
          <a:xfrm>
            <a:off x="905470" y="2749451"/>
            <a:ext cx="10019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data invalid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60"/>
          <p:cNvSpPr/>
          <p:nvPr/>
        </p:nvSpPr>
        <p:spPr>
          <a:xfrm>
            <a:off x="4686300" y="1022672"/>
            <a:ext cx="175142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KEY WORKFLOWS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60"/>
          <p:cNvSpPr/>
          <p:nvPr/>
        </p:nvSpPr>
        <p:spPr>
          <a:xfrm>
            <a:off x="4687267" y="1310543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60"/>
          <p:cNvSpPr/>
          <p:nvPr/>
        </p:nvSpPr>
        <p:spPr>
          <a:xfrm>
            <a:off x="4828208" y="1374577"/>
            <a:ext cx="2103455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ACMEDesktop_Login.xaml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60"/>
          <p:cNvSpPr/>
          <p:nvPr/>
        </p:nvSpPr>
        <p:spPr>
          <a:xfrm>
            <a:off x="4828208" y="1538511"/>
            <a:ext cx="205586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Opens &amp; logs into ACME desktop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60"/>
          <p:cNvSpPr/>
          <p:nvPr/>
        </p:nvSpPr>
        <p:spPr>
          <a:xfrm>
            <a:off x="4687267" y="1782775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60"/>
          <p:cNvSpPr/>
          <p:nvPr/>
        </p:nvSpPr>
        <p:spPr>
          <a:xfrm>
            <a:off x="4828208" y="1846808"/>
            <a:ext cx="3684642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ACMEDesktop_NavigateToClientSearch.xaml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60"/>
          <p:cNvSpPr/>
          <p:nvPr/>
        </p:nvSpPr>
        <p:spPr>
          <a:xfrm>
            <a:off x="4828208" y="2010742"/>
            <a:ext cx="98690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Finds the client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60"/>
          <p:cNvSpPr/>
          <p:nvPr/>
        </p:nvSpPr>
        <p:spPr>
          <a:xfrm>
            <a:off x="4687267" y="2255007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60"/>
          <p:cNvSpPr/>
          <p:nvPr/>
        </p:nvSpPr>
        <p:spPr>
          <a:xfrm>
            <a:off x="4828208" y="2319040"/>
            <a:ext cx="3684642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ACMEDesktop_SumAccountTransactions.xaml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60"/>
          <p:cNvSpPr/>
          <p:nvPr/>
        </p:nvSpPr>
        <p:spPr>
          <a:xfrm>
            <a:off x="4828208" y="2482974"/>
            <a:ext cx="99899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Calculates total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60"/>
          <p:cNvSpPr/>
          <p:nvPr/>
        </p:nvSpPr>
        <p:spPr>
          <a:xfrm>
            <a:off x="4687267" y="2727238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60"/>
          <p:cNvSpPr/>
          <p:nvPr/>
        </p:nvSpPr>
        <p:spPr>
          <a:xfrm>
            <a:off x="4828208" y="2791271"/>
            <a:ext cx="256847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ACMEWeb_UpdateWorkItem.xaml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0"/>
          <p:cNvSpPr/>
          <p:nvPr/>
        </p:nvSpPr>
        <p:spPr>
          <a:xfrm>
            <a:off x="4828208" y="2955206"/>
            <a:ext cx="1605543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Posts result to ACME web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0"/>
          <p:cNvSpPr/>
          <p:nvPr/>
        </p:nvSpPr>
        <p:spPr>
          <a:xfrm>
            <a:off x="4687267" y="3199470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60"/>
          <p:cNvSpPr/>
          <p:nvPr/>
        </p:nvSpPr>
        <p:spPr>
          <a:xfrm>
            <a:off x="4828208" y="3263503"/>
            <a:ext cx="312655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Control_CheckAccountPosition.xaml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60"/>
          <p:cNvSpPr/>
          <p:nvPr/>
        </p:nvSpPr>
        <p:spPr>
          <a:xfrm>
            <a:off x="4828208" y="3427437"/>
            <a:ext cx="1370953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Validates the position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60"/>
          <p:cNvSpPr/>
          <p:nvPr/>
        </p:nvSpPr>
        <p:spPr>
          <a:xfrm>
            <a:off x="4687267" y="3671701"/>
            <a:ext cx="3724275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60"/>
          <p:cNvSpPr/>
          <p:nvPr/>
        </p:nvSpPr>
        <p:spPr>
          <a:xfrm>
            <a:off x="4828208" y="3735735"/>
            <a:ext cx="266153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Arial"/>
              <a:buNone/>
            </a:pPr>
            <a:r>
              <a:rPr lang="en-US" sz="94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Email_SendExceptionMail.xaml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60"/>
          <p:cNvSpPr/>
          <p:nvPr/>
        </p:nvSpPr>
        <p:spPr>
          <a:xfrm>
            <a:off x="4828208" y="3899669"/>
            <a:ext cx="1071161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90"/>
              <a:buFont typeface="DM Sans"/>
              <a:buNone/>
            </a:pPr>
            <a:r>
              <a:rPr lang="en-US" sz="79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Error notification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60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9" name="Google Shape;1349;p6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60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1" name="Google Shape;1351;p6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0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61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61"/>
          <p:cNvSpPr/>
          <p:nvPr/>
        </p:nvSpPr>
        <p:spPr>
          <a:xfrm>
            <a:off x="731490" y="355253"/>
            <a:ext cx="6948979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Orchestrator Assets to Configure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731490" y="811485"/>
            <a:ext cx="852087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Both Dispatcher &amp; Performer share these assets — create them in your Orchestrator folder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1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61"/>
          <p:cNvSpPr/>
          <p:nvPr/>
        </p:nvSpPr>
        <p:spPr>
          <a:xfrm>
            <a:off x="731974" y="1272108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61"/>
          <p:cNvSpPr/>
          <p:nvPr/>
        </p:nvSpPr>
        <p:spPr>
          <a:xfrm>
            <a:off x="872542" y="1349313"/>
            <a:ext cx="585788" cy="166688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61"/>
          <p:cNvSpPr/>
          <p:nvPr/>
        </p:nvSpPr>
        <p:spPr>
          <a:xfrm>
            <a:off x="928241" y="1364084"/>
            <a:ext cx="6738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Credential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61"/>
          <p:cNvSpPr/>
          <p:nvPr/>
        </p:nvSpPr>
        <p:spPr>
          <a:xfrm>
            <a:off x="1548854" y="1343174"/>
            <a:ext cx="155978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ACME_Credential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1548854" y="1498402"/>
            <a:ext cx="280035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Username &amp; password for ACME System 1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1"/>
          <p:cNvSpPr/>
          <p:nvPr/>
        </p:nvSpPr>
        <p:spPr>
          <a:xfrm>
            <a:off x="4663901" y="1272108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61"/>
          <p:cNvSpPr/>
          <p:nvPr/>
        </p:nvSpPr>
        <p:spPr>
          <a:xfrm>
            <a:off x="4804432" y="1349313"/>
            <a:ext cx="585788" cy="166688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61"/>
          <p:cNvSpPr/>
          <p:nvPr/>
        </p:nvSpPr>
        <p:spPr>
          <a:xfrm>
            <a:off x="4860131" y="1364084"/>
            <a:ext cx="6738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Credential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5480745" y="1343174"/>
            <a:ext cx="2160917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SenderMail_Credential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61"/>
          <p:cNvSpPr/>
          <p:nvPr/>
        </p:nvSpPr>
        <p:spPr>
          <a:xfrm>
            <a:off x="5480745" y="1498402"/>
            <a:ext cx="280480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Email sender account for exception alerts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61"/>
          <p:cNvSpPr/>
          <p:nvPr/>
        </p:nvSpPr>
        <p:spPr>
          <a:xfrm>
            <a:off x="731974" y="2031504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61"/>
          <p:cNvSpPr/>
          <p:nvPr/>
        </p:nvSpPr>
        <p:spPr>
          <a:xfrm>
            <a:off x="873807" y="2108708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61"/>
          <p:cNvSpPr/>
          <p:nvPr/>
        </p:nvSpPr>
        <p:spPr>
          <a:xfrm>
            <a:off x="928241" y="2123480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61"/>
          <p:cNvSpPr/>
          <p:nvPr/>
        </p:nvSpPr>
        <p:spPr>
          <a:xfrm>
            <a:off x="1265634" y="2102569"/>
            <a:ext cx="115909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System1_URL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61"/>
          <p:cNvSpPr/>
          <p:nvPr/>
        </p:nvSpPr>
        <p:spPr>
          <a:xfrm>
            <a:off x="1265634" y="2257797"/>
            <a:ext cx="218539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ACME web application base URL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61"/>
          <p:cNvSpPr/>
          <p:nvPr/>
        </p:nvSpPr>
        <p:spPr>
          <a:xfrm>
            <a:off x="4663901" y="2031504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61"/>
          <p:cNvSpPr/>
          <p:nvPr/>
        </p:nvSpPr>
        <p:spPr>
          <a:xfrm>
            <a:off x="4805697" y="2108708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61"/>
          <p:cNvSpPr/>
          <p:nvPr/>
        </p:nvSpPr>
        <p:spPr>
          <a:xfrm>
            <a:off x="4860131" y="2123480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1"/>
          <p:cNvSpPr/>
          <p:nvPr/>
        </p:nvSpPr>
        <p:spPr>
          <a:xfrm>
            <a:off x="5197525" y="2102569"/>
            <a:ext cx="1459662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DataFolderPath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61"/>
          <p:cNvSpPr/>
          <p:nvPr/>
        </p:nvSpPr>
        <p:spPr>
          <a:xfrm>
            <a:off x="5197525" y="2257797"/>
            <a:ext cx="301511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Path to the Data folder on the robot machine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61"/>
          <p:cNvSpPr/>
          <p:nvPr/>
        </p:nvSpPr>
        <p:spPr>
          <a:xfrm>
            <a:off x="731974" y="2790937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61"/>
          <p:cNvSpPr/>
          <p:nvPr/>
        </p:nvSpPr>
        <p:spPr>
          <a:xfrm>
            <a:off x="873807" y="286810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1"/>
          <p:cNvSpPr/>
          <p:nvPr/>
        </p:nvSpPr>
        <p:spPr>
          <a:xfrm>
            <a:off x="928241" y="288287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61"/>
          <p:cNvSpPr/>
          <p:nvPr/>
        </p:nvSpPr>
        <p:spPr>
          <a:xfrm>
            <a:off x="1265634" y="2861965"/>
            <a:ext cx="2160917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ScreenshotsFolderPath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61"/>
          <p:cNvSpPr/>
          <p:nvPr/>
        </p:nvSpPr>
        <p:spPr>
          <a:xfrm>
            <a:off x="1265634" y="3017193"/>
            <a:ext cx="239995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Path to save exception screenshots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61"/>
          <p:cNvSpPr/>
          <p:nvPr/>
        </p:nvSpPr>
        <p:spPr>
          <a:xfrm>
            <a:off x="4663901" y="2790937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61"/>
          <p:cNvSpPr/>
          <p:nvPr/>
        </p:nvSpPr>
        <p:spPr>
          <a:xfrm>
            <a:off x="4805697" y="286810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61"/>
          <p:cNvSpPr/>
          <p:nvPr/>
        </p:nvSpPr>
        <p:spPr>
          <a:xfrm>
            <a:off x="4860131" y="288287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61"/>
          <p:cNvSpPr/>
          <p:nvPr/>
        </p:nvSpPr>
        <p:spPr>
          <a:xfrm>
            <a:off x="5197525" y="2861965"/>
            <a:ext cx="2261042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ExceptionMail_Reciever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61"/>
          <p:cNvSpPr/>
          <p:nvPr/>
        </p:nvSpPr>
        <p:spPr>
          <a:xfrm>
            <a:off x="5197525" y="3017193"/>
            <a:ext cx="243923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Email address to receive error alerts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61"/>
          <p:cNvSpPr/>
          <p:nvPr/>
        </p:nvSpPr>
        <p:spPr>
          <a:xfrm>
            <a:off x="731974" y="3550407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61"/>
          <p:cNvSpPr/>
          <p:nvPr/>
        </p:nvSpPr>
        <p:spPr>
          <a:xfrm>
            <a:off x="873807" y="362757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61"/>
          <p:cNvSpPr/>
          <p:nvPr/>
        </p:nvSpPr>
        <p:spPr>
          <a:xfrm>
            <a:off x="928241" y="364234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61"/>
          <p:cNvSpPr/>
          <p:nvPr/>
        </p:nvSpPr>
        <p:spPr>
          <a:xfrm>
            <a:off x="1265634" y="3621435"/>
            <a:ext cx="2160917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ExceptionMail_Subject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61"/>
          <p:cNvSpPr/>
          <p:nvPr/>
        </p:nvSpPr>
        <p:spPr>
          <a:xfrm>
            <a:off x="1265634" y="3776662"/>
            <a:ext cx="219961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Subject line for exception emails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61"/>
          <p:cNvSpPr/>
          <p:nvPr/>
        </p:nvSpPr>
        <p:spPr>
          <a:xfrm>
            <a:off x="4663901" y="3550407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61"/>
          <p:cNvSpPr/>
          <p:nvPr/>
        </p:nvSpPr>
        <p:spPr>
          <a:xfrm>
            <a:off x="4805697" y="362757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61"/>
          <p:cNvSpPr/>
          <p:nvPr/>
        </p:nvSpPr>
        <p:spPr>
          <a:xfrm>
            <a:off x="4860131" y="364234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61"/>
          <p:cNvSpPr/>
          <p:nvPr/>
        </p:nvSpPr>
        <p:spPr>
          <a:xfrm>
            <a:off x="5197525" y="3621435"/>
            <a:ext cx="115909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Mail_Server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61"/>
          <p:cNvSpPr/>
          <p:nvPr/>
        </p:nvSpPr>
        <p:spPr>
          <a:xfrm>
            <a:off x="5197525" y="3776662"/>
            <a:ext cx="143963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SMTP server address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61"/>
          <p:cNvSpPr/>
          <p:nvPr/>
        </p:nvSpPr>
        <p:spPr>
          <a:xfrm>
            <a:off x="731974" y="4309876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61"/>
          <p:cNvSpPr/>
          <p:nvPr/>
        </p:nvSpPr>
        <p:spPr>
          <a:xfrm>
            <a:off x="873807" y="438704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61"/>
          <p:cNvSpPr/>
          <p:nvPr/>
        </p:nvSpPr>
        <p:spPr>
          <a:xfrm>
            <a:off x="928241" y="440181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61"/>
          <p:cNvSpPr/>
          <p:nvPr/>
        </p:nvSpPr>
        <p:spPr>
          <a:xfrm>
            <a:off x="1265634" y="4380905"/>
            <a:ext cx="155978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Mail_PortNumber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61"/>
          <p:cNvSpPr/>
          <p:nvPr/>
        </p:nvSpPr>
        <p:spPr>
          <a:xfrm>
            <a:off x="1265634" y="4536132"/>
            <a:ext cx="129443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SMTP port number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1"/>
          <p:cNvSpPr/>
          <p:nvPr/>
        </p:nvSpPr>
        <p:spPr>
          <a:xfrm>
            <a:off x="4663901" y="4309876"/>
            <a:ext cx="3748087" cy="576262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61"/>
          <p:cNvSpPr/>
          <p:nvPr/>
        </p:nvSpPr>
        <p:spPr>
          <a:xfrm>
            <a:off x="4805697" y="4387044"/>
            <a:ext cx="300038" cy="166688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61"/>
          <p:cNvSpPr/>
          <p:nvPr/>
        </p:nvSpPr>
        <p:spPr>
          <a:xfrm>
            <a:off x="4860131" y="4401815"/>
            <a:ext cx="30567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61"/>
          <p:cNvSpPr/>
          <p:nvPr/>
        </p:nvSpPr>
        <p:spPr>
          <a:xfrm>
            <a:off x="5197525" y="4380905"/>
            <a:ext cx="75840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Arial"/>
              <a:buNone/>
            </a:pPr>
            <a:r>
              <a:rPr lang="en-US" sz="101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WI_Type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61"/>
          <p:cNvSpPr/>
          <p:nvPr/>
        </p:nvSpPr>
        <p:spPr>
          <a:xfrm>
            <a:off x="5197525" y="4536132"/>
            <a:ext cx="247028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Work item type to process (e.g. WI5)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61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4" name="Google Shape;1414;p6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61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6" name="Google Shape;1416;p6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61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62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62"/>
          <p:cNvSpPr/>
          <p:nvPr/>
        </p:nvSpPr>
        <p:spPr>
          <a:xfrm>
            <a:off x="7681935" y="3681450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62"/>
          <p:cNvSpPr/>
          <p:nvPr/>
        </p:nvSpPr>
        <p:spPr>
          <a:xfrm>
            <a:off x="731490" y="355253"/>
            <a:ext cx="4853627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Prerequisites Checklist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62"/>
          <p:cNvSpPr/>
          <p:nvPr/>
        </p:nvSpPr>
        <p:spPr>
          <a:xfrm>
            <a:off x="731490" y="811485"/>
            <a:ext cx="666427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Ensure all items are ready before running or recording your automation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62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62"/>
          <p:cNvSpPr/>
          <p:nvPr/>
        </p:nvSpPr>
        <p:spPr>
          <a:xfrm>
            <a:off x="731974" y="1297000"/>
            <a:ext cx="3748087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2"/>
          <p:cNvSpPr/>
          <p:nvPr/>
        </p:nvSpPr>
        <p:spPr>
          <a:xfrm>
            <a:off x="900782" y="1393850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62"/>
          <p:cNvSpPr/>
          <p:nvPr/>
        </p:nvSpPr>
        <p:spPr>
          <a:xfrm>
            <a:off x="1290340" y="1370037"/>
            <a:ext cx="2159563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Microsoft Edge Browser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62"/>
          <p:cNvSpPr/>
          <p:nvPr/>
        </p:nvSpPr>
        <p:spPr>
          <a:xfrm>
            <a:off x="1290340" y="1566342"/>
            <a:ext cx="3621859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139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Installed and set as the default browser for ACME web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8139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automation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62"/>
          <p:cNvSpPr/>
          <p:nvPr/>
        </p:nvSpPr>
        <p:spPr>
          <a:xfrm>
            <a:off x="4663901" y="1297000"/>
            <a:ext cx="3748087" cy="1176338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62"/>
          <p:cNvSpPr/>
          <p:nvPr/>
        </p:nvSpPr>
        <p:spPr>
          <a:xfrm>
            <a:off x="4832672" y="1393850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🔌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62"/>
          <p:cNvSpPr/>
          <p:nvPr/>
        </p:nvSpPr>
        <p:spPr>
          <a:xfrm>
            <a:off x="5222230" y="1370037"/>
            <a:ext cx="236406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UiPath Extension for Edge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62"/>
          <p:cNvSpPr/>
          <p:nvPr/>
        </p:nvSpPr>
        <p:spPr>
          <a:xfrm>
            <a:off x="5222230" y="1566342"/>
            <a:ext cx="351593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Activated — including for InPrivate / private windows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62"/>
          <p:cNvSpPr/>
          <p:nvPr/>
        </p:nvSpPr>
        <p:spPr>
          <a:xfrm>
            <a:off x="731974" y="2655503"/>
            <a:ext cx="3748087" cy="1023937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62"/>
          <p:cNvSpPr/>
          <p:nvPr/>
        </p:nvSpPr>
        <p:spPr>
          <a:xfrm>
            <a:off x="900782" y="2751609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62"/>
          <p:cNvSpPr/>
          <p:nvPr/>
        </p:nvSpPr>
        <p:spPr>
          <a:xfrm>
            <a:off x="1290340" y="2727796"/>
            <a:ext cx="2182393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 System 3 Desktop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62"/>
          <p:cNvSpPr/>
          <p:nvPr/>
        </p:nvSpPr>
        <p:spPr>
          <a:xfrm>
            <a:off x="1290340" y="2924101"/>
            <a:ext cx="320772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Installed, accessible, and credentials configured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62"/>
          <p:cNvSpPr/>
          <p:nvPr/>
        </p:nvSpPr>
        <p:spPr>
          <a:xfrm>
            <a:off x="4663901" y="2655503"/>
            <a:ext cx="3748087" cy="1023937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62"/>
          <p:cNvSpPr/>
          <p:nvPr/>
        </p:nvSpPr>
        <p:spPr>
          <a:xfrm>
            <a:off x="4832672" y="2751609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2"/>
          <p:cNvSpPr/>
          <p:nvPr/>
        </p:nvSpPr>
        <p:spPr>
          <a:xfrm>
            <a:off x="5222230" y="2727796"/>
            <a:ext cx="1845647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Orchestrator Access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62"/>
          <p:cNvSpPr/>
          <p:nvPr/>
        </p:nvSpPr>
        <p:spPr>
          <a:xfrm>
            <a:off x="5222230" y="2924101"/>
            <a:ext cx="357803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You have a tenant, a folder, and a machine connected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62"/>
          <p:cNvSpPr/>
          <p:nvPr/>
        </p:nvSpPr>
        <p:spPr>
          <a:xfrm>
            <a:off x="731974" y="3862350"/>
            <a:ext cx="3748087" cy="1023937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62"/>
          <p:cNvSpPr/>
          <p:nvPr/>
        </p:nvSpPr>
        <p:spPr>
          <a:xfrm>
            <a:off x="900782" y="3958456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📦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62"/>
          <p:cNvSpPr/>
          <p:nvPr/>
        </p:nvSpPr>
        <p:spPr>
          <a:xfrm>
            <a:off x="1290340" y="3934644"/>
            <a:ext cx="1543243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UiPath Packages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62"/>
          <p:cNvSpPr/>
          <p:nvPr/>
        </p:nvSpPr>
        <p:spPr>
          <a:xfrm>
            <a:off x="1290340" y="4130948"/>
            <a:ext cx="393509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All required activity packages are resolved in both projects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62"/>
          <p:cNvSpPr/>
          <p:nvPr/>
        </p:nvSpPr>
        <p:spPr>
          <a:xfrm>
            <a:off x="4663901" y="3862350"/>
            <a:ext cx="3748087" cy="1023937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p62"/>
          <p:cNvSpPr/>
          <p:nvPr/>
        </p:nvSpPr>
        <p:spPr>
          <a:xfrm>
            <a:off x="4832672" y="3958456"/>
            <a:ext cx="3852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80"/>
              <a:buFont typeface="Arial"/>
              <a:buNone/>
            </a:pPr>
            <a:r>
              <a:rPr lang="en-US" sz="158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🔑</a:t>
            </a:r>
            <a:endParaRPr sz="15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2"/>
          <p:cNvSpPr/>
          <p:nvPr/>
        </p:nvSpPr>
        <p:spPr>
          <a:xfrm>
            <a:off x="5222230" y="3934644"/>
            <a:ext cx="13747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Assets Created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2"/>
          <p:cNvSpPr/>
          <p:nvPr/>
        </p:nvSpPr>
        <p:spPr>
          <a:xfrm>
            <a:off x="5222230" y="4130948"/>
            <a:ext cx="364091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60"/>
              <a:buFont typeface="DM Sans"/>
              <a:buNone/>
            </a:pPr>
            <a:r>
              <a:rPr lang="en-US" sz="86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All 10 Orchestrator assets are filled with correct values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62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4" name="Google Shape;1454;p6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62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6" name="Google Shape;1456;p6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62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63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63"/>
          <p:cNvSpPr/>
          <p:nvPr/>
        </p:nvSpPr>
        <p:spPr>
          <a:xfrm>
            <a:off x="7681935" y="3681450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63"/>
          <p:cNvSpPr/>
          <p:nvPr/>
        </p:nvSpPr>
        <p:spPr>
          <a:xfrm>
            <a:off x="731490" y="355253"/>
            <a:ext cx="6853982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Recording the Automation Demo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3"/>
          <p:cNvSpPr/>
          <p:nvPr/>
        </p:nvSpPr>
        <p:spPr>
          <a:xfrm>
            <a:off x="731490" y="811485"/>
            <a:ext cx="485682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A full-run screen recording is a required deliverable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3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63"/>
          <p:cNvSpPr/>
          <p:nvPr/>
        </p:nvSpPr>
        <p:spPr>
          <a:xfrm>
            <a:off x="731490" y="1281485"/>
            <a:ext cx="180482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WHAT TO RECORD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3"/>
          <p:cNvSpPr/>
          <p:nvPr/>
        </p:nvSpPr>
        <p:spPr>
          <a:xfrm>
            <a:off x="784994" y="1616050"/>
            <a:ext cx="1319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Arial"/>
              <a:buNone/>
            </a:pPr>
            <a:r>
              <a:rPr lang="en-US" sz="790" b="1" i="0" u="none" strike="noStrike" cap="none">
                <a:solidFill>
                  <a:srgbClr val="FFFFFF"/>
                </a:solidFill>
                <a:highlight>
                  <a:srgbClr val="1A5FAB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3"/>
          <p:cNvSpPr/>
          <p:nvPr/>
        </p:nvSpPr>
        <p:spPr>
          <a:xfrm>
            <a:off x="987400" y="1594247"/>
            <a:ext cx="414908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Full Dispatcher run — from Studio or Orchestrator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63"/>
          <p:cNvSpPr/>
          <p:nvPr/>
        </p:nvSpPr>
        <p:spPr>
          <a:xfrm>
            <a:off x="987400" y="1782812"/>
            <a:ext cx="59849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trigger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63"/>
          <p:cNvSpPr/>
          <p:nvPr/>
        </p:nvSpPr>
        <p:spPr>
          <a:xfrm>
            <a:off x="784994" y="2096021"/>
            <a:ext cx="1319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Arial"/>
              <a:buNone/>
            </a:pPr>
            <a:r>
              <a:rPr lang="en-US" sz="790" b="1" i="0" u="none" strike="noStrike" cap="none">
                <a:solidFill>
                  <a:srgbClr val="FFFFFF"/>
                </a:solidFill>
                <a:highlight>
                  <a:srgbClr val="1A5FAB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63"/>
          <p:cNvSpPr/>
          <p:nvPr/>
        </p:nvSpPr>
        <p:spPr>
          <a:xfrm>
            <a:off x="987400" y="2074218"/>
            <a:ext cx="449627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Queue items appearing in Orchestrator after dispatch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63"/>
          <p:cNvSpPr/>
          <p:nvPr/>
        </p:nvSpPr>
        <p:spPr>
          <a:xfrm>
            <a:off x="784994" y="2387426"/>
            <a:ext cx="1319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Arial"/>
              <a:buNone/>
            </a:pPr>
            <a:r>
              <a:rPr lang="en-US" sz="790" b="1" i="0" u="none" strike="noStrike" cap="none">
                <a:solidFill>
                  <a:srgbClr val="FFFFFF"/>
                </a:solidFill>
                <a:highlight>
                  <a:srgbClr val="1A5FAB"/>
                </a:highlight>
                <a:latin typeface="Arial"/>
                <a:ea typeface="Arial"/>
                <a:cs typeface="Arial"/>
                <a:sym typeface="Arial"/>
              </a:rPr>
              <a:t>3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63"/>
          <p:cNvSpPr/>
          <p:nvPr/>
        </p:nvSpPr>
        <p:spPr>
          <a:xfrm>
            <a:off x="987400" y="2365623"/>
            <a:ext cx="388305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Full Performer run processing all queued items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63"/>
          <p:cNvSpPr/>
          <p:nvPr/>
        </p:nvSpPr>
        <p:spPr>
          <a:xfrm>
            <a:off x="784994" y="2678832"/>
            <a:ext cx="1319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Arial"/>
              <a:buNone/>
            </a:pPr>
            <a:r>
              <a:rPr lang="en-US" sz="790" b="1" i="0" u="none" strike="noStrike" cap="none">
                <a:solidFill>
                  <a:srgbClr val="FFFFFF"/>
                </a:solidFill>
                <a:highlight>
                  <a:srgbClr val="1A5FAB"/>
                </a:highlight>
                <a:latin typeface="Arial"/>
                <a:ea typeface="Arial"/>
                <a:cs typeface="Arial"/>
                <a:sym typeface="Arial"/>
              </a:rPr>
              <a:t>4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63"/>
          <p:cNvSpPr/>
          <p:nvPr/>
        </p:nvSpPr>
        <p:spPr>
          <a:xfrm>
            <a:off x="987400" y="2657029"/>
            <a:ext cx="391410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Final work item statuses updated in ACME web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63"/>
          <p:cNvSpPr/>
          <p:nvPr/>
        </p:nvSpPr>
        <p:spPr>
          <a:xfrm>
            <a:off x="784994" y="2970237"/>
            <a:ext cx="131929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0"/>
              <a:buFont typeface="Arial"/>
              <a:buNone/>
            </a:pPr>
            <a:r>
              <a:rPr lang="en-US" sz="790" b="1" i="0" u="none" strike="noStrike" cap="none">
                <a:solidFill>
                  <a:srgbClr val="FFFFFF"/>
                </a:solidFill>
                <a:highlight>
                  <a:srgbClr val="1A5FAB"/>
                </a:highlight>
                <a:latin typeface="Arial"/>
                <a:ea typeface="Arial"/>
                <a:cs typeface="Arial"/>
                <a:sym typeface="Arial"/>
              </a:rPr>
              <a:t>5</a:t>
            </a:r>
            <a:endParaRPr sz="7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63"/>
          <p:cNvSpPr/>
          <p:nvPr/>
        </p:nvSpPr>
        <p:spPr>
          <a:xfrm>
            <a:off x="987400" y="2948434"/>
            <a:ext cx="361334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Orchestrator Logs view showing successful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63"/>
          <p:cNvSpPr/>
          <p:nvPr/>
        </p:nvSpPr>
        <p:spPr>
          <a:xfrm>
            <a:off x="987400" y="3136999"/>
            <a:ext cx="99406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DM Sans"/>
              <a:buNone/>
            </a:pPr>
            <a:r>
              <a:rPr lang="en-US" sz="108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completion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63"/>
          <p:cNvSpPr/>
          <p:nvPr/>
        </p:nvSpPr>
        <p:spPr>
          <a:xfrm>
            <a:off x="4686300" y="1281485"/>
            <a:ext cx="172153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HOW TO RECORD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63"/>
          <p:cNvSpPr/>
          <p:nvPr/>
        </p:nvSpPr>
        <p:spPr>
          <a:xfrm>
            <a:off x="4687267" y="1593168"/>
            <a:ext cx="3724275" cy="2276475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63"/>
          <p:cNvSpPr/>
          <p:nvPr/>
        </p:nvSpPr>
        <p:spPr>
          <a:xfrm>
            <a:off x="4855592" y="1763539"/>
            <a:ext cx="438260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🎬</a:t>
            </a: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Use OBS Studio or Windows built-in Game Bar (Win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3"/>
          <p:cNvSpPr/>
          <p:nvPr/>
        </p:nvSpPr>
        <p:spPr>
          <a:xfrm>
            <a:off x="5127947" y="1939528"/>
            <a:ext cx="38112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DM Sans"/>
              <a:buNone/>
            </a:pP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+ G)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63"/>
          <p:cNvSpPr/>
          <p:nvPr/>
        </p:nvSpPr>
        <p:spPr>
          <a:xfrm>
            <a:off x="4855592" y="2192610"/>
            <a:ext cx="4078464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📁</a:t>
            </a: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Save recording in the Recordings/ folder of your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63"/>
          <p:cNvSpPr/>
          <p:nvPr/>
        </p:nvSpPr>
        <p:spPr>
          <a:xfrm>
            <a:off x="5127947" y="2368600"/>
            <a:ext cx="412953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DM Sans"/>
              <a:buNone/>
            </a:pP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repo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63"/>
          <p:cNvSpPr/>
          <p:nvPr/>
        </p:nvSpPr>
        <p:spPr>
          <a:xfrm>
            <a:off x="4855592" y="2621682"/>
            <a:ext cx="439692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Record full screen — show Studio, Orchestrator, and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63"/>
          <p:cNvSpPr/>
          <p:nvPr/>
        </p:nvSpPr>
        <p:spPr>
          <a:xfrm>
            <a:off x="5127947" y="2797671"/>
            <a:ext cx="514238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DM Sans"/>
              <a:buNone/>
            </a:pP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ACME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63"/>
          <p:cNvSpPr/>
          <p:nvPr/>
        </p:nvSpPr>
        <p:spPr>
          <a:xfrm>
            <a:off x="4855592" y="3050753"/>
            <a:ext cx="41928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⏱️</a:t>
            </a: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No need to cut — a complete unedited run is fine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63"/>
          <p:cNvSpPr/>
          <p:nvPr/>
        </p:nvSpPr>
        <p:spPr>
          <a:xfrm>
            <a:off x="4855592" y="3347293"/>
            <a:ext cx="4267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📸</a:t>
            </a: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Also add screenshots of queue before &amp; after into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63"/>
          <p:cNvSpPr/>
          <p:nvPr/>
        </p:nvSpPr>
        <p:spPr>
          <a:xfrm>
            <a:off x="5127947" y="3523283"/>
            <a:ext cx="979163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10"/>
              <a:buFont typeface="DM Sans"/>
              <a:buNone/>
            </a:pPr>
            <a:r>
              <a:rPr lang="en-US" sz="101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Recordings/</a:t>
            </a:r>
            <a:endParaRPr sz="10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63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4" name="Google Shape;1494;p6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63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6" name="Google Shape;1496;p6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63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64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64"/>
          <p:cNvSpPr/>
          <p:nvPr/>
        </p:nvSpPr>
        <p:spPr>
          <a:xfrm>
            <a:off x="7681935" y="3681450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64"/>
          <p:cNvSpPr/>
          <p:nvPr/>
        </p:nvSpPr>
        <p:spPr>
          <a:xfrm>
            <a:off x="731490" y="355253"/>
            <a:ext cx="6965811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Publishing to UiPath Orchestrator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64"/>
          <p:cNvSpPr/>
          <p:nvPr/>
        </p:nvSpPr>
        <p:spPr>
          <a:xfrm>
            <a:off x="731490" y="811485"/>
            <a:ext cx="482847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Do this for </a:t>
            </a:r>
            <a:r>
              <a:rPr lang="en-US" sz="1220" b="1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both</a:t>
            </a: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 Dispatcher and Performer projects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64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64"/>
          <p:cNvSpPr/>
          <p:nvPr/>
        </p:nvSpPr>
        <p:spPr>
          <a:xfrm>
            <a:off x="732048" y="1298265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64"/>
          <p:cNvSpPr/>
          <p:nvPr/>
        </p:nvSpPr>
        <p:spPr>
          <a:xfrm>
            <a:off x="800621" y="1320701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64"/>
          <p:cNvSpPr/>
          <p:nvPr/>
        </p:nvSpPr>
        <p:spPr>
          <a:xfrm>
            <a:off x="1069777" y="1288182"/>
            <a:ext cx="2694429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Open project in UiPath Studio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64"/>
          <p:cNvSpPr/>
          <p:nvPr/>
        </p:nvSpPr>
        <p:spPr>
          <a:xfrm>
            <a:off x="1069777" y="1473845"/>
            <a:ext cx="4035996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File → Open → select Dispatcher or Performer project.json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64"/>
          <p:cNvSpPr/>
          <p:nvPr/>
        </p:nvSpPr>
        <p:spPr>
          <a:xfrm>
            <a:off x="732048" y="1729643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64"/>
          <p:cNvSpPr/>
          <p:nvPr/>
        </p:nvSpPr>
        <p:spPr>
          <a:xfrm>
            <a:off x="800621" y="1752079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64"/>
          <p:cNvSpPr/>
          <p:nvPr/>
        </p:nvSpPr>
        <p:spPr>
          <a:xfrm>
            <a:off x="1069777" y="1719560"/>
            <a:ext cx="135102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Click "Publish"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64"/>
          <p:cNvSpPr/>
          <p:nvPr/>
        </p:nvSpPr>
        <p:spPr>
          <a:xfrm>
            <a:off x="1069777" y="1905223"/>
            <a:ext cx="4644770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Design tab → Publish button (top ribbon) or use keyboard shortcut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64"/>
          <p:cNvSpPr/>
          <p:nvPr/>
        </p:nvSpPr>
        <p:spPr>
          <a:xfrm>
            <a:off x="732048" y="2161022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64"/>
          <p:cNvSpPr/>
          <p:nvPr/>
        </p:nvSpPr>
        <p:spPr>
          <a:xfrm>
            <a:off x="800621" y="2183457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64"/>
          <p:cNvSpPr/>
          <p:nvPr/>
        </p:nvSpPr>
        <p:spPr>
          <a:xfrm>
            <a:off x="1069777" y="2150938"/>
            <a:ext cx="1899434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Select publish target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64"/>
          <p:cNvSpPr/>
          <p:nvPr/>
        </p:nvSpPr>
        <p:spPr>
          <a:xfrm>
            <a:off x="1069777" y="2336602"/>
            <a:ext cx="3504032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Choose "Orchestrator Tenant" → select your folder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64"/>
          <p:cNvSpPr/>
          <p:nvPr/>
        </p:nvSpPr>
        <p:spPr>
          <a:xfrm>
            <a:off x="732048" y="2592400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64"/>
          <p:cNvSpPr/>
          <p:nvPr/>
        </p:nvSpPr>
        <p:spPr>
          <a:xfrm>
            <a:off x="800621" y="2614836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64"/>
          <p:cNvSpPr/>
          <p:nvPr/>
        </p:nvSpPr>
        <p:spPr>
          <a:xfrm>
            <a:off x="1069777" y="2582317"/>
            <a:ext cx="2569443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Set package name &amp; version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64"/>
          <p:cNvSpPr/>
          <p:nvPr/>
        </p:nvSpPr>
        <p:spPr>
          <a:xfrm>
            <a:off x="1069777" y="2767980"/>
            <a:ext cx="4241661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Name: e.g. RAYA_Dispatcher / RAYA_Performer · Version: 1.0.0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64"/>
          <p:cNvSpPr/>
          <p:nvPr/>
        </p:nvSpPr>
        <p:spPr>
          <a:xfrm>
            <a:off x="732048" y="3023778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64"/>
          <p:cNvSpPr/>
          <p:nvPr/>
        </p:nvSpPr>
        <p:spPr>
          <a:xfrm>
            <a:off x="800621" y="3046214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64"/>
          <p:cNvSpPr/>
          <p:nvPr/>
        </p:nvSpPr>
        <p:spPr>
          <a:xfrm>
            <a:off x="1069777" y="3013695"/>
            <a:ext cx="118453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Click Publish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64"/>
          <p:cNvSpPr/>
          <p:nvPr/>
        </p:nvSpPr>
        <p:spPr>
          <a:xfrm>
            <a:off x="1069777" y="3199358"/>
            <a:ext cx="3926488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Studio uploads the .nupkg to Orchestrator automatically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64"/>
          <p:cNvSpPr/>
          <p:nvPr/>
        </p:nvSpPr>
        <p:spPr>
          <a:xfrm>
            <a:off x="732048" y="3455157"/>
            <a:ext cx="200025" cy="200025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64"/>
          <p:cNvSpPr/>
          <p:nvPr/>
        </p:nvSpPr>
        <p:spPr>
          <a:xfrm>
            <a:off x="800621" y="3477592"/>
            <a:ext cx="13879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64"/>
          <p:cNvSpPr/>
          <p:nvPr/>
        </p:nvSpPr>
        <p:spPr>
          <a:xfrm>
            <a:off x="1069777" y="3445073"/>
            <a:ext cx="199801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Verify in Orchestrator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64"/>
          <p:cNvSpPr/>
          <p:nvPr/>
        </p:nvSpPr>
        <p:spPr>
          <a:xfrm>
            <a:off x="1069777" y="3630737"/>
            <a:ext cx="4813771" cy="14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Packages → Tenant → confirm the package appears under your folder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64"/>
          <p:cNvSpPr/>
          <p:nvPr/>
        </p:nvSpPr>
        <p:spPr>
          <a:xfrm>
            <a:off x="5851252" y="1296553"/>
            <a:ext cx="2562225" cy="3590925"/>
          </a:xfrm>
          <a:prstGeom prst="roundRect">
            <a:avLst>
              <a:gd name="adj" fmla="val 2974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64"/>
          <p:cNvSpPr/>
          <p:nvPr/>
        </p:nvSpPr>
        <p:spPr>
          <a:xfrm>
            <a:off x="6039817" y="1494830"/>
            <a:ext cx="68546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💡 Tips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64"/>
          <p:cNvSpPr/>
          <p:nvPr/>
        </p:nvSpPr>
        <p:spPr>
          <a:xfrm>
            <a:off x="6039817" y="1793825"/>
            <a:ext cx="278758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Always publish Dispatcher first, then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64"/>
          <p:cNvSpPr/>
          <p:nvPr/>
        </p:nvSpPr>
        <p:spPr>
          <a:xfrm>
            <a:off x="6141690" y="1957164"/>
            <a:ext cx="76798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Performer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64"/>
          <p:cNvSpPr/>
          <p:nvPr/>
        </p:nvSpPr>
        <p:spPr>
          <a:xfrm>
            <a:off x="6039817" y="2197596"/>
            <a:ext cx="275460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Use a consistent versioning scheme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64"/>
          <p:cNvSpPr/>
          <p:nvPr/>
        </p:nvSpPr>
        <p:spPr>
          <a:xfrm>
            <a:off x="6141690" y="2360935"/>
            <a:ext cx="1056456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(e.g. 1.0.0, 1.0.1)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64"/>
          <p:cNvSpPr/>
          <p:nvPr/>
        </p:nvSpPr>
        <p:spPr>
          <a:xfrm>
            <a:off x="6039817" y="2601367"/>
            <a:ext cx="2533747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After publish, create a Process in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64"/>
          <p:cNvSpPr/>
          <p:nvPr/>
        </p:nvSpPr>
        <p:spPr>
          <a:xfrm>
            <a:off x="6141690" y="2764706"/>
            <a:ext cx="2243242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Orchestrator that links to each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64"/>
          <p:cNvSpPr/>
          <p:nvPr/>
        </p:nvSpPr>
        <p:spPr>
          <a:xfrm>
            <a:off x="6141690" y="2928045"/>
            <a:ext cx="65847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package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64"/>
          <p:cNvSpPr/>
          <p:nvPr/>
        </p:nvSpPr>
        <p:spPr>
          <a:xfrm>
            <a:off x="6039817" y="3168476"/>
            <a:ext cx="278768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Assign a Machine and Robot to each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64"/>
          <p:cNvSpPr/>
          <p:nvPr/>
        </p:nvSpPr>
        <p:spPr>
          <a:xfrm>
            <a:off x="6141690" y="3331815"/>
            <a:ext cx="1854547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Process before triggering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64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5" name="Google Shape;1545;p6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64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7" name="Google Shape;1547;p6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64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6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65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65"/>
          <p:cNvSpPr/>
          <p:nvPr/>
        </p:nvSpPr>
        <p:spPr>
          <a:xfrm>
            <a:off x="7681935" y="3681450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65"/>
          <p:cNvSpPr/>
          <p:nvPr/>
        </p:nvSpPr>
        <p:spPr>
          <a:xfrm>
            <a:off x="731490" y="355253"/>
            <a:ext cx="7055487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Running from UiPath Orchestrator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65"/>
          <p:cNvSpPr/>
          <p:nvPr/>
        </p:nvSpPr>
        <p:spPr>
          <a:xfrm>
            <a:off x="731490" y="811485"/>
            <a:ext cx="439731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Trigger unattended execution on the cloud VM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65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65"/>
          <p:cNvSpPr/>
          <p:nvPr/>
        </p:nvSpPr>
        <p:spPr>
          <a:xfrm>
            <a:off x="731490" y="1307232"/>
            <a:ext cx="2826187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STEP-BY-STEP: TRIGGER A RUN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65"/>
          <p:cNvSpPr/>
          <p:nvPr/>
        </p:nvSpPr>
        <p:spPr>
          <a:xfrm>
            <a:off x="730411" y="1615418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65"/>
          <p:cNvSpPr/>
          <p:nvPr/>
        </p:nvSpPr>
        <p:spPr>
          <a:xfrm>
            <a:off x="787598" y="1630189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65"/>
          <p:cNvSpPr/>
          <p:nvPr/>
        </p:nvSpPr>
        <p:spPr>
          <a:xfrm>
            <a:off x="1005706" y="1596703"/>
            <a:ext cx="15656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Open Orchestrator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65"/>
          <p:cNvSpPr/>
          <p:nvPr/>
        </p:nvSpPr>
        <p:spPr>
          <a:xfrm>
            <a:off x="1005706" y="1760488"/>
            <a:ext cx="361866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cloud.uipath.com → sign in → select your tenant &amp; folder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65"/>
          <p:cNvSpPr/>
          <p:nvPr/>
        </p:nvSpPr>
        <p:spPr>
          <a:xfrm>
            <a:off x="730411" y="2006761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65"/>
          <p:cNvSpPr/>
          <p:nvPr/>
        </p:nvSpPr>
        <p:spPr>
          <a:xfrm>
            <a:off x="787598" y="2021532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65"/>
          <p:cNvSpPr/>
          <p:nvPr/>
        </p:nvSpPr>
        <p:spPr>
          <a:xfrm>
            <a:off x="1005706" y="1988046"/>
            <a:ext cx="25656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Go to Automations → Processes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65"/>
          <p:cNvSpPr/>
          <p:nvPr/>
        </p:nvSpPr>
        <p:spPr>
          <a:xfrm>
            <a:off x="1005706" y="2151831"/>
            <a:ext cx="2170204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Locate RAYA_Dispatcher process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65"/>
          <p:cNvSpPr/>
          <p:nvPr/>
        </p:nvSpPr>
        <p:spPr>
          <a:xfrm>
            <a:off x="730411" y="2398105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65"/>
          <p:cNvSpPr/>
          <p:nvPr/>
        </p:nvSpPr>
        <p:spPr>
          <a:xfrm>
            <a:off x="787598" y="2412876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65"/>
          <p:cNvSpPr/>
          <p:nvPr/>
        </p:nvSpPr>
        <p:spPr>
          <a:xfrm>
            <a:off x="1005706" y="2379390"/>
            <a:ext cx="13606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Click "Run Now"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5"/>
          <p:cNvSpPr/>
          <p:nvPr/>
        </p:nvSpPr>
        <p:spPr>
          <a:xfrm>
            <a:off x="1005706" y="2543175"/>
            <a:ext cx="416968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This triggers an immediate unattended job on the assigned robot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65"/>
          <p:cNvSpPr/>
          <p:nvPr/>
        </p:nvSpPr>
        <p:spPr>
          <a:xfrm>
            <a:off x="730411" y="2789448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65"/>
          <p:cNvSpPr/>
          <p:nvPr/>
        </p:nvSpPr>
        <p:spPr>
          <a:xfrm>
            <a:off x="787598" y="2804220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65"/>
          <p:cNvSpPr/>
          <p:nvPr/>
        </p:nvSpPr>
        <p:spPr>
          <a:xfrm>
            <a:off x="1005706" y="2770733"/>
            <a:ext cx="168583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Monitor in Jobs view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65"/>
          <p:cNvSpPr/>
          <p:nvPr/>
        </p:nvSpPr>
        <p:spPr>
          <a:xfrm>
            <a:off x="1005706" y="2934519"/>
            <a:ext cx="3505870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Watch the job status: Pending → Running → Successful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65"/>
          <p:cNvSpPr/>
          <p:nvPr/>
        </p:nvSpPr>
        <p:spPr>
          <a:xfrm>
            <a:off x="730411" y="3180792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65"/>
          <p:cNvSpPr/>
          <p:nvPr/>
        </p:nvSpPr>
        <p:spPr>
          <a:xfrm>
            <a:off x="787598" y="3195563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65"/>
          <p:cNvSpPr/>
          <p:nvPr/>
        </p:nvSpPr>
        <p:spPr>
          <a:xfrm>
            <a:off x="1005706" y="3162077"/>
            <a:ext cx="111111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Check Queue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65"/>
          <p:cNvSpPr/>
          <p:nvPr/>
        </p:nvSpPr>
        <p:spPr>
          <a:xfrm>
            <a:off x="1005706" y="3325862"/>
            <a:ext cx="4157886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Queues → your queue → verify items are Successful (Dispatcher)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65"/>
          <p:cNvSpPr/>
          <p:nvPr/>
        </p:nvSpPr>
        <p:spPr>
          <a:xfrm>
            <a:off x="730411" y="3572135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65"/>
          <p:cNvSpPr/>
          <p:nvPr/>
        </p:nvSpPr>
        <p:spPr>
          <a:xfrm>
            <a:off x="787598" y="3586907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65"/>
          <p:cNvSpPr/>
          <p:nvPr/>
        </p:nvSpPr>
        <p:spPr>
          <a:xfrm>
            <a:off x="1005706" y="3553420"/>
            <a:ext cx="150377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Trigger Performer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65"/>
          <p:cNvSpPr/>
          <p:nvPr/>
        </p:nvSpPr>
        <p:spPr>
          <a:xfrm>
            <a:off x="1005706" y="3717206"/>
            <a:ext cx="4385221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Repeat with RAYA_Performer — items are consumed from the queue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65"/>
          <p:cNvSpPr/>
          <p:nvPr/>
        </p:nvSpPr>
        <p:spPr>
          <a:xfrm>
            <a:off x="730411" y="3963479"/>
            <a:ext cx="166688" cy="166688"/>
          </a:xfrm>
          <a:prstGeom prst="ellipse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65"/>
          <p:cNvSpPr/>
          <p:nvPr/>
        </p:nvSpPr>
        <p:spPr>
          <a:xfrm>
            <a:off x="787598" y="3978250"/>
            <a:ext cx="125157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65"/>
          <p:cNvSpPr/>
          <p:nvPr/>
        </p:nvSpPr>
        <p:spPr>
          <a:xfrm>
            <a:off x="1005706" y="3944764"/>
            <a:ext cx="103652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Review Logs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65"/>
          <p:cNvSpPr/>
          <p:nvPr/>
        </p:nvSpPr>
        <p:spPr>
          <a:xfrm>
            <a:off x="1005706" y="4108549"/>
            <a:ext cx="3934420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Jobs → select the job → Logs tab for detailed execution trace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65"/>
          <p:cNvSpPr/>
          <p:nvPr/>
        </p:nvSpPr>
        <p:spPr>
          <a:xfrm>
            <a:off x="4686300" y="1307232"/>
            <a:ext cx="2560156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WHAT SUCCESS LOOKS LIKE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65"/>
          <p:cNvSpPr/>
          <p:nvPr/>
        </p:nvSpPr>
        <p:spPr>
          <a:xfrm>
            <a:off x="4687267" y="1528800"/>
            <a:ext cx="37242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65"/>
          <p:cNvSpPr/>
          <p:nvPr/>
        </p:nvSpPr>
        <p:spPr>
          <a:xfrm>
            <a:off x="4828208" y="1605037"/>
            <a:ext cx="323374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65"/>
          <p:cNvSpPr/>
          <p:nvPr/>
        </p:nvSpPr>
        <p:spPr>
          <a:xfrm>
            <a:off x="5142681" y="1600274"/>
            <a:ext cx="21360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Dispatcher job: Successful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65"/>
          <p:cNvSpPr/>
          <p:nvPr/>
        </p:nvSpPr>
        <p:spPr>
          <a:xfrm>
            <a:off x="5142681" y="1790179"/>
            <a:ext cx="2138281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Queue populated with WI5 items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65"/>
          <p:cNvSpPr/>
          <p:nvPr/>
        </p:nvSpPr>
        <p:spPr>
          <a:xfrm>
            <a:off x="4687267" y="2107369"/>
            <a:ext cx="37242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5" name="Google Shape;1595;p65"/>
          <p:cNvSpPr/>
          <p:nvPr/>
        </p:nvSpPr>
        <p:spPr>
          <a:xfrm>
            <a:off x="4828208" y="2183606"/>
            <a:ext cx="323374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65"/>
          <p:cNvSpPr/>
          <p:nvPr/>
        </p:nvSpPr>
        <p:spPr>
          <a:xfrm>
            <a:off x="5142681" y="2178844"/>
            <a:ext cx="209291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Performer job: Successful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65"/>
          <p:cNvSpPr/>
          <p:nvPr/>
        </p:nvSpPr>
        <p:spPr>
          <a:xfrm>
            <a:off x="5142681" y="2368748"/>
            <a:ext cx="215530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All queue items set to Successful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65"/>
          <p:cNvSpPr/>
          <p:nvPr/>
        </p:nvSpPr>
        <p:spPr>
          <a:xfrm>
            <a:off x="4687267" y="2685938"/>
            <a:ext cx="37242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65"/>
          <p:cNvSpPr/>
          <p:nvPr/>
        </p:nvSpPr>
        <p:spPr>
          <a:xfrm>
            <a:off x="4828208" y="2762176"/>
            <a:ext cx="323374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65"/>
          <p:cNvSpPr/>
          <p:nvPr/>
        </p:nvSpPr>
        <p:spPr>
          <a:xfrm>
            <a:off x="5142681" y="2757413"/>
            <a:ext cx="1596159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ACME web updated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65"/>
          <p:cNvSpPr/>
          <p:nvPr/>
        </p:nvSpPr>
        <p:spPr>
          <a:xfrm>
            <a:off x="5142681" y="2947318"/>
            <a:ext cx="2949431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Work items show "Completed" status in ACME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65"/>
          <p:cNvSpPr/>
          <p:nvPr/>
        </p:nvSpPr>
        <p:spPr>
          <a:xfrm>
            <a:off x="4687267" y="3264508"/>
            <a:ext cx="37242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65"/>
          <p:cNvSpPr/>
          <p:nvPr/>
        </p:nvSpPr>
        <p:spPr>
          <a:xfrm>
            <a:off x="4828208" y="3340745"/>
            <a:ext cx="323374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65"/>
          <p:cNvSpPr/>
          <p:nvPr/>
        </p:nvSpPr>
        <p:spPr>
          <a:xfrm>
            <a:off x="5142681" y="3335982"/>
            <a:ext cx="1507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Orchestrator Logs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65"/>
          <p:cNvSpPr/>
          <p:nvPr/>
        </p:nvSpPr>
        <p:spPr>
          <a:xfrm>
            <a:off x="5142681" y="3525887"/>
            <a:ext cx="350383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No System/Business exception log lines at ERROR level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65"/>
          <p:cNvSpPr/>
          <p:nvPr/>
        </p:nvSpPr>
        <p:spPr>
          <a:xfrm>
            <a:off x="4687267" y="3843077"/>
            <a:ext cx="37242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65"/>
          <p:cNvSpPr/>
          <p:nvPr/>
        </p:nvSpPr>
        <p:spPr>
          <a:xfrm>
            <a:off x="4828208" y="3919314"/>
            <a:ext cx="323374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65"/>
          <p:cNvSpPr/>
          <p:nvPr/>
        </p:nvSpPr>
        <p:spPr>
          <a:xfrm>
            <a:off x="5142681" y="3914552"/>
            <a:ext cx="154740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70"/>
              <a:buFont typeface="Arial"/>
              <a:buNone/>
            </a:pPr>
            <a:r>
              <a:rPr lang="en-US" sz="97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Screenshots folder</a:t>
            </a:r>
            <a:endParaRPr sz="9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65"/>
          <p:cNvSpPr/>
          <p:nvPr/>
        </p:nvSpPr>
        <p:spPr>
          <a:xfrm>
            <a:off x="5142681" y="4104456"/>
            <a:ext cx="210751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0"/>
              <a:buFont typeface="DM Sans"/>
              <a:buNone/>
            </a:pPr>
            <a:r>
              <a:rPr lang="en-US" sz="83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Empty (no exceptions triggered)</a:t>
            </a:r>
            <a:endParaRPr sz="8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65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1" name="Google Shape;1611;p6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65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3" name="Google Shape;1613;p6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65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66"/>
          <p:cNvSpPr/>
          <p:nvPr/>
        </p:nvSpPr>
        <p:spPr>
          <a:xfrm>
            <a:off x="-1153" y="0"/>
            <a:ext cx="57150" cy="5143500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6"/>
          <p:cNvSpPr/>
          <p:nvPr/>
        </p:nvSpPr>
        <p:spPr>
          <a:xfrm>
            <a:off x="7681935" y="3681450"/>
            <a:ext cx="2009775" cy="2009775"/>
          </a:xfrm>
          <a:prstGeom prst="ellipse">
            <a:avLst/>
          </a:prstGeom>
          <a:solidFill>
            <a:srgbClr val="2266AA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66"/>
          <p:cNvSpPr/>
          <p:nvPr/>
        </p:nvSpPr>
        <p:spPr>
          <a:xfrm>
            <a:off x="731490" y="355253"/>
            <a:ext cx="7111112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590"/>
              <a:buFont typeface="Plus Jakarta Sans"/>
              <a:buNone/>
            </a:pPr>
            <a:r>
              <a:rPr lang="en-US" sz="2590" b="1" i="0" u="none" strike="noStrike" cap="none">
                <a:solidFill>
                  <a:srgbClr val="0D1B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Assessment Submission Checklist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6"/>
          <p:cNvSpPr/>
          <p:nvPr/>
        </p:nvSpPr>
        <p:spPr>
          <a:xfrm>
            <a:off x="731490" y="811485"/>
            <a:ext cx="512710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1220"/>
              <a:buFont typeface="DM Sans"/>
              <a:buNone/>
            </a:pPr>
            <a:r>
              <a:rPr lang="en-US" sz="1220" b="0" i="0" u="none" strike="noStrike" cap="none">
                <a:solidFill>
                  <a:srgbClr val="1A5FAB"/>
                </a:solidFill>
                <a:latin typeface="DM Sans"/>
                <a:ea typeface="DM Sans"/>
                <a:cs typeface="DM Sans"/>
                <a:sym typeface="DM Sans"/>
              </a:rPr>
              <a:t>Complete all items before handing in your assessment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66"/>
          <p:cNvSpPr/>
          <p:nvPr/>
        </p:nvSpPr>
        <p:spPr>
          <a:xfrm>
            <a:off x="732420" y="1092957"/>
            <a:ext cx="638175" cy="23812"/>
          </a:xfrm>
          <a:prstGeom prst="rect">
            <a:avLst/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66"/>
          <p:cNvSpPr/>
          <p:nvPr/>
        </p:nvSpPr>
        <p:spPr>
          <a:xfrm>
            <a:off x="731490" y="1307232"/>
            <a:ext cx="1861706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CODE &amp; STRUCTURE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66"/>
          <p:cNvSpPr/>
          <p:nvPr/>
        </p:nvSpPr>
        <p:spPr>
          <a:xfrm>
            <a:off x="731974" y="1580927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66"/>
          <p:cNvSpPr/>
          <p:nvPr/>
        </p:nvSpPr>
        <p:spPr>
          <a:xfrm>
            <a:off x="880765" y="1646411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66"/>
          <p:cNvSpPr/>
          <p:nvPr/>
        </p:nvSpPr>
        <p:spPr>
          <a:xfrm>
            <a:off x="1083618" y="1636663"/>
            <a:ext cx="1559786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Dispatcher project in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6"/>
          <p:cNvSpPr/>
          <p:nvPr/>
        </p:nvSpPr>
        <p:spPr>
          <a:xfrm>
            <a:off x="1083618" y="1800002"/>
            <a:ext cx="3666842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RAYA_UiPath_VerifyAccountPositions_Dispatcher/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66"/>
          <p:cNvSpPr/>
          <p:nvPr/>
        </p:nvSpPr>
        <p:spPr>
          <a:xfrm>
            <a:off x="731974" y="2097063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66"/>
          <p:cNvSpPr/>
          <p:nvPr/>
        </p:nvSpPr>
        <p:spPr>
          <a:xfrm>
            <a:off x="880765" y="2162547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66"/>
          <p:cNvSpPr/>
          <p:nvPr/>
        </p:nvSpPr>
        <p:spPr>
          <a:xfrm>
            <a:off x="1083618" y="2152799"/>
            <a:ext cx="149052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Performer project in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66"/>
          <p:cNvSpPr/>
          <p:nvPr/>
        </p:nvSpPr>
        <p:spPr>
          <a:xfrm>
            <a:off x="1083618" y="2316138"/>
            <a:ext cx="3597674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RAYA_UiPath_VerifyAccountPositions_Performer/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66"/>
          <p:cNvSpPr/>
          <p:nvPr/>
        </p:nvSpPr>
        <p:spPr>
          <a:xfrm>
            <a:off x="731974" y="2613199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66"/>
          <p:cNvSpPr/>
          <p:nvPr/>
        </p:nvSpPr>
        <p:spPr>
          <a:xfrm>
            <a:off x="880765" y="2678683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66"/>
          <p:cNvSpPr/>
          <p:nvPr/>
        </p:nvSpPr>
        <p:spPr>
          <a:xfrm>
            <a:off x="1083618" y="2668935"/>
            <a:ext cx="3697025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Config.xlsx configured with correct settings in both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66"/>
          <p:cNvSpPr/>
          <p:nvPr/>
        </p:nvSpPr>
        <p:spPr>
          <a:xfrm>
            <a:off x="1083618" y="2832274"/>
            <a:ext cx="649382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projects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66"/>
          <p:cNvSpPr/>
          <p:nvPr/>
        </p:nvSpPr>
        <p:spPr>
          <a:xfrm>
            <a:off x="731974" y="3128628"/>
            <a:ext cx="3748087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66"/>
          <p:cNvSpPr/>
          <p:nvPr/>
        </p:nvSpPr>
        <p:spPr>
          <a:xfrm>
            <a:off x="880765" y="3194819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66"/>
          <p:cNvSpPr/>
          <p:nvPr/>
        </p:nvSpPr>
        <p:spPr>
          <a:xfrm>
            <a:off x="1083618" y="3185071"/>
            <a:ext cx="392900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All workflows follow REFramework naming conventions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66"/>
          <p:cNvSpPr/>
          <p:nvPr/>
        </p:nvSpPr>
        <p:spPr>
          <a:xfrm>
            <a:off x="731974" y="3482132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66"/>
          <p:cNvSpPr/>
          <p:nvPr/>
        </p:nvSpPr>
        <p:spPr>
          <a:xfrm>
            <a:off x="880765" y="3547616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66"/>
          <p:cNvSpPr/>
          <p:nvPr/>
        </p:nvSpPr>
        <p:spPr>
          <a:xfrm>
            <a:off x="1083618" y="3537868"/>
            <a:ext cx="369779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No hardcoded credentials — all sensitive values via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66"/>
          <p:cNvSpPr/>
          <p:nvPr/>
        </p:nvSpPr>
        <p:spPr>
          <a:xfrm>
            <a:off x="1083618" y="3701207"/>
            <a:ext cx="1498937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Orchestrator Assets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66"/>
          <p:cNvSpPr/>
          <p:nvPr/>
        </p:nvSpPr>
        <p:spPr>
          <a:xfrm>
            <a:off x="4663380" y="1307232"/>
            <a:ext cx="2109646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DEMO &amp; DEPLOYMENT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66"/>
          <p:cNvSpPr/>
          <p:nvPr/>
        </p:nvSpPr>
        <p:spPr>
          <a:xfrm>
            <a:off x="4663901" y="1580927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66"/>
          <p:cNvSpPr/>
          <p:nvPr/>
        </p:nvSpPr>
        <p:spPr>
          <a:xfrm>
            <a:off x="4812655" y="1646411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66"/>
          <p:cNvSpPr/>
          <p:nvPr/>
        </p:nvSpPr>
        <p:spPr>
          <a:xfrm>
            <a:off x="5015508" y="1636663"/>
            <a:ext cx="4268748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Screen recording saved in Recordings/ folder (Dispatcher +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66"/>
          <p:cNvSpPr/>
          <p:nvPr/>
        </p:nvSpPr>
        <p:spPr>
          <a:xfrm>
            <a:off x="5015508" y="1800002"/>
            <a:ext cx="1429189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Performer full runs)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66"/>
          <p:cNvSpPr/>
          <p:nvPr/>
        </p:nvSpPr>
        <p:spPr>
          <a:xfrm>
            <a:off x="4663901" y="2097063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66"/>
          <p:cNvSpPr/>
          <p:nvPr/>
        </p:nvSpPr>
        <p:spPr>
          <a:xfrm>
            <a:off x="4812655" y="2162547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66"/>
          <p:cNvSpPr/>
          <p:nvPr/>
        </p:nvSpPr>
        <p:spPr>
          <a:xfrm>
            <a:off x="5015508" y="2152799"/>
            <a:ext cx="3660071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Screenshots of queue before &amp; after processing in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66"/>
          <p:cNvSpPr/>
          <p:nvPr/>
        </p:nvSpPr>
        <p:spPr>
          <a:xfrm>
            <a:off x="5015508" y="2316138"/>
            <a:ext cx="913187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Recordings/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66"/>
          <p:cNvSpPr/>
          <p:nvPr/>
        </p:nvSpPr>
        <p:spPr>
          <a:xfrm>
            <a:off x="4663901" y="2613199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66"/>
          <p:cNvSpPr/>
          <p:nvPr/>
        </p:nvSpPr>
        <p:spPr>
          <a:xfrm>
            <a:off x="4812655" y="2678683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66"/>
          <p:cNvSpPr/>
          <p:nvPr/>
        </p:nvSpPr>
        <p:spPr>
          <a:xfrm>
            <a:off x="5015508" y="2668935"/>
            <a:ext cx="3794053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Both projects published to Orchestrator as separate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66"/>
          <p:cNvSpPr/>
          <p:nvPr/>
        </p:nvSpPr>
        <p:spPr>
          <a:xfrm>
            <a:off x="5015508" y="2832274"/>
            <a:ext cx="736059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packages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66"/>
          <p:cNvSpPr/>
          <p:nvPr/>
        </p:nvSpPr>
        <p:spPr>
          <a:xfrm>
            <a:off x="4663901" y="3129335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66"/>
          <p:cNvSpPr/>
          <p:nvPr/>
        </p:nvSpPr>
        <p:spPr>
          <a:xfrm>
            <a:off x="4812655" y="3194819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66"/>
          <p:cNvSpPr/>
          <p:nvPr/>
        </p:nvSpPr>
        <p:spPr>
          <a:xfrm>
            <a:off x="5015508" y="3185071"/>
            <a:ext cx="3515640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Processes created in Orchestrator and triggered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66"/>
          <p:cNvSpPr/>
          <p:nvPr/>
        </p:nvSpPr>
        <p:spPr>
          <a:xfrm>
            <a:off x="5015508" y="3348410"/>
            <a:ext cx="938726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successfully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66"/>
          <p:cNvSpPr/>
          <p:nvPr/>
        </p:nvSpPr>
        <p:spPr>
          <a:xfrm>
            <a:off x="4663901" y="3645471"/>
            <a:ext cx="3748087" cy="4381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66"/>
          <p:cNvSpPr/>
          <p:nvPr/>
        </p:nvSpPr>
        <p:spPr>
          <a:xfrm>
            <a:off x="4812655" y="3710955"/>
            <a:ext cx="156694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FAB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A5FA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66"/>
          <p:cNvSpPr/>
          <p:nvPr/>
        </p:nvSpPr>
        <p:spPr>
          <a:xfrm>
            <a:off x="5015508" y="3701207"/>
            <a:ext cx="4095877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Orchestrator job logs show successful execution with no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66"/>
          <p:cNvSpPr/>
          <p:nvPr/>
        </p:nvSpPr>
        <p:spPr>
          <a:xfrm>
            <a:off x="5015508" y="3864546"/>
            <a:ext cx="482702" cy="1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39"/>
              <a:buFont typeface="DM Sans"/>
              <a:buNone/>
            </a:pPr>
            <a:r>
              <a:rPr lang="en-US" sz="940" b="0" i="0" u="none" strike="noStrike" cap="none">
                <a:solidFill>
                  <a:srgbClr val="0D1B3E"/>
                </a:solidFill>
                <a:latin typeface="DM Sans"/>
                <a:ea typeface="DM Sans"/>
                <a:cs typeface="DM Sans"/>
                <a:sym typeface="DM Sans"/>
              </a:rPr>
              <a:t>errors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66"/>
          <p:cNvSpPr/>
          <p:nvPr/>
        </p:nvSpPr>
        <p:spPr>
          <a:xfrm>
            <a:off x="4663901" y="4185865"/>
            <a:ext cx="3748087" cy="361950"/>
          </a:xfrm>
          <a:prstGeom prst="roundRect">
            <a:avLst>
              <a:gd name="adj" fmla="val 15789"/>
            </a:avLst>
          </a:prstGeom>
          <a:solidFill>
            <a:srgbClr val="1A5F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66"/>
          <p:cNvSpPr/>
          <p:nvPr/>
        </p:nvSpPr>
        <p:spPr>
          <a:xfrm>
            <a:off x="4780754" y="4273525"/>
            <a:ext cx="3514383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Good luck — build something great!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66"/>
          <p:cNvSpPr/>
          <p:nvPr/>
        </p:nvSpPr>
        <p:spPr>
          <a:xfrm>
            <a:off x="8451838" y="102580"/>
            <a:ext cx="509587" cy="509587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0" name="Google Shape;1670;p6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7556" y="138299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66"/>
          <p:cNvSpPr/>
          <p:nvPr/>
        </p:nvSpPr>
        <p:spPr>
          <a:xfrm>
            <a:off x="183393" y="103733"/>
            <a:ext cx="762000" cy="280987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>
            <a:outerShdw blurRad="14288" dist="4763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2" name="Google Shape;1672;p6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31" y="128513"/>
            <a:ext cx="231428" cy="2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66"/>
          <p:cNvSpPr/>
          <p:nvPr/>
        </p:nvSpPr>
        <p:spPr>
          <a:xfrm>
            <a:off x="523949" y="164604"/>
            <a:ext cx="52255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39"/>
              <a:buFont typeface="Plus Jakarta Sans"/>
              <a:buNone/>
            </a:pPr>
            <a:r>
              <a:rPr lang="en-US" sz="940" b="1" i="0" u="none" strike="noStrike" cap="none">
                <a:solidFill>
                  <a:srgbClr val="1A1A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</a:t>
            </a:r>
            <a:r>
              <a:rPr lang="en-US" sz="940" b="1" i="0" u="none" strike="noStrike" cap="none">
                <a:solidFill>
                  <a:srgbClr val="FA46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Path</a:t>
            </a:r>
            <a:endParaRPr sz="9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On-screen Show (16:9)</PresentationFormat>
  <Paragraphs>281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DM Sans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Lama Ataturk</cp:lastModifiedBy>
  <cp:revision>1</cp:revision>
  <dcterms:created xsi:type="dcterms:W3CDTF">2026-07-20T19:30:09Z</dcterms:created>
  <dcterms:modified xsi:type="dcterms:W3CDTF">2026-08-07T16:34:04Z</dcterms:modified>
</cp:coreProperties>
</file>